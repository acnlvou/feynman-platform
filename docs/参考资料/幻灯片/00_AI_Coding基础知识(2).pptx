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4A7BB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0"/>
            <a:ext cx="2743200" cy="2743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0" cy="54864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第 0 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基础知识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· 模型平台 · API 调用 · 工具生态 · Harness 规划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097280" cy="365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AI coding 实战课之前，先把地基打好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王新年  ·  计算机学院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本讲学习目标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懂大模型与平台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 LLM 是什么，认识 Hugging Face 与 ModelScope 两大模型库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37160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572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13248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会调用大模型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44568" y="2331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掌握本地 / API / 工具三条路径，能写出 OpenAI 兼容 API 调用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137160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8449056" y="1572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317736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认识编程工具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9056" y="2331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 IDE、终端 Agent、Web、本地运行时四类 AI 编程工具格局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41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50876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算清 API 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记住常见 API 地址与收费模式，知道学生可用的免费方案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1688" y="384048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61688" y="384048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8" name="Text 26"/>
          <p:cNvSpPr/>
          <p:nvPr/>
        </p:nvSpPr>
        <p:spPr>
          <a:xfrm>
            <a:off x="4544568" y="4041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413248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AI Coding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44568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PRD→评审→分解→轮次→实现→测试→回写→总结 八步闭环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本讲结构：五个板块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848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084832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大模型与平台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基础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/ ModelScope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42032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24912" y="1828800"/>
            <a:ext cx="20848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1828800"/>
            <a:ext cx="2084832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2862072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62072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大模型调用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62072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/ API / 工具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9744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92624" y="1828800"/>
            <a:ext cx="20848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92624" y="1828800"/>
            <a:ext cx="2084832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0" name="Text 18"/>
          <p:cNvSpPr/>
          <p:nvPr/>
        </p:nvSpPr>
        <p:spPr>
          <a:xfrm>
            <a:off x="5129784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29784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9784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五款 Agent 工具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· 配置 · 速查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77456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60336" y="1828800"/>
            <a:ext cx="20848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1828800"/>
            <a:ext cx="2084832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496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97496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与计费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97496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常见地址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学生免费方案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45168" y="2834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8048" y="1828800"/>
            <a:ext cx="2084832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28048" y="1828800"/>
            <a:ext cx="2084832" cy="731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2" name="Text 30"/>
          <p:cNvSpPr/>
          <p:nvPr/>
        </p:nvSpPr>
        <p:spPr>
          <a:xfrm>
            <a:off x="9665208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665208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规划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65208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八步闭环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贯穿后续课程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前五块是「地基」，05 是「方法论」——后续所有实战课都跑在这套八步闭环上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5943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SECTION 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大模型与模型平台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是什么 · Hugging Face · ModelScope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§1 大模型与平台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大模型（LLM）是什么？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03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377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在海量文本上训练的「预测下一个词」模型。架构：Transformer。参数量：十亿到万亿级。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1688" y="1371600"/>
            <a:ext cx="3703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691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它怎么强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0288" y="2377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预训练（学语言）+ 指令微调（听话）。靠上下文学习：提示词就是「临时说明书」。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66176" y="1371600"/>
            <a:ext cx="3703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66176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6916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43416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它分两类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94776" y="2377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开源（Qwen3 / Llama / DeepSeek）可本地部署；闭源（GPT / Claude / Gemini）走 API。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solidFill>
            <a:srgbClr val="0F2A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为什么大模型是 AI Coding 的地基？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代码本质上是文本。同一个预训练底座，喂代码数据后就会写代码——所以「会聊天的大模型」和「会写代码的 AI 工具」是同一物种，学一套概念两边通吃。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§1 大模型与平台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Face：AI 模型的「GitHub」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huggingface.co —— 全球最大的开源模型 / 数据集 / 演示聚合平台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370332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697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配置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Qwen3、Llama、DeepSeek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61688" y="2057400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61688" y="2057400"/>
            <a:ext cx="370332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286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93208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93208" y="2697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训练与评测数据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统一接口，按需加载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66176" y="2057400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2057400"/>
            <a:ext cx="370332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860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97696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997696" y="2697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一键在线演示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浏览器里直接试玩模型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上手四步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4343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4360" y="448056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26" name="Text 21"/>
          <p:cNvSpPr/>
          <p:nvPr/>
        </p:nvSpPr>
        <p:spPr>
          <a:xfrm>
            <a:off x="5943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94360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注册账号，Settings 里创建 Access Token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337560" y="4343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474720" y="448056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30" name="Text 25"/>
          <p:cNvSpPr/>
          <p:nvPr/>
        </p:nvSpPr>
        <p:spPr>
          <a:xfrm>
            <a:off x="347472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474720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搜目标模型，看清许可协议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217920" y="4343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355080" y="448056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34" name="Text 29"/>
          <p:cNvSpPr/>
          <p:nvPr/>
        </p:nvSpPr>
        <p:spPr>
          <a:xfrm>
            <a:off x="63550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355080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HF_TOKEN=*** 然后 huggingface-cli download 拉取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9098280" y="4343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235440" y="448056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38" name="Text 33"/>
          <p:cNvSpPr/>
          <p:nvPr/>
        </p:nvSpPr>
        <p:spPr>
          <a:xfrm>
            <a:off x="92354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9235440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Python：transformers 直接加载（from_pretrained）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6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§1 大模型与平台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ModelScope：国内生态的主力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40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21488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全球最大，模型最全；以英文生态为主；国内网络环境下载受限，需要代理。适合：追踪国际前沿模型。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371600"/>
            <a:ext cx="91440" cy="21488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ModelScope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modelscope.cn，阿里魔搭社区。中文生态好、国内直连下载快；数据集 / 模型 / 创空间（demo）齐全，部分模型提供在线体验。适合：日常下载与课程实验首选。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47120" cy="2011680"/>
          </a:xfrm>
          <a:prstGeom prst="rect">
            <a:avLst/>
          </a:prstGeom>
          <a:solidFill>
            <a:srgbClr val="0F2A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ModelScope 快速上手（命令行）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modelscope
</a:t>
            </a:r>
            <a:pPr indent="0" marL="0">
              <a:buNone/>
            </a:pPr>
            <a:r>
              <a:rPr lang="en-US" sz="120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modelscope download Qwen/Qwen3-8B --local_dir ./Qwen3-8B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 Python API
from modelscope import snapshot_download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model_dir = snapshot_download('Qwen/Qwen3-8B')
</a:t>
            </a:r>
            <a:pPr indent="0" marL="0">
              <a:buNone/>
            </a:pPr>
            <a:r>
              <a:rPr lang="en-US" sz="120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modelscope list / modelscope search qwen   # 浏览、检索模型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5943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SECTION TWO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大模型的调用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 · OpenAI 兼容 API · 工具调用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§2 大模型的调用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三条调用路径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路径一：本地部署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/ llama.cpp / vLLM 跑开源模型（Qwen3、Llama）。数据不出机器，免费无限调用。适合：有 GPU 的同学做实验与隐私场景。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160520"/>
            <a:ext cx="1463040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· 需硬件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61688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61688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6459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38928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路径二：云 API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90288" y="22860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请求调托管模型，最通用的方式。多数国产 / 国际厂商提供 OpenAI 兼容端点——一套代码换个 base_url 就能换厂商。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90288" y="4160520"/>
            <a:ext cx="1463040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5"/>
          <p:cNvSpPr/>
          <p:nvPr/>
        </p:nvSpPr>
        <p:spPr>
          <a:xfrm>
            <a:off x="4590288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按量付费 · 有免费额度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266176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66176" y="1371600"/>
            <a:ext cx="370332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6459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43416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路径三：工具 / Agent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494776" y="22860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把模型包进编程工具：Cursor、Claude Code、OpenCode，或自己写 Agent。模型只是引擎，工具提供文件、终端、浏览器等「手脚」。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494776" y="4160520"/>
            <a:ext cx="1463040" cy="36576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6" name="Text 21"/>
          <p:cNvSpPr/>
          <p:nvPr/>
        </p:nvSpPr>
        <p:spPr>
          <a:xfrm>
            <a:off x="8494776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本课主线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记住一个判断口径：路径一拼硬件，路径二拼预算，路径三拼工程——后面所有工具都长在这三条路上。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4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§2 大模型的调用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API：一套代码通吃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92240" cy="4480560"/>
          </a:xfrm>
          <a:prstGeom prst="rect">
            <a:avLst/>
          </a:prstGeom>
          <a:solidFill>
            <a:srgbClr val="0F2A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api-call.py（换 base_url 即可切换厂商）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 install openai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api_key=***"sk-...",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base_url="https://api.deepseek.com",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r = client.chat.completions.create(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model="deepseek-v4-flash",   # 模型名以官方文档为准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 "content": "你是 Python 助教"},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  "content": "什么是列表推导式？"},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temperature=0.7,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print(r.choices[0].message.content)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4526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60920" y="1399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60920" y="1709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要调用的模型名，错了直接 400/404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78040" y="2468880"/>
            <a:ext cx="4526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60920" y="2852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定角色，user/assistant 多轮对话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78040" y="3611880"/>
            <a:ext cx="4526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3685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60920" y="3995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稳、0.7 常态、2 放飞；写代码建议低一点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4754880"/>
            <a:ext cx="4526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60920" y="4828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60920" y="51389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限制生成长度，防跑飞也防烧钱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§2 大模型的调用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本地部署：Ollama / llama.cpp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GPU 的同学，这是最省钱的一条路（零成本、离线可用）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 Ollama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官网装好，一条命令拉模型：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qwen3:8b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选模型大小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25146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显存 6-8G→4B / 8G→8B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12-16G→14B；不够就上量化版（Q4）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起本地服务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25146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默认开 11434 端口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自带 OpenAI 兼容端点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98280" y="18288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1160" y="1965960"/>
            <a:ext cx="411480" cy="4114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base_url 复用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81160" y="25146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 API 代码的 base_url 指到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http://localhost:11434/v1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11247120" cy="1554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llama.cpp（进阶）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4937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GGUF 量化权重直接跑，无 Python 依赖，跨平台（含 Windows / WSL）。Qwen3-8B 的 Q4 量化版约 5GB，消费级显卡可跑；llama-server 起 OpenAI 兼容 HTTP 服务后，本地模型和云 API 对上层代码完全无差别——这是「一套代码两处跑」的关键。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5943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SECTION THREE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四类工具格局 · 选型思路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四类工具格局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/ 插件型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嵌在编辑器里，逐行 / 逐函数补全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611880"/>
            <a:ext cx="2286000" cy="7315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611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代表：Cursor · Copilot · 通义灵码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Agent 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6616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命令行里自主规划、读写文件、跑测试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566160" y="3611880"/>
            <a:ext cx="2286000" cy="73152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9" name="Text 15"/>
          <p:cNvSpPr/>
          <p:nvPr/>
        </p:nvSpPr>
        <p:spPr>
          <a:xfrm>
            <a:off x="3703320" y="3611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代表：Claude Code · OpenCode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9164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9516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对话型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4652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浏览器问答，快速查概念、写小段代码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46520" y="3611880"/>
            <a:ext cx="2286000" cy="7315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6" name="Text 21"/>
          <p:cNvSpPr/>
          <p:nvPr/>
        </p:nvSpPr>
        <p:spPr>
          <a:xfrm>
            <a:off x="6583680" y="3611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代表：Web 版聊天助手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98280" y="13716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9828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9164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 / 框架型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32688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在应用里集成模型能力，做自己的 Agent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326880" y="3611880"/>
            <a:ext cx="2286000" cy="7315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3" name="Text 27"/>
          <p:cNvSpPr/>
          <p:nvPr/>
        </p:nvSpPr>
        <p:spPr>
          <a:xfrm>
            <a:off x="9464040" y="3611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代表：MCP · LangChain · vLLM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5" name="Text 29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本课主线：ZCode / Trae / Codex / Claude Code / 墨子Code（后 5 页逐一安装配置）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四类不是互斥的：Agent 工具内部调用的，正是我们讲过的 API 或本地服务。先懂底层，再看工具，就不会被「黑盒子」唬住。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ZCode（智谱清言）：安装与配置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安装三步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6492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562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下载桌面版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zcode.z.ai 下载页，提供 Windows / macOS / Linux x64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6492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821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一键安装助手（可选）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59359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npx @z_ai/coding-helper —— 智谱官方助手，自动补齐环境依赖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6492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5079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启动并登录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91947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欢迎页登录智谱账号，自动关联 GLM-5.3 订阅额度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78040" y="1737360"/>
            <a:ext cx="4526280" cy="3246120"/>
          </a:xfrm>
          <a:prstGeom prst="rect">
            <a:avLst/>
          </a:prstGeom>
          <a:solidFill>
            <a:srgbClr val="E0F2FE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两种配置方式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28600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账号绑定（推荐）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欢迎页选择「BigModel」Provider，登录智谱账号，额度跟着 GLM-5.3 订阅走。
</a:t>
            </a:r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手动 API Key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open.bigmodel.cn 开通并复制 Key，填入 ZCode 设置，不依赖订阅也能用。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为什么列为主力？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ZCode 是 GLM-5.3 官方 Harness，多智能体协作完成复杂目标；国内网络直连、有学生可用的订阅通道，是课堂默认工具。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CN 版：安装与配置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认准 trae.cn（国内版）：手机号 / 稀土掘金账号登录，无需代理，与海外版分开计量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www.trae.cn 下载安装包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/ macOS / Linux(deb)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手机号或稀土掘金账号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登录后解锁 AI 额度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配置迁移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一键导入 VS Code / Cursor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插件·主题·快捷键全带走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9828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1160" y="1965960"/>
            <a:ext cx="411480" cy="4114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8116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安装 trae Shell 命令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双模式：IDE / SOLO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6766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双模式（按任务选）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" y="49834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模式：人逐步主导、掌控感强，适合学习与调试；SOLO 模式：整段任务交给智能体，自动规划 → 实现 → 验证，适合演示八步闭环。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4526280"/>
            <a:ext cx="4297680" cy="14173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46177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课堂提示：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终端里 trae . 即可打开当前项目；课后用 SOLO 模式试做一个小功能，体会「一句话需求 → 完整实现」。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CLI：安装与配置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00" cy="3977640"/>
          </a:xfrm>
          <a:prstGeom prst="rect">
            <a:avLst/>
          </a:prstGeom>
          <a:solidFill>
            <a:srgbClr val="0F2A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~/.codex/config.toml（核心配置）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594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安装（Node 22+；Windows 走 WSL2）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@openai/codex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--version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认证二选一：① ChatGPT 订阅自带  ② API Key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OPENAI_API_KEY=***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模型与两个核心开关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        = "gpt-5.x"      # 选最新 codex 模型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approval_policy = "on-request"   # 何时找人批准
</a:t>
            </a:r>
            <a:pPr indent="0" marL="0">
              <a:buNone/>
            </a:pPr>
            <a:r>
              <a:rPr lang="en-US" sz="1050" dirty="0">
                <a:solidFill>
                  <a:srgbClr val="9C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sandbox_mode    = "workspace-write"  # 三档沙箱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用法：读仓库 → 规划 → 原地改文件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"给 auth 模块补单元测试"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452628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60920" y="1399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17099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放项目根目录的约定文件，会塑造 Agent 的每次提示——新项目第一个该提交的文档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78040" y="2679192"/>
            <a:ext cx="452628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27523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60920" y="30632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[mcp_servers] 段，给 Agent 文件/终端之外的工具（GitHub、数据库等）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4032504"/>
            <a:ext cx="452628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4105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现实约束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44165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需外卡 + 网络；学生可用兼容网关 Key（base_url 指向网关即可换道）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是终端 Agent：approval_policy（审批策略）+ sandbox_mode（沙箱档位 read-only / workspace-write / full）是它的两个安全开关。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Code：安装与配置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官方推荐一行安装（无需 Node）：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或 npm install -g @anthropic-ai/claude-code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包名必须带 @anthropic-ai 前缀，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别装成裸 claude-code（仿冒包）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371600"/>
            <a:ext cx="3703320" cy="731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首次使用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1031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项目目录 &amp;&amp; claude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首次启动按引导登录 Anthropic 账号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开头是斜杠命令（/help /bug …）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 验证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66176" y="13716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371600"/>
            <a:ext cx="370332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8494776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94776" y="21031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全局：~/.claude/settings.json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项目：CLAUDE.md（写约定，每次会话自动读）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环境：ANTHROPIC_API_KEY / ANTHROPIC_BASE_URL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指向兼容网关可换道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74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系擅长长任务 Agent：规划、多文件重构、git 工作流一气呵成。需 Anthropic 订阅 / API（可走网关），是「国际级」练手工具。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墨子 Code：自研开源自进化 Agent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本课程自研工具（Rust），OpenCode 家族 · 讲师自己的 Harness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5074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+ egui 桌面 Agent 开发工具：多项目、多 Session、并行模块任务、Git 工作流、分阶段模型路由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内置自进化：H08 反馈闭环 + 质量门禁 + 经验持久化 + 沟通基因——每完成一个任务，自动把经验沉淀给下一个任务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规模：11 crates / 1.3 万+ 行 / 196 个测试，MIT 开源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440680" cy="3200400"/>
          </a:xfrm>
          <a:prstGeom prst="rect">
            <a:avLst/>
          </a:prstGeom>
          <a:solidFill>
            <a:srgbClr val="E0F2FE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安装与使用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使用：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解压发布包运行 mozicode-rs.exe；界面选 Provider / Model，环境变量配对应 API Key
</a:t>
            </a:r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项目配置：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项目根放 mozicode.json / mcp.json，MCP 工具接在这里
</a:t>
            </a:r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源码构建：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cargo build --release -p mozicode-gui
</a:t>
            </a:r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依赖：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Git（工作流）、Node.js / npx（MCP Server）；会话数据库存用户数据目录，不写安装目录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212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课程主线：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后续实战课用它 + 八步闭环做项目，工具会「越用越强」——这是「用 AI」和「教会 AI 写代码」的区别。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 AI 编程工具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五款工具对比速查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81328" cy="65836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389888" cy="65836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138988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670048" cy="65836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38988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安装一行话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3035808" cy="65836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389888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配置要点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0" y="1371600"/>
            <a:ext cx="2304288" cy="65836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1389888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029968"/>
            <a:ext cx="148132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04825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2029968"/>
            <a:ext cx="13898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2048256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67004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04825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zcode.z.ai 下载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029968"/>
            <a:ext cx="303580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048256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智谱账号 / GLM-5.3 订阅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26880" y="2029968"/>
            <a:ext cx="23042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2048256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国内日用 · 主力工具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88336"/>
            <a:ext cx="148132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7066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CN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0" y="2688336"/>
            <a:ext cx="13898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2706624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+ SOLO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2688336"/>
            <a:ext cx="267004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706624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www.trae.cn 下载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2688336"/>
            <a:ext cx="30358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706624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手机号 / 稀土掘金登录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26880" y="2688336"/>
            <a:ext cx="23042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2706624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一句话需求 → 完整实现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346704"/>
            <a:ext cx="148132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3649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3346704"/>
            <a:ext cx="13898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1408" y="3364992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Agent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3346704"/>
            <a:ext cx="267004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336499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@openai/codex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3346704"/>
            <a:ext cx="303580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364992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~/.codex/config.toml + Key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326880" y="3346704"/>
            <a:ext cx="23042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36608" y="3364992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生态 · CI · AGENTS.md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005072"/>
            <a:ext cx="148132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02336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0" y="4005072"/>
            <a:ext cx="13898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21408" y="4023360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Agent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0" y="4005072"/>
            <a:ext cx="267004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84448" y="402336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@anthropic-ai/claude-code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005072"/>
            <a:ext cx="30358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402336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 / CLAUDE.md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326880" y="4005072"/>
            <a:ext cx="23042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6608" y="4023360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长任务 Agent · 国际级练手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63440"/>
            <a:ext cx="148132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468172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墨子 Code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011680" y="4663440"/>
            <a:ext cx="13898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21408" y="4681728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Agent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74720" y="4663440"/>
            <a:ext cx="267004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84448" y="468172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解包 exe / cargo build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17920" y="4663440"/>
            <a:ext cx="303580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4681728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+ 环境变量 Key + mcp.json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326880" y="4663440"/>
            <a:ext cx="2304288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6608" y="4681728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自进化 · 课程主线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选型建议：国内稳且免费 → ZCode / Trae；国际生态 → Codex / Claude Code；想学「怎么造」→ 墨子 Code。同一套八步闭环，五个工具通用。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5943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SECTION FOUR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地址与收费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常见端点 · 计费模式 · 学生免费方案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§4 API 地址与收费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 API 端点速查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04288" cy="56692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4133088" cy="56692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38988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1371600"/>
            <a:ext cx="4590288" cy="566928"/>
          </a:xfrm>
          <a:prstGeom prst="rect">
            <a:avLst/>
          </a:prstGeom>
          <a:solidFill>
            <a:srgbClr val="1F497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3898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2304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938528"/>
            <a:ext cx="41330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95681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https://api.openai.com/v1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938528"/>
            <a:ext cx="4590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95681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国际主流；国内网络受限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05456"/>
            <a:ext cx="2304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2374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2505456"/>
            <a:ext cx="41330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52374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https://api.anthropic.com/v1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2505456"/>
            <a:ext cx="4590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52374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系列；原生 API 非 OpenAI 协议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2304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906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34640" y="3072384"/>
            <a:ext cx="41330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309067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https://api.deepseek.com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072384"/>
            <a:ext cx="4590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09067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兼容；价格极低（约 $0.50 / 百万 token 级）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639312"/>
            <a:ext cx="2304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65760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Moonshot / Kimi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639312"/>
            <a:ext cx="41330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6576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https://api.moonshot.cn/v1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3639312"/>
            <a:ext cx="4590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65760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兼容；中文长文本见长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304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22452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4640" y="4206240"/>
            <a:ext cx="41330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71800" y="422452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https://open.bigmodel.cn/api/paas/v4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4206240"/>
            <a:ext cx="4590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422452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有免费档；OpenAI 兼容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773168"/>
            <a:ext cx="2304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79145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硅基流动 SiliconFlow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34640" y="4773168"/>
            <a:ext cx="41330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479145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https://api.siliconflow.cn/v1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40880" y="4773168"/>
            <a:ext cx="45902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47914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聚合推理；含免费模型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5340096"/>
            <a:ext cx="2304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535838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Ollama（本地）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834640" y="5340096"/>
            <a:ext cx="41330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535838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http://localhost:11434/v1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40880" y="5340096"/>
            <a:ext cx="4590288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535838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免费；需本地部署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要点：「OpenAI 兼容」意味着同一套 SDK 代码，只换 base_url + api_key + 模型名即可切换厂商；本地 Ollama 也讲同一种话，所以本地 / 云两套环境可以无缝互切。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§4 API 地址与收费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四种计费模式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按量付费（主流）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计费，输入 / 输出分开算。写代码场景输出比输入多，长上下文很贵——预算先按输出估。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4160520"/>
            <a:ext cx="2286000" cy="77724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约 $0.50/百万 token 级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566160" y="22860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月费固定额度，超出再计费。适合高频使用者，低频用不划算。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566160" y="4160520"/>
            <a:ext cx="2286000" cy="7772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5"/>
          <p:cNvSpPr/>
          <p:nvPr/>
        </p:nvSpPr>
        <p:spPr>
          <a:xfrm>
            <a:off x="3685032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/ Cursor 等工具月费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9516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免费档 / 免费额度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46520" y="22860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厂商拉新手段：注册赠金、特定免费模型、限时免费。额度会过期，用于学习刚好。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46520" y="4160520"/>
            <a:ext cx="2286000" cy="7772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6" name="Text 21"/>
          <p:cNvSpPr/>
          <p:nvPr/>
        </p:nvSpPr>
        <p:spPr>
          <a:xfrm>
            <a:off x="6565392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各平台免费模型见下页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98280" y="13716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98280" y="1371600"/>
            <a:ext cx="2697480" cy="73152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4592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本地零成本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326880" y="22860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开源模型自部署，电费免费用。唯一限制是硬件；也是唯一「无限调用」方案。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326880" y="4160520"/>
            <a:ext cx="2286000" cy="77724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3" name="Text 27"/>
          <p:cNvSpPr/>
          <p:nvPr/>
        </p:nvSpPr>
        <p:spPr>
          <a:xfrm>
            <a:off x="9445752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+ Qwen3 / Llama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选型一句话：学习 / 实验选「本地 + 免费档」，生产选「按量付费 + 设预算上限」。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0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§4 API 地址与收费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学生可用的免费方案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智谱清言 GLM-5.3 订阅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zhipu 学生 / 教育订阅通道，GLM-5.3 订阅内使用，适合日常问答与代码补全，OpenAI 兼容。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61688" y="132588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32588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 免费模型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openrouter.ai 聚合网关，带 :free 后缀的模型免费调（限额）；一套 base_url 切多厂商。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66176" y="132588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32588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Agnes 免费档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0496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Agnes 平台提供的免费模型调用额度，OpenAI 兼容协议，开箱即用。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nex-agi.com 免费使用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7588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https://nex-agi.com/ 免费通道，注册即领额度，可用于课程演示与小规模实验。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61688" y="310896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61688" y="310896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硅基流动 SiliconFlow 免费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36008" y="367588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api.siliconflow.cn 免费模型，重点是 分词器 + embedding 免费——做 RAG / 向量检索零成本。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66176" y="3108960"/>
            <a:ext cx="3703320" cy="1600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66176" y="3108960"/>
            <a:ext cx="91440" cy="1600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8540496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SharedChat 免费 token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40496" y="367588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new.sharedchat.cc/list 的免费 token（GPT-5.6），用数字 QQ 邮箱注册即可领取。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FFF9E6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663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诚实提醒：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≠ 无成本——免费档通常限速、限额度、可能过期或下架；「本地部署（Ollama）」仍是唯一无限调用方案。选型原则：能 0 成本就 0 成本，旗舰能力按需再花钱。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61520" cy="5943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SECTION FIVE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的 Harness 规划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八步闭环 · 后续实战课的方法论骨架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§5 Harness 规划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八步闭环：一个项目的标准流程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步 · 规划 Harness：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定工具（OpenCode + 本地模型）、定环境、定门禁（什么算「通过」）——先搭好车间，再开工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1945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PRD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一页纸：目标、范围、验收标准。需求写不清，AI 只会放大模糊。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5468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2057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1945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评审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2697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 + AI 审各一轮：查漏洞、查不可验收的条款，改完再动代码。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219456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轮次分解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2697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 2-5 个可独立验收的轮次（MVP 优先），每轮一个明确交付物。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154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98280" y="205740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35440" y="2194560"/>
            <a:ext cx="411480" cy="4114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轮次评审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81160" y="2697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开轮前对齐：本轮做什么、不做什么、怎么验——防止中途跑偏。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11480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" y="4617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写码，人盯关键决策；小步提交，随时可回退。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397764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0" y="4114800"/>
            <a:ext cx="411480" cy="4114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97764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520440" y="4617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PRD 验收标准逐项验证，失败就回 3 重新分解，不硬凑。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3977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411480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回写文档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400800" y="4617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把实现中新增 / 变更写回 PRD 与说明文档，文档始终是唯一事实源。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98280" y="39776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35440" y="4114800"/>
            <a:ext cx="411480" cy="411480"/>
          </a:xfrm>
          <a:prstGeom prst="ellipse">
            <a:avLst/>
          </a:prstGeom>
          <a:solidFill>
            <a:srgbClr val="1F497D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73836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反馈总结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281160" y="4617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记录本轮踩坑与修正，沉淀进项目经验库，喂给下一轮的提示词。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闭环：第 8 步的反馈回流到第 1 步——下一轮 PRD 带着上一轮的经验再开一轮，直到验收标准全部打勾。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课后任务与课程路线图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766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766560" cy="731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课后任务（课前检查）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1031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Ollama，跑通 ollama run qwen3:4b 并记录首 token 延迟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54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选一个免费 API（智谱 / 硅基流动），写一段 OpenAI 兼容调用代码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519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给「宿舍图书借还小程序」写一页 PRD（含 3 条可验收标准）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498080" y="1371600"/>
            <a:ext cx="4206240" cy="4480560"/>
          </a:xfrm>
          <a:prstGeom prst="rect">
            <a:avLst/>
          </a:prstGeom>
          <a:solidFill>
            <a:srgbClr val="0F2A5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726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课程路线图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726680" y="2148840"/>
            <a:ext cx="822960" cy="3200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8" name="Text 13"/>
          <p:cNvSpPr/>
          <p:nvPr/>
        </p:nvSpPr>
        <p:spPr>
          <a:xfrm>
            <a:off x="7726680" y="2148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6410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地基：模型 / API / 工具 / 八步法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119872" y="2468880"/>
            <a:ext cx="27432" cy="5486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Shape 16"/>
          <p:cNvSpPr/>
          <p:nvPr/>
        </p:nvSpPr>
        <p:spPr>
          <a:xfrm>
            <a:off x="7726680" y="3017520"/>
            <a:ext cx="822960" cy="3200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17"/>
          <p:cNvSpPr/>
          <p:nvPr/>
        </p:nvSpPr>
        <p:spPr>
          <a:xfrm>
            <a:off x="772668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讲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6410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实操 + 本地模型接入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19872" y="3337560"/>
            <a:ext cx="27432" cy="5486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Shape 20"/>
          <p:cNvSpPr/>
          <p:nvPr/>
        </p:nvSpPr>
        <p:spPr>
          <a:xfrm>
            <a:off x="7726680" y="3886200"/>
            <a:ext cx="822960" cy="3200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6" name="Text 21"/>
          <p:cNvSpPr/>
          <p:nvPr/>
        </p:nvSpPr>
        <p:spPr>
          <a:xfrm>
            <a:off x="7726680" y="3886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3-6 讲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6410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按八步闭环做 3 个递进项目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119872" y="4206240"/>
            <a:ext cx="27432" cy="5486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9" name="Shape 24"/>
          <p:cNvSpPr/>
          <p:nvPr/>
        </p:nvSpPr>
        <p:spPr>
          <a:xfrm>
            <a:off x="7726680" y="4754880"/>
            <a:ext cx="822960" cy="3200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0" name="Text 25"/>
          <p:cNvSpPr/>
          <p:nvPr/>
        </p:nvSpPr>
        <p:spPr>
          <a:xfrm>
            <a:off x="7726680" y="4754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结课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64108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综合项目 + 八步执行报告答辩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地基决定楼能盖多高——把这 20 张讲透，后面每个项目都事半功倍。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0" y="6537960"/>
            <a:ext cx="121615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29"/>
          <p:cNvSpPr/>
          <p:nvPr/>
        </p:nvSpPr>
        <p:spPr>
          <a:xfrm>
            <a:off x="4572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课程 · 基础知识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0789920" y="6601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课程 · 基础知识</dc:title>
  <dc:subject>PptxGenJS Presentation</dc:subject>
  <dc:creator>王新年</dc:creator>
  <cp:lastModifiedBy>王新年</cp:lastModifiedBy>
  <cp:revision>1</cp:revision>
  <dcterms:created xsi:type="dcterms:W3CDTF">2026-09-11T00:41:58Z</dcterms:created>
  <dcterms:modified xsi:type="dcterms:W3CDTF">2026-09-11T00:41:59Z</dcterms:modified>
</cp:coreProperties>
</file>