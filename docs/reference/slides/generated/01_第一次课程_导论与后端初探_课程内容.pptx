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素材来源：《01《大前端与AI实战》第一次课程：导论与后端初探.md》；教师课件《00_AI_Coding基础知识(2).pptx》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素材来源：来源：01 课程 Markdown 的“本次课程目标”“详细教学流程”“课堂总结与作业”。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素材来源：来源：01 课程 Markdown 第一部分“课程导论与项目展望”；00 全项目执行计划第 1–2 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素材来源：来源：00 全项目执行计划 1.1–1.2；01 课程 Markdown 第一部分。图中流程为课程材料中的产品闭环整理。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素材来源：来源：01 课程 Markdown 第一部分；00 全项目执行计划第 8 节课程映射；用户提供的第 2 周任务说明。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素材来源：来源：01 课程 Markdown 第二部分“环境搭建”；00 课件第 11、16–19、26 页；Ollama 作业要求来自 00 课件第 26 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素材来源：来源：00 课件第 9、13–19、21–23 页；用户提供的第 2 周任务说明。OpenCode 在课件中有提及，但没有独立的安装配置页。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素材来源：来源：00 课件第 25 页的八步闭环；01 课程 Markdown 附录“AI辅助编程的黄金法则”和“高效的人机协作开发流程”。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素材来源：来源：01 课程 Markdown 第四、第五部分；00 全项目执行计划 Phase 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素材来源：来源：01 课程 Markdown 第四部分“后端初探”；当前工作区 feynman-platform-backend/index.js 的根路由实现。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素材来源：来源：01 课程 Markdown 第五部分“代码版本管理入门”；当前工程 .gitignore 保留了 node_modules、.env 等忽略项。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素材来源：来源：当前工作区 feynman-platform-backend/README.md、index.js、routes/、middleware/、models/；本页验证结果来自本次只读检查。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素材来源：来源：01 课程 Markdown 第六部分；00 课件第 26 页；用户提供的第 2 周任务说明；用户补充的老师要求：使用 Coding Agent 解说 01 并仔细学习观看。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4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矩形 8"/>
          <p:cNvSpPr>
            <a:spLocks noGrp="1"/>
          </p:cNvSpPr>
          <p:nvPr/>
        </p:nvSpPr>
        <p:spPr>
          <a:xfrm>
            <a:off x="609600" y="1428750"/>
            <a:ext cx="800100" cy="57150"/>
          </a:xfrm>
          <a:prstGeom prst="rect">
            <a:avLst/>
          </a:prstGeom>
          <a:solidFill>
            <a:srgbClr val="C44E52"/>
          </a:solidFill>
          <a:ln w="0">
            <a:solidFill>
              <a:srgbClr val="C44E52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91440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75" b="1" i="0">
                <a:solidFill>
                  <a:srgbClr val="F4C542"/>
                </a:solidFill>
                <a:latin typeface="Consolas"/>
                <a:ea typeface="Consolas"/>
                <a:cs typeface="Consolas"/>
              </a:defRPr>
            </a:pPr>
            <a:r>
              <a:rPr sz="1275" b="1" i="0">
                <a:solidFill>
                  <a:srgbClr val="F4C542"/>
                </a:solidFill>
                <a:latin typeface="Consolas"/>
                <a:ea typeface="Consolas"/>
                <a:cs typeface="Consolas"/>
              </a:rPr>
              <a:t>WEEK 02 · 课程交付</a:t>
            </a:r>
            <a:endParaRPr sz="1275" b="1" i="0">
              <a:solidFill>
                <a:srgbClr val="F4C542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752600"/>
            <a:ext cx="7239000" cy="1295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34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《大前端与AI实战》</a:t>
            </a:r>
            <a:endParaRPr sz="345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34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第一次课程</a:t>
            </a:r>
            <a:endParaRPr sz="345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3257550"/>
            <a:ext cx="5334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2100" b="0" i="0">
                <a:solidFill>
                  <a:srgbClr val="C9DDF0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 i="0">
                <a:solidFill>
                  <a:srgbClr val="C9DDF0"/>
                </a:solidFill>
                <a:latin typeface="微软雅黑"/>
                <a:ea typeface="微软雅黑"/>
                <a:cs typeface="微软雅黑"/>
              </a:rPr>
              <a:t>导论与后端初探</a:t>
            </a:r>
            <a:endParaRPr sz="2100" b="0" i="0">
              <a:solidFill>
                <a:srgbClr val="C9DDF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3924300"/>
            <a:ext cx="723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00" b="0" i="0">
                <a:solidFill>
                  <a:srgbClr val="DCEBFA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 i="0">
                <a:solidFill>
                  <a:srgbClr val="DCEBFA"/>
                </a:solidFill>
                <a:latin typeface="微软雅黑"/>
                <a:ea typeface="微软雅黑"/>
                <a:cs typeface="微软雅黑"/>
              </a:rPr>
              <a:t>从大前端视野，到第一个可运行的 Node.js + Express 服务</a:t>
            </a:r>
            <a:endParaRPr sz="1500" b="0" i="0">
              <a:solidFill>
                <a:srgbClr val="DCEBF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59245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00" b="0" i="0">
                <a:solidFill>
                  <a:srgbClr val="BFD3E8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 i="0">
                <a:solidFill>
                  <a:srgbClr val="BFD3E8"/>
                </a:solidFill>
                <a:latin typeface="微软雅黑"/>
                <a:ea typeface="微软雅黑"/>
                <a:cs typeface="微软雅黑"/>
              </a:rPr>
              <a:t>费曼学习平台 · Feynman Learning Platform</a:t>
            </a:r>
            <a:endParaRPr sz="1200" b="0" i="0">
              <a:solidFill>
                <a:srgbClr val="BFD3E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572500" y="1733550"/>
            <a:ext cx="26670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3500" b="1" i="0">
                <a:solidFill>
                  <a:srgbClr val="1D477C"/>
                </a:solidFill>
                <a:latin typeface="Consolas"/>
                <a:ea typeface="Consolas"/>
                <a:cs typeface="Consolas"/>
              </a:defRPr>
            </a:pPr>
            <a:r>
              <a:rPr sz="13500" b="1" i="0">
                <a:solidFill>
                  <a:srgbClr val="1D477C"/>
                </a:solidFill>
                <a:latin typeface="Consolas"/>
                <a:ea typeface="Consolas"/>
                <a:cs typeface="Consolas"/>
              </a:rPr>
              <a:t>01</a:t>
            </a:r>
            <a:endParaRPr sz="13500" b="1" i="0">
              <a:solidFill>
                <a:srgbClr val="1D477C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972550" y="4191000"/>
            <a:ext cx="2095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6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本次提交</a:t>
            </a:r>
            <a:endParaRPr sz="165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6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课程内容 PPTX</a:t>
            </a:r>
            <a:endParaRPr sz="165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1" name="矩形 40"/>
          <p:cNvSpPr>
            <a:spLocks noGrp="1"/>
          </p:cNvSpPr>
          <p:nvPr/>
        </p:nvSpPr>
        <p:spPr>
          <a:xfrm>
            <a:off x="457200" y="361950"/>
            <a:ext cx="76200" cy="514350"/>
          </a:xfrm>
          <a:prstGeom prst="rect">
            <a:avLst/>
          </a:prstGeom>
          <a:solidFill>
            <a:srgbClr val="C44E52"/>
          </a:solidFill>
          <a:ln w="0">
            <a:solidFill>
              <a:srgbClr val="C44E52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47700" y="457200"/>
            <a:ext cx="609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2250" b="1" i="0">
                <a:solidFill>
                  <a:srgbClr val="C44E52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 i="0">
                <a:solidFill>
                  <a:srgbClr val="C44E52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2250" b="1" i="0">
              <a:solidFill>
                <a:srgbClr val="C44E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333500" y="36195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125" b="1" i="0">
                <a:solidFill>
                  <a:srgbClr val="2F69A6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2F69A6"/>
                </a:solidFill>
                <a:latin typeface="Consolas"/>
                <a:ea typeface="Consolas"/>
                <a:cs typeface="Consolas"/>
              </a:rPr>
              <a:t>01 · LEARNING OBJECTIVES</a:t>
            </a:r>
            <a:endParaRPr sz="1125" b="1" i="0">
              <a:solidFill>
                <a:srgbClr val="2F69A6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333500" y="552450"/>
            <a:ext cx="9810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2550" b="1" i="0">
                <a:solidFill>
                  <a:srgbClr val="17345F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 i="0">
                <a:solidFill>
                  <a:srgbClr val="17345F"/>
                </a:solidFill>
                <a:latin typeface="微软雅黑"/>
                <a:ea typeface="微软雅黑"/>
                <a:cs typeface="微软雅黑"/>
              </a:rPr>
              <a:t>本课学习目标</a:t>
            </a:r>
            <a:endParaRPr sz="2550" b="1" i="0">
              <a:solidFill>
                <a:srgbClr val="17345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0" y="6534150"/>
            <a:ext cx="12192000" cy="9525"/>
          </a:xfrm>
          <a:prstGeom prst="rect">
            <a:avLst/>
          </a:prstGeom>
          <a:solidFill>
            <a:srgbClr val="DCE3EB"/>
          </a:solidFill>
          <a:ln w="0">
            <a:solidFill>
              <a:srgbClr val="DCE3EB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457200" y="662940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975" b="0" i="0">
                <a:solidFill>
                  <a:srgbClr val="5B6B7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 i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《大前端与AI实战》 · 第一次课程</a:t>
            </a:r>
            <a:endParaRPr sz="975" b="0" i="0">
              <a:solidFill>
                <a:srgbClr val="5B6B7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953750" y="6629400"/>
            <a:ext cx="781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defRPr sz="975" b="0" i="0">
                <a:solidFill>
                  <a:srgbClr val="5B6B7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 i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02 / 13</a:t>
            </a:r>
            <a:endParaRPr sz="975" b="0" i="0">
              <a:solidFill>
                <a:srgbClr val="5B6B7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57200" y="1238250"/>
            <a:ext cx="7429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425" b="0" i="0">
                <a:solidFill>
                  <a:srgbClr val="5B6B7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 i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4 学时 · 让基础薄弱的同学也能完成一次从环境到服务的闭环</a:t>
            </a:r>
            <a:endParaRPr sz="1425" b="0" i="0">
              <a:solidFill>
                <a:srgbClr val="5B6B7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椭圆 8"/>
          <p:cNvSpPr>
            <a:spLocks noGrp="1"/>
          </p:cNvSpPr>
          <p:nvPr/>
        </p:nvSpPr>
        <p:spPr>
          <a:xfrm>
            <a:off x="457200" y="1790700"/>
            <a:ext cx="400050" cy="400050"/>
          </a:xfrm>
          <a:prstGeom prst="ellipse">
            <a:avLst/>
          </a:prstGeom>
          <a:solidFill>
            <a:srgbClr val="17345F"/>
          </a:solidFill>
          <a:ln w="0">
            <a:solidFill>
              <a:srgbClr val="17345F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457200" y="186690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  <a:endParaRPr sz="15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066800" y="1771650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725" b="1" i="0">
                <a:solidFill>
                  <a:srgbClr val="17345F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 i="0">
                <a:solidFill>
                  <a:srgbClr val="17345F"/>
                </a:solidFill>
                <a:latin typeface="微软雅黑"/>
                <a:ea typeface="微软雅黑"/>
                <a:cs typeface="微软雅黑"/>
              </a:rPr>
              <a:t>理解大前端</a:t>
            </a:r>
            <a:endParaRPr sz="1725" b="1" i="0">
              <a:solidFill>
                <a:srgbClr val="17345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066800" y="2133600"/>
            <a:ext cx="4572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75" b="0" i="0">
                <a:solidFill>
                  <a:srgbClr val="5B6B7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 i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说清大前端与全栈的基本概念，知道项目最终要做什么</a:t>
            </a:r>
            <a:endParaRPr sz="1275" b="0" i="0">
              <a:solidFill>
                <a:srgbClr val="5B6B7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066800" y="2705100"/>
            <a:ext cx="4572000" cy="9525"/>
          </a:xfrm>
          <a:prstGeom prst="rect">
            <a:avLst/>
          </a:prstGeom>
          <a:solidFill>
            <a:srgbClr val="DCE3EB"/>
          </a:solidFill>
          <a:ln w="0">
            <a:solidFill>
              <a:srgbClr val="DCE3EB"/>
            </a:solidFill>
            <a:prstDash val="solid"/>
          </a:ln>
        </p:spPr>
      </p:sp>
      <p:sp>
        <p:nvSpPr>
          <p:cNvPr id="14" name="椭圆 13"/>
          <p:cNvSpPr>
            <a:spLocks noGrp="1"/>
          </p:cNvSpPr>
          <p:nvPr/>
        </p:nvSpPr>
        <p:spPr>
          <a:xfrm>
            <a:off x="457200" y="2857500"/>
            <a:ext cx="400050" cy="400050"/>
          </a:xfrm>
          <a:prstGeom prst="ellipse">
            <a:avLst/>
          </a:prstGeom>
          <a:solidFill>
            <a:srgbClr val="17345F"/>
          </a:solidFill>
          <a:ln w="0">
            <a:solidFill>
              <a:srgbClr val="17345F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457200" y="293370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  <a:endParaRPr sz="15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066800" y="2838450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725" b="1" i="0">
                <a:solidFill>
                  <a:srgbClr val="17345F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 i="0">
                <a:solidFill>
                  <a:srgbClr val="17345F"/>
                </a:solidFill>
                <a:latin typeface="微软雅黑"/>
                <a:ea typeface="微软雅黑"/>
                <a:cs typeface="微软雅黑"/>
              </a:rPr>
              <a:t>搭好环境</a:t>
            </a:r>
            <a:endParaRPr sz="1725" b="1" i="0">
              <a:solidFill>
                <a:srgbClr val="17345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066800" y="3200400"/>
            <a:ext cx="4572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75" b="0" i="0">
                <a:solidFill>
                  <a:srgbClr val="5B6B7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 i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完成 Node.js、VS Code、Git 的安装与版本验证</a:t>
            </a:r>
            <a:endParaRPr sz="1275" b="0" i="0">
              <a:solidFill>
                <a:srgbClr val="5B6B7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066800" y="3771900"/>
            <a:ext cx="4572000" cy="9525"/>
          </a:xfrm>
          <a:prstGeom prst="rect">
            <a:avLst/>
          </a:prstGeom>
          <a:solidFill>
            <a:srgbClr val="DCE3EB"/>
          </a:solidFill>
          <a:ln w="0">
            <a:solidFill>
              <a:srgbClr val="DCE3EB"/>
            </a:solidFill>
            <a:prstDash val="solid"/>
          </a:ln>
        </p:spPr>
      </p:sp>
      <p:sp>
        <p:nvSpPr>
          <p:cNvPr id="19" name="椭圆 18"/>
          <p:cNvSpPr>
            <a:spLocks noGrp="1"/>
          </p:cNvSpPr>
          <p:nvPr/>
        </p:nvSpPr>
        <p:spPr>
          <a:xfrm>
            <a:off x="457200" y="3924300"/>
            <a:ext cx="400050" cy="400050"/>
          </a:xfrm>
          <a:prstGeom prst="ellipse">
            <a:avLst/>
          </a:prstGeom>
          <a:solidFill>
            <a:srgbClr val="17345F"/>
          </a:solidFill>
          <a:ln w="0">
            <a:solidFill>
              <a:srgbClr val="17345F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457200" y="400050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  <a:endParaRPr sz="15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066800" y="3905250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725" b="1" i="0">
                <a:solidFill>
                  <a:srgbClr val="17345F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 i="0">
                <a:solidFill>
                  <a:srgbClr val="17345F"/>
                </a:solidFill>
                <a:latin typeface="微软雅黑"/>
                <a:ea typeface="微软雅黑"/>
                <a:cs typeface="微软雅黑"/>
              </a:rPr>
              <a:t>学会用 AI</a:t>
            </a:r>
            <a:endParaRPr sz="1725" b="1" i="0">
              <a:solidFill>
                <a:srgbClr val="17345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066800" y="4267200"/>
            <a:ext cx="4572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75" b="0" i="0">
                <a:solidFill>
                  <a:srgbClr val="5B6B7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 i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把 AI Coding 当作副驾，能提问、审查、测试生成结果</a:t>
            </a:r>
            <a:endParaRPr sz="1275" b="0" i="0">
              <a:solidFill>
                <a:srgbClr val="5B6B7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066800" y="4838700"/>
            <a:ext cx="4572000" cy="9525"/>
          </a:xfrm>
          <a:prstGeom prst="rect">
            <a:avLst/>
          </a:prstGeom>
          <a:solidFill>
            <a:srgbClr val="DCE3EB"/>
          </a:solidFill>
          <a:ln w="0">
            <a:solidFill>
              <a:srgbClr val="DCE3EB"/>
            </a:solidFill>
            <a:prstDash val="solid"/>
          </a:ln>
        </p:spPr>
      </p:sp>
      <p:sp>
        <p:nvSpPr>
          <p:cNvPr id="24" name="椭圆 23"/>
          <p:cNvSpPr>
            <a:spLocks noGrp="1"/>
          </p:cNvSpPr>
          <p:nvPr/>
        </p:nvSpPr>
        <p:spPr>
          <a:xfrm>
            <a:off x="5905500" y="1790700"/>
            <a:ext cx="400050" cy="400050"/>
          </a:xfrm>
          <a:prstGeom prst="ellipse">
            <a:avLst/>
          </a:prstGeom>
          <a:solidFill>
            <a:srgbClr val="2F69A6"/>
          </a:solidFill>
          <a:ln w="0">
            <a:solidFill>
              <a:srgbClr val="2F69A6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5905500" y="186690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  <a:endParaRPr sz="15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515100" y="1771650"/>
            <a:ext cx="2171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650" b="1" i="0">
                <a:solidFill>
                  <a:srgbClr val="17345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 i="0">
                <a:solidFill>
                  <a:srgbClr val="17345F"/>
                </a:solidFill>
                <a:latin typeface="微软雅黑"/>
                <a:ea typeface="微软雅黑"/>
                <a:cs typeface="微软雅黑"/>
              </a:rPr>
              <a:t>跑通后端</a:t>
            </a:r>
            <a:endParaRPr sz="1650" b="1" i="0">
              <a:solidFill>
                <a:srgbClr val="17345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515100" y="2133600"/>
            <a:ext cx="21717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00" b="0" i="0">
                <a:solidFill>
                  <a:srgbClr val="5B6B7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 i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独立创建 Node.js 项目，使用</a:t>
            </a:r>
            <a:endParaRPr sz="1200" b="0" i="0">
              <a:solidFill>
                <a:srgbClr val="5B6B7F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200" b="0" i="0">
                <a:solidFill>
                  <a:srgbClr val="5B6B7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 i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Express 提供第一个 API</a:t>
            </a:r>
            <a:endParaRPr sz="1200" b="0" i="0">
              <a:solidFill>
                <a:srgbClr val="5B6B7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515100" y="2705100"/>
            <a:ext cx="2171700" cy="9525"/>
          </a:xfrm>
          <a:prstGeom prst="rect">
            <a:avLst/>
          </a:prstGeom>
          <a:solidFill>
            <a:srgbClr val="DCE3EB"/>
          </a:solidFill>
          <a:ln w="0">
            <a:solidFill>
              <a:srgbClr val="DCE3EB"/>
            </a:solidFill>
            <a:prstDash val="solid"/>
          </a:ln>
        </p:spPr>
      </p:sp>
      <p:sp>
        <p:nvSpPr>
          <p:cNvPr id="29" name="椭圆 28"/>
          <p:cNvSpPr>
            <a:spLocks noGrp="1"/>
          </p:cNvSpPr>
          <p:nvPr/>
        </p:nvSpPr>
        <p:spPr>
          <a:xfrm>
            <a:off x="5905500" y="2857500"/>
            <a:ext cx="400050" cy="400050"/>
          </a:xfrm>
          <a:prstGeom prst="ellipse">
            <a:avLst/>
          </a:prstGeom>
          <a:solidFill>
            <a:srgbClr val="2F69A6"/>
          </a:solidFill>
          <a:ln w="0">
            <a:solidFill>
              <a:srgbClr val="2F69A6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5905500" y="293370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  <a:endParaRPr sz="15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6515100" y="2838450"/>
            <a:ext cx="2171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650" b="1" i="0">
                <a:solidFill>
                  <a:srgbClr val="17345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 i="0">
                <a:solidFill>
                  <a:srgbClr val="17345F"/>
                </a:solidFill>
                <a:latin typeface="微软雅黑"/>
                <a:ea typeface="微软雅黑"/>
                <a:cs typeface="微软雅黑"/>
              </a:rPr>
              <a:t>认识项目文件</a:t>
            </a:r>
            <a:endParaRPr sz="1650" b="1" i="0">
              <a:solidFill>
                <a:srgbClr val="17345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6515100" y="3200400"/>
            <a:ext cx="21717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00" b="0" i="0">
                <a:solidFill>
                  <a:srgbClr val="5B6B7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 i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理解 package.json 与</a:t>
            </a:r>
            <a:endParaRPr sz="1200" b="0" i="0">
              <a:solidFill>
                <a:srgbClr val="5B6B7F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200" b="0" i="0">
                <a:solidFill>
                  <a:srgbClr val="5B6B7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 i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node_modules 的关系，以及依赖如何管理</a:t>
            </a:r>
            <a:endParaRPr sz="1200" b="0" i="0">
              <a:solidFill>
                <a:srgbClr val="5B6B7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6515100" y="3771900"/>
            <a:ext cx="2171700" cy="9525"/>
          </a:xfrm>
          <a:prstGeom prst="rect">
            <a:avLst/>
          </a:prstGeom>
          <a:solidFill>
            <a:srgbClr val="DCE3EB"/>
          </a:solidFill>
          <a:ln w="0">
            <a:solidFill>
              <a:srgbClr val="DCE3EB"/>
            </a:solidFill>
            <a:prstDash val="solid"/>
          </a:ln>
        </p:spPr>
      </p:sp>
      <p:sp>
        <p:nvSpPr>
          <p:cNvPr id="34" name="椭圆 33"/>
          <p:cNvSpPr>
            <a:spLocks noGrp="1"/>
          </p:cNvSpPr>
          <p:nvPr/>
        </p:nvSpPr>
        <p:spPr>
          <a:xfrm>
            <a:off x="5905500" y="3924300"/>
            <a:ext cx="400050" cy="400050"/>
          </a:xfrm>
          <a:prstGeom prst="ellipse">
            <a:avLst/>
          </a:prstGeom>
          <a:solidFill>
            <a:srgbClr val="2F69A6"/>
          </a:solidFill>
          <a:ln w="0">
            <a:solidFill>
              <a:srgbClr val="2F69A6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5905500" y="400050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  <a:endParaRPr sz="15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6515100" y="3905250"/>
            <a:ext cx="2171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650" b="1" i="0">
                <a:solidFill>
                  <a:srgbClr val="17345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 i="0">
                <a:solidFill>
                  <a:srgbClr val="17345F"/>
                </a:solidFill>
                <a:latin typeface="微软雅黑"/>
                <a:ea typeface="微软雅黑"/>
                <a:cs typeface="微软雅黑"/>
              </a:rPr>
              <a:t>保存第一版</a:t>
            </a:r>
            <a:endParaRPr sz="1650" b="1" i="0">
              <a:solidFill>
                <a:srgbClr val="17345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6515100" y="4267200"/>
            <a:ext cx="21717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00" b="0" i="0">
                <a:solidFill>
                  <a:srgbClr val="5B6B7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 i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用 Git 初始化仓库，提交一份</a:t>
            </a:r>
            <a:endParaRPr sz="1200" b="0" i="0">
              <a:solidFill>
                <a:srgbClr val="5B6B7F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200" b="0" i="0">
                <a:solidFill>
                  <a:srgbClr val="5B6B7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 i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可回退的代码快照</a:t>
            </a:r>
            <a:endParaRPr sz="1200" b="0" i="0">
              <a:solidFill>
                <a:srgbClr val="5B6B7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6515100" y="4838700"/>
            <a:ext cx="2171700" cy="9525"/>
          </a:xfrm>
          <a:prstGeom prst="rect">
            <a:avLst/>
          </a:prstGeom>
          <a:solidFill>
            <a:srgbClr val="DCE3EB"/>
          </a:solidFill>
          <a:ln w="0">
            <a:solidFill>
              <a:srgbClr val="DCE3EB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9144000" y="12382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350" b="1" i="0">
                <a:solidFill>
                  <a:srgbClr val="C44E5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 i="0">
                <a:solidFill>
                  <a:srgbClr val="C44E52"/>
                </a:solidFill>
                <a:latin typeface="微软雅黑"/>
                <a:ea typeface="微软雅黑"/>
                <a:cs typeface="微软雅黑"/>
              </a:rPr>
              <a:t>课堂节奏</a:t>
            </a:r>
            <a:endParaRPr sz="1350" b="1" i="0">
              <a:solidFill>
                <a:srgbClr val="C44E52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80" name="表格 79"/>
          <p:cNvGraphicFramePr/>
          <p:nvPr/>
        </p:nvGraphicFramePr>
        <p:xfrm>
          <a:off x="9144000" y="1600200"/>
          <a:ext cx="2476500" cy="3333750"/>
        </p:xfrm>
        <a:graphic>
          <a:graphicData uri="http://schemas.openxmlformats.org/drawingml/2006/table">
            <a:tbl>
              <a:tblPr firstRow="1"/>
              <a:tblGrid>
                <a:gridCol w="1571625"/>
                <a:gridCol w="904875"/>
              </a:tblGrid>
              <a:tr h="476250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1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环节</a:t>
                      </a:r>
                      <a:endParaRPr sz="1125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17345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1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时长</a:t>
                      </a:r>
                      <a:endParaRPr sz="1125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17345F"/>
                    </a:solidFill>
                  </a:tcPr>
                </a:tc>
              </a:tr>
              <a:tr h="476250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1F2F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课程导论</a:t>
                      </a:r>
                      <a:endParaRPr sz="1050" b="0">
                        <a:solidFill>
                          <a:srgbClr val="1F2F4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1F2F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30 min</a:t>
                      </a:r>
                      <a:endParaRPr sz="1050" b="0">
                        <a:solidFill>
                          <a:srgbClr val="1F2F4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1F2F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环境搭建</a:t>
                      </a:r>
                      <a:endParaRPr sz="1050" b="0">
                        <a:solidFill>
                          <a:srgbClr val="1F2F4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E8F4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1F2F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45 min</a:t>
                      </a:r>
                      <a:endParaRPr sz="1050" b="0">
                        <a:solidFill>
                          <a:srgbClr val="1F2F4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E8F4FF"/>
                    </a:solidFill>
                  </a:tcPr>
                </a:tc>
              </a:tr>
              <a:tr h="476250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1F2F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AI 编程助手</a:t>
                      </a:r>
                      <a:endParaRPr sz="1050" b="0">
                        <a:solidFill>
                          <a:srgbClr val="1F2F4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1F2F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45 min</a:t>
                      </a:r>
                      <a:endParaRPr sz="1050" b="0">
                        <a:solidFill>
                          <a:srgbClr val="1F2F4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1F2F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Express API</a:t>
                      </a:r>
                      <a:endParaRPr sz="1050" b="0">
                        <a:solidFill>
                          <a:srgbClr val="1F2F4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E8F4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1F2F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60 min</a:t>
                      </a:r>
                      <a:endParaRPr sz="1050" b="0">
                        <a:solidFill>
                          <a:srgbClr val="1F2F4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E8F4FF"/>
                    </a:solidFill>
                  </a:tcPr>
                </a:tc>
              </a:tr>
              <a:tr h="476250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1F2F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Git 入门</a:t>
                      </a:r>
                      <a:endParaRPr sz="1050" b="0">
                        <a:solidFill>
                          <a:srgbClr val="1F2F4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1F2F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 min</a:t>
                      </a:r>
                      <a:endParaRPr sz="1050" b="0">
                        <a:solidFill>
                          <a:srgbClr val="1F2F4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1F2F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总结与作业</a:t>
                      </a:r>
                      <a:endParaRPr sz="1050" b="0">
                        <a:solidFill>
                          <a:srgbClr val="1F2F4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E8F4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1F2F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15 min</a:t>
                      </a:r>
                      <a:endParaRPr sz="1050" b="0">
                        <a:solidFill>
                          <a:srgbClr val="1F2F4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E8F4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4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矩形 8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C44E52"/>
          </a:solidFill>
          <a:ln w="0">
            <a:solidFill>
              <a:srgbClr val="C44E52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1524000"/>
            <a:ext cx="857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2850" b="1" i="0">
                <a:solidFill>
                  <a:srgbClr val="F4C542"/>
                </a:solidFill>
                <a:latin typeface="Consolas"/>
                <a:ea typeface="Consolas"/>
                <a:cs typeface="Consolas"/>
              </a:defRPr>
            </a:pPr>
            <a:r>
              <a:rPr sz="2850" b="1" i="0">
                <a:solidFill>
                  <a:srgbClr val="F4C542"/>
                </a:solidFill>
                <a:latin typeface="Consolas"/>
                <a:ea typeface="Consolas"/>
                <a:cs typeface="Consolas"/>
              </a:rPr>
              <a:t>03</a:t>
            </a:r>
            <a:endParaRPr sz="2850" b="1" i="0">
              <a:solidFill>
                <a:srgbClr val="F4C542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2143125"/>
            <a:ext cx="5143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125" b="1" i="0">
                <a:solidFill>
                  <a:srgbClr val="9FC5ED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9FC5ED"/>
                </a:solidFill>
                <a:latin typeface="Consolas"/>
                <a:ea typeface="Consolas"/>
                <a:cs typeface="Consolas"/>
              </a:rPr>
              <a:t>SECTION ONE</a:t>
            </a:r>
            <a:endParaRPr sz="1125" b="1" i="0">
              <a:solidFill>
                <a:srgbClr val="9FC5ED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2571750"/>
            <a:ext cx="9525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34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项目与课程主线</a:t>
            </a:r>
            <a:endParaRPr sz="345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3524250"/>
            <a:ext cx="9144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725" b="0" i="0">
                <a:solidFill>
                  <a:srgbClr val="DCEBFA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 i="0">
                <a:solidFill>
                  <a:srgbClr val="DCEBFA"/>
                </a:solidFill>
                <a:latin typeface="微软雅黑"/>
                <a:ea typeface="微软雅黑"/>
                <a:cs typeface="微软雅黑"/>
              </a:rPr>
              <a:t>先看最终产品，再理解为什么从一个后端服务开始</a:t>
            </a:r>
            <a:endParaRPr sz="1725" b="0" i="0">
              <a:solidFill>
                <a:srgbClr val="DCEBF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0" y="5943600"/>
            <a:ext cx="12192000" cy="590550"/>
          </a:xfrm>
          <a:prstGeom prst="rect">
            <a:avLst/>
          </a:prstGeom>
          <a:solidFill>
            <a:srgbClr val="1D477C"/>
          </a:solidFill>
          <a:ln w="0">
            <a:solidFill>
              <a:srgbClr val="1D477C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6134100"/>
            <a:ext cx="428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050" b="0" i="0">
                <a:solidFill>
                  <a:srgbClr val="BFD3E8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 i="0">
                <a:solidFill>
                  <a:srgbClr val="BFD3E8"/>
                </a:solidFill>
                <a:latin typeface="微软雅黑"/>
                <a:ea typeface="微软雅黑"/>
                <a:cs typeface="微软雅黑"/>
              </a:rPr>
              <a:t>AI Coding 课程 · 01 第一次课程</a:t>
            </a:r>
            <a:endParaRPr sz="1050" b="0" i="0">
              <a:solidFill>
                <a:srgbClr val="BFD3E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0810875" y="6134100"/>
            <a:ext cx="857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defRPr sz="1050" b="0" i="0">
                <a:solidFill>
                  <a:srgbClr val="BFD3E8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 i="0">
                <a:solidFill>
                  <a:srgbClr val="BFD3E8"/>
                </a:solidFill>
                <a:latin typeface="微软雅黑"/>
                <a:ea typeface="微软雅黑"/>
                <a:cs typeface="微软雅黑"/>
              </a:rPr>
              <a:t>03 / 13</a:t>
            </a:r>
            <a:endParaRPr sz="1050" b="0" i="0">
              <a:solidFill>
                <a:srgbClr val="BFD3E8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3" name="矩形 42"/>
          <p:cNvSpPr>
            <a:spLocks noGrp="1"/>
          </p:cNvSpPr>
          <p:nvPr/>
        </p:nvSpPr>
        <p:spPr>
          <a:xfrm>
            <a:off x="457200" y="361950"/>
            <a:ext cx="76200" cy="514350"/>
          </a:xfrm>
          <a:prstGeom prst="rect">
            <a:avLst/>
          </a:prstGeom>
          <a:solidFill>
            <a:srgbClr val="C44E52"/>
          </a:solidFill>
          <a:ln w="0">
            <a:solidFill>
              <a:srgbClr val="C44E52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47700" y="457200"/>
            <a:ext cx="609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2250" b="1" i="0">
                <a:solidFill>
                  <a:srgbClr val="C44E52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 i="0">
                <a:solidFill>
                  <a:srgbClr val="C44E52"/>
                </a:solidFill>
                <a:latin typeface="微软雅黑"/>
                <a:ea typeface="微软雅黑"/>
                <a:cs typeface="微软雅黑"/>
              </a:rPr>
              <a:t>04</a:t>
            </a:r>
            <a:endParaRPr sz="2250" b="1" i="0">
              <a:solidFill>
                <a:srgbClr val="C44E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333500" y="36195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125" b="1" i="0">
                <a:solidFill>
                  <a:srgbClr val="2F69A6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2F69A6"/>
                </a:solidFill>
                <a:latin typeface="Consolas"/>
                <a:ea typeface="Consolas"/>
                <a:cs typeface="Consolas"/>
              </a:rPr>
              <a:t>01 · PRODUCT VISION</a:t>
            </a:r>
            <a:endParaRPr sz="1125" b="1" i="0">
              <a:solidFill>
                <a:srgbClr val="2F69A6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333500" y="552450"/>
            <a:ext cx="9810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2550" b="1" i="0">
                <a:solidFill>
                  <a:srgbClr val="17345F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 i="0">
                <a:solidFill>
                  <a:srgbClr val="17345F"/>
                </a:solidFill>
                <a:latin typeface="微软雅黑"/>
                <a:ea typeface="微软雅黑"/>
                <a:cs typeface="微软雅黑"/>
              </a:rPr>
              <a:t>费曼学习平台：最终要解决什么问题</a:t>
            </a:r>
            <a:endParaRPr sz="2550" b="1" i="0">
              <a:solidFill>
                <a:srgbClr val="17345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0" y="6534150"/>
            <a:ext cx="12192000" cy="9525"/>
          </a:xfrm>
          <a:prstGeom prst="rect">
            <a:avLst/>
          </a:prstGeom>
          <a:solidFill>
            <a:srgbClr val="DCE3EB"/>
          </a:solidFill>
          <a:ln w="0">
            <a:solidFill>
              <a:srgbClr val="DCE3EB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457200" y="662940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975" b="0" i="0">
                <a:solidFill>
                  <a:srgbClr val="5B6B7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 i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《大前端与AI实战》 · 第一次课程</a:t>
            </a:r>
            <a:endParaRPr sz="975" b="0" i="0">
              <a:solidFill>
                <a:srgbClr val="5B6B7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953750" y="6629400"/>
            <a:ext cx="781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defRPr sz="975" b="0" i="0">
                <a:solidFill>
                  <a:srgbClr val="5B6B7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 i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04 / 13</a:t>
            </a:r>
            <a:endParaRPr sz="975" b="0" i="0">
              <a:solidFill>
                <a:srgbClr val="5B6B7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57200" y="1238250"/>
            <a:ext cx="904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75" b="0" i="0">
                <a:solidFill>
                  <a:srgbClr val="1F2F45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 i="0">
                <a:solidFill>
                  <a:srgbClr val="1F2F45"/>
                </a:solidFill>
                <a:latin typeface="微软雅黑"/>
                <a:ea typeface="微软雅黑"/>
                <a:cs typeface="微软雅黑"/>
              </a:rPr>
              <a:t>把输入、复述、AI 反馈与复习串成可持续的学习闭环</a:t>
            </a:r>
            <a:endParaRPr sz="1575" b="0" i="0">
              <a:solidFill>
                <a:srgbClr val="1F2F4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457200" y="2190750"/>
            <a:ext cx="1638300" cy="1581150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 w="9525">
            <a:solidFill>
              <a:srgbClr val="C9DDF0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628650" y="2343150"/>
            <a:ext cx="57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00" b="1" i="0">
                <a:solidFill>
                  <a:srgbClr val="2F69A6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2F69A6"/>
                </a:solidFill>
                <a:latin typeface="Consolas"/>
                <a:ea typeface="Consolas"/>
                <a:cs typeface="Consolas"/>
              </a:rPr>
              <a:t>01</a:t>
            </a:r>
            <a:endParaRPr sz="1200" b="1" i="0">
              <a:solidFill>
                <a:srgbClr val="2F69A6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686050"/>
            <a:ext cx="1295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650" b="1" i="0">
                <a:solidFill>
                  <a:srgbClr val="17345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 i="0">
                <a:solidFill>
                  <a:srgbClr val="17345F"/>
                </a:solidFill>
                <a:latin typeface="微软雅黑"/>
                <a:ea typeface="微软雅黑"/>
                <a:cs typeface="微软雅黑"/>
              </a:rPr>
              <a:t>录入知识点</a:t>
            </a:r>
            <a:endParaRPr sz="1650" b="1" i="0">
              <a:solidFill>
                <a:srgbClr val="17345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3570" y="3212465"/>
            <a:ext cx="1295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125" b="0" i="0">
                <a:solidFill>
                  <a:srgbClr val="5B6B7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 i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Markdown / LaTeX / Mermaid</a:t>
            </a:r>
            <a:endParaRPr sz="1125" b="0" i="0">
              <a:solidFill>
                <a:srgbClr val="5B6B7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2381250" y="2190750"/>
            <a:ext cx="1638300" cy="1581150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 w="9525">
            <a:solidFill>
              <a:srgbClr val="C9DDF0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2552700" y="2343150"/>
            <a:ext cx="57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00" b="1" i="0">
                <a:solidFill>
                  <a:srgbClr val="2F69A6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2F69A6"/>
                </a:solidFill>
                <a:latin typeface="Consolas"/>
                <a:ea typeface="Consolas"/>
                <a:cs typeface="Consolas"/>
              </a:rPr>
              <a:t>02</a:t>
            </a:r>
            <a:endParaRPr sz="1200" b="1" i="0">
              <a:solidFill>
                <a:srgbClr val="2F69A6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2552700" y="2686050"/>
            <a:ext cx="1295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650" b="1" i="0">
                <a:solidFill>
                  <a:srgbClr val="17345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 i="0">
                <a:solidFill>
                  <a:srgbClr val="17345F"/>
                </a:solidFill>
                <a:latin typeface="微软雅黑"/>
                <a:ea typeface="微软雅黑"/>
                <a:cs typeface="微软雅黑"/>
              </a:rPr>
              <a:t>用自己的话复述</a:t>
            </a:r>
            <a:endParaRPr sz="1650" b="1" i="0">
              <a:solidFill>
                <a:srgbClr val="17345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2552700" y="3276600"/>
            <a:ext cx="1295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125" b="0" i="0">
                <a:solidFill>
                  <a:srgbClr val="5B6B7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 i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把理解讲出来</a:t>
            </a:r>
            <a:endParaRPr sz="1125" b="0" i="0">
              <a:solidFill>
                <a:srgbClr val="5B6B7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4305300" y="2190750"/>
            <a:ext cx="1638300" cy="1581150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 w="9525">
            <a:solidFill>
              <a:srgbClr val="C9DDF0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4476750" y="2343150"/>
            <a:ext cx="57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00" b="1" i="0">
                <a:solidFill>
                  <a:srgbClr val="2F69A6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2F69A6"/>
                </a:solidFill>
                <a:latin typeface="Consolas"/>
                <a:ea typeface="Consolas"/>
                <a:cs typeface="Consolas"/>
              </a:rPr>
              <a:t>03</a:t>
            </a:r>
            <a:endParaRPr sz="1200" b="1" i="0">
              <a:solidFill>
                <a:srgbClr val="2F69A6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4476750" y="2686050"/>
            <a:ext cx="1295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650" b="1" i="0">
                <a:solidFill>
                  <a:srgbClr val="17345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 i="0">
                <a:solidFill>
                  <a:srgbClr val="17345F"/>
                </a:solidFill>
                <a:latin typeface="微软雅黑"/>
                <a:ea typeface="微软雅黑"/>
                <a:cs typeface="微软雅黑"/>
              </a:rPr>
              <a:t>录音转文字</a:t>
            </a:r>
            <a:endParaRPr sz="1650" b="1" i="0">
              <a:solidFill>
                <a:srgbClr val="17345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4476750" y="3212465"/>
            <a:ext cx="1295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125" b="0" i="0">
                <a:solidFill>
                  <a:srgbClr val="5B6B7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 i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浏览器 MediaRecorder + ASR</a:t>
            </a:r>
            <a:endParaRPr sz="1125" b="0" i="0">
              <a:solidFill>
                <a:srgbClr val="5B6B7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6229350" y="2190750"/>
            <a:ext cx="1638300" cy="1581150"/>
          </a:xfrm>
          <a:prstGeom prst="roundRect">
            <a:avLst>
              <a:gd name="adj" fmla="val 7229"/>
            </a:avLst>
          </a:prstGeom>
          <a:solidFill>
            <a:srgbClr val="FFF8E1"/>
          </a:solidFill>
          <a:ln w="9525">
            <a:solidFill>
              <a:srgbClr val="E8C85A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6400800" y="2343150"/>
            <a:ext cx="57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00" b="1" i="0">
                <a:solidFill>
                  <a:srgbClr val="C44E52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C44E52"/>
                </a:solidFill>
                <a:latin typeface="Consolas"/>
                <a:ea typeface="Consolas"/>
                <a:cs typeface="Consolas"/>
              </a:rPr>
              <a:t>04</a:t>
            </a:r>
            <a:endParaRPr sz="1200" b="1" i="0">
              <a:solidFill>
                <a:srgbClr val="C44E52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400800" y="2686050"/>
            <a:ext cx="1295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650" b="1" i="0">
                <a:solidFill>
                  <a:srgbClr val="17345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 i="0">
                <a:solidFill>
                  <a:srgbClr val="17345F"/>
                </a:solidFill>
                <a:latin typeface="微软雅黑"/>
                <a:ea typeface="微软雅黑"/>
                <a:cs typeface="微软雅黑"/>
              </a:rPr>
              <a:t>AI 润色与评分</a:t>
            </a:r>
            <a:endParaRPr sz="1650" b="1" i="0">
              <a:solidFill>
                <a:srgbClr val="17345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400800" y="3276600"/>
            <a:ext cx="1295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125" b="0" i="0">
                <a:solidFill>
                  <a:srgbClr val="5B6B7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 i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看到优点与薄弱点</a:t>
            </a:r>
            <a:endParaRPr sz="1125" b="0" i="0">
              <a:solidFill>
                <a:srgbClr val="5B6B7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8153400" y="2190750"/>
            <a:ext cx="1638300" cy="1581150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 w="9525">
            <a:solidFill>
              <a:srgbClr val="C9DDF0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8324850" y="2343150"/>
            <a:ext cx="57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00" b="1" i="0">
                <a:solidFill>
                  <a:srgbClr val="2F69A6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2F69A6"/>
                </a:solidFill>
                <a:latin typeface="Consolas"/>
                <a:ea typeface="Consolas"/>
                <a:cs typeface="Consolas"/>
              </a:rPr>
              <a:t>05</a:t>
            </a:r>
            <a:endParaRPr sz="1200" b="1" i="0">
              <a:solidFill>
                <a:srgbClr val="2F69A6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8324850" y="2686050"/>
            <a:ext cx="1295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650" b="1" i="0">
                <a:solidFill>
                  <a:srgbClr val="17345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 i="0">
                <a:solidFill>
                  <a:srgbClr val="17345F"/>
                </a:solidFill>
                <a:latin typeface="微软雅黑"/>
                <a:ea typeface="微软雅黑"/>
                <a:cs typeface="微软雅黑"/>
              </a:rPr>
              <a:t>出题与复习</a:t>
            </a:r>
            <a:endParaRPr sz="1650" b="1" i="0">
              <a:solidFill>
                <a:srgbClr val="17345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8324850" y="3276600"/>
            <a:ext cx="1295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125" b="0" i="0">
                <a:solidFill>
                  <a:srgbClr val="5B6B7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 i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围绕薄弱点继续练</a:t>
            </a:r>
            <a:endParaRPr sz="1125" b="0" i="0">
              <a:solidFill>
                <a:srgbClr val="5B6B7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10077450" y="2190750"/>
            <a:ext cx="1638300" cy="1581150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 w="9525">
            <a:solidFill>
              <a:srgbClr val="C9DDF0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10248900" y="2343150"/>
            <a:ext cx="57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00" b="1" i="0">
                <a:solidFill>
                  <a:srgbClr val="2F69A6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2F69A6"/>
                </a:solidFill>
                <a:latin typeface="Consolas"/>
                <a:ea typeface="Consolas"/>
                <a:cs typeface="Consolas"/>
              </a:rPr>
              <a:t>06</a:t>
            </a:r>
            <a:endParaRPr sz="1200" b="1" i="0">
              <a:solidFill>
                <a:srgbClr val="2F69A6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0248900" y="2686050"/>
            <a:ext cx="1295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650" b="1" i="0">
                <a:solidFill>
                  <a:srgbClr val="17345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 i="0">
                <a:solidFill>
                  <a:srgbClr val="17345F"/>
                </a:solidFill>
                <a:latin typeface="微软雅黑"/>
                <a:ea typeface="微软雅黑"/>
                <a:cs typeface="微软雅黑"/>
              </a:rPr>
              <a:t>知识图谱</a:t>
            </a:r>
            <a:endParaRPr sz="1650" b="1" i="0">
              <a:solidFill>
                <a:srgbClr val="17345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10248900" y="3276600"/>
            <a:ext cx="1295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125" b="0" i="0">
                <a:solidFill>
                  <a:srgbClr val="5B6B7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 i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让知识点彼此连接</a:t>
            </a:r>
            <a:endParaRPr sz="1125" b="0" i="0">
              <a:solidFill>
                <a:srgbClr val="5B6B7F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75" name="直接箭头连接符 74"/>
          <p:cNvCxnSpPr>
            <a:stCxn id="9" idx="3"/>
            <a:endCxn id="13" idx="1"/>
          </p:cNvCxnSpPr>
          <p:nvPr/>
        </p:nvCxnSpPr>
        <p:spPr>
          <a:xfrm>
            <a:off x="2095500" y="2981325"/>
            <a:ext cx="285750" cy="0"/>
          </a:xfrm>
          <a:prstGeom prst="straightConnector1">
            <a:avLst/>
          </a:prstGeom>
          <a:ln w="19050">
            <a:solidFill>
              <a:srgbClr val="2F69A6"/>
            </a:solidFill>
            <a:prstDash val="solid"/>
            <a:tailEnd type="triangle" w="sm" len="sm"/>
          </a:ln>
        </p:spPr>
      </p:cxnSp>
      <p:cxnSp>
        <p:nvCxnSpPr>
          <p:cNvPr id="76" name="直接箭头连接符 75"/>
          <p:cNvCxnSpPr>
            <a:stCxn id="13" idx="3"/>
            <a:endCxn id="17" idx="1"/>
          </p:cNvCxnSpPr>
          <p:nvPr/>
        </p:nvCxnSpPr>
        <p:spPr>
          <a:xfrm>
            <a:off x="4019550" y="2981325"/>
            <a:ext cx="285750" cy="0"/>
          </a:xfrm>
          <a:prstGeom prst="straightConnector1">
            <a:avLst/>
          </a:prstGeom>
          <a:ln w="19050">
            <a:solidFill>
              <a:srgbClr val="2F69A6"/>
            </a:solidFill>
            <a:prstDash val="solid"/>
            <a:tailEnd type="triangle" w="sm" len="sm"/>
          </a:ln>
        </p:spPr>
      </p:cxnSp>
      <p:cxnSp>
        <p:nvCxnSpPr>
          <p:cNvPr id="77" name="直接箭头连接符 76"/>
          <p:cNvCxnSpPr>
            <a:stCxn id="17" idx="3"/>
            <a:endCxn id="21" idx="1"/>
          </p:cNvCxnSpPr>
          <p:nvPr/>
        </p:nvCxnSpPr>
        <p:spPr>
          <a:xfrm>
            <a:off x="5943600" y="2981325"/>
            <a:ext cx="285750" cy="0"/>
          </a:xfrm>
          <a:prstGeom prst="straightConnector1">
            <a:avLst/>
          </a:prstGeom>
          <a:ln w="19050">
            <a:solidFill>
              <a:srgbClr val="2F69A6"/>
            </a:solidFill>
            <a:prstDash val="solid"/>
            <a:tailEnd type="triangle" w="sm" len="sm"/>
          </a:ln>
        </p:spPr>
      </p:cxnSp>
      <p:cxnSp>
        <p:nvCxnSpPr>
          <p:cNvPr id="78" name="直接箭头连接符 77"/>
          <p:cNvCxnSpPr>
            <a:stCxn id="21" idx="3"/>
            <a:endCxn id="25" idx="1"/>
          </p:cNvCxnSpPr>
          <p:nvPr/>
        </p:nvCxnSpPr>
        <p:spPr>
          <a:xfrm>
            <a:off x="7867650" y="2981325"/>
            <a:ext cx="285750" cy="0"/>
          </a:xfrm>
          <a:prstGeom prst="straightConnector1">
            <a:avLst/>
          </a:prstGeom>
          <a:ln w="19050">
            <a:solidFill>
              <a:srgbClr val="2F69A6"/>
            </a:solidFill>
            <a:prstDash val="solid"/>
            <a:tailEnd type="triangle" w="sm" len="sm"/>
          </a:ln>
        </p:spPr>
      </p:cxnSp>
      <p:cxnSp>
        <p:nvCxnSpPr>
          <p:cNvPr id="79" name="直接箭头连接符 78"/>
          <p:cNvCxnSpPr>
            <a:stCxn id="25" idx="3"/>
            <a:endCxn id="29" idx="1"/>
          </p:cNvCxnSpPr>
          <p:nvPr/>
        </p:nvCxnSpPr>
        <p:spPr>
          <a:xfrm>
            <a:off x="9791700" y="2981325"/>
            <a:ext cx="285750" cy="0"/>
          </a:xfrm>
          <a:prstGeom prst="straightConnector1">
            <a:avLst/>
          </a:prstGeom>
          <a:ln w="19050">
            <a:solidFill>
              <a:srgbClr val="2F69A6"/>
            </a:solidFill>
            <a:prstDash val="solid"/>
            <a:tailEnd type="triangle" w="sm" len="sm"/>
          </a:ln>
        </p:spPr>
      </p:cxnSp>
      <p:sp>
        <p:nvSpPr>
          <p:cNvPr id="38" name="矩形 37"/>
          <p:cNvSpPr>
            <a:spLocks noGrp="1"/>
          </p:cNvSpPr>
          <p:nvPr/>
        </p:nvSpPr>
        <p:spPr>
          <a:xfrm>
            <a:off x="457200" y="4362450"/>
            <a:ext cx="11239500" cy="876300"/>
          </a:xfrm>
          <a:prstGeom prst="rect">
            <a:avLst/>
          </a:prstGeom>
          <a:solidFill>
            <a:srgbClr val="17345F"/>
          </a:solidFill>
          <a:ln w="0">
            <a:solidFill>
              <a:srgbClr val="17345F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742950" y="461010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800" b="1" i="0">
                <a:solidFill>
                  <a:srgbClr val="F4C542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 i="0">
                <a:solidFill>
                  <a:srgbClr val="F4C542"/>
                </a:solidFill>
                <a:latin typeface="微软雅黑"/>
                <a:ea typeface="微软雅黑"/>
                <a:cs typeface="微软雅黑"/>
              </a:rPr>
              <a:t>你负责讲</a:t>
            </a:r>
            <a:endParaRPr sz="1800" b="1" i="0">
              <a:solidFill>
                <a:srgbClr val="F4C54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2857500" y="461010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AI 负责听和批改</a:t>
            </a:r>
            <a:endParaRPr sz="18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6096000" y="46101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800" b="1" i="0">
                <a:solidFill>
                  <a:srgbClr val="BFD3E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 i="0">
                <a:solidFill>
                  <a:srgbClr val="BFD3E8"/>
                </a:solidFill>
                <a:latin typeface="微软雅黑"/>
                <a:ea typeface="微软雅黑"/>
                <a:cs typeface="微软雅黑"/>
              </a:rPr>
              <a:t>图谱负责把知识连起来</a:t>
            </a:r>
            <a:endParaRPr sz="1800" b="1" i="0">
              <a:solidFill>
                <a:srgbClr val="BFD3E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742950" y="4953000"/>
            <a:ext cx="990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00" b="0" i="0">
                <a:solidFill>
                  <a:srgbClr val="DCEBFA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 i="0">
                <a:solidFill>
                  <a:srgbClr val="DCEBFA"/>
                </a:solidFill>
                <a:latin typeface="微软雅黑"/>
                <a:ea typeface="微软雅黑"/>
                <a:cs typeface="微软雅黑"/>
              </a:rPr>
              <a:t>第 1 课先完成“能启动的后端服务”，后续课程再逐步接入数据库、AI 与可视化。</a:t>
            </a:r>
            <a:endParaRPr sz="1200" b="0" i="0">
              <a:solidFill>
                <a:srgbClr val="DCEBFA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2" name="矩形 41"/>
          <p:cNvSpPr>
            <a:spLocks noGrp="1"/>
          </p:cNvSpPr>
          <p:nvPr/>
        </p:nvSpPr>
        <p:spPr>
          <a:xfrm>
            <a:off x="457200" y="361950"/>
            <a:ext cx="76200" cy="514350"/>
          </a:xfrm>
          <a:prstGeom prst="rect">
            <a:avLst/>
          </a:prstGeom>
          <a:solidFill>
            <a:srgbClr val="C44E52"/>
          </a:solidFill>
          <a:ln w="0">
            <a:solidFill>
              <a:srgbClr val="C44E52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47700" y="457200"/>
            <a:ext cx="609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2250" b="1" i="0">
                <a:solidFill>
                  <a:srgbClr val="C44E52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 i="0">
                <a:solidFill>
                  <a:srgbClr val="C44E52"/>
                </a:solidFill>
                <a:latin typeface="微软雅黑"/>
                <a:ea typeface="微软雅黑"/>
                <a:cs typeface="微软雅黑"/>
              </a:rPr>
              <a:t>05</a:t>
            </a:r>
            <a:endParaRPr sz="2250" b="1" i="0">
              <a:solidFill>
                <a:srgbClr val="C44E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333500" y="36195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125" b="1" i="0">
                <a:solidFill>
                  <a:srgbClr val="2F69A6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2F69A6"/>
                </a:solidFill>
                <a:latin typeface="Consolas"/>
                <a:ea typeface="Consolas"/>
                <a:cs typeface="Consolas"/>
              </a:rPr>
              <a:t>01 · BIG FRONT-END</a:t>
            </a:r>
            <a:endParaRPr sz="1125" b="1" i="0">
              <a:solidFill>
                <a:srgbClr val="2F69A6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333500" y="552450"/>
            <a:ext cx="9810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2550" b="1" i="0">
                <a:solidFill>
                  <a:srgbClr val="17345F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 i="0">
                <a:solidFill>
                  <a:srgbClr val="17345F"/>
                </a:solidFill>
                <a:latin typeface="微软雅黑"/>
                <a:ea typeface="微软雅黑"/>
                <a:cs typeface="微软雅黑"/>
              </a:rPr>
              <a:t>大前端的能力边界与本周位置</a:t>
            </a:r>
            <a:endParaRPr sz="2550" b="1" i="0">
              <a:solidFill>
                <a:srgbClr val="17345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0" y="6534150"/>
            <a:ext cx="12192000" cy="9525"/>
          </a:xfrm>
          <a:prstGeom prst="rect">
            <a:avLst/>
          </a:prstGeom>
          <a:solidFill>
            <a:srgbClr val="DCE3EB"/>
          </a:solidFill>
          <a:ln w="0">
            <a:solidFill>
              <a:srgbClr val="DCE3EB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457200" y="662940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975" b="0" i="0">
                <a:solidFill>
                  <a:srgbClr val="5B6B7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 i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《大前端与AI实战》 · 第一次课程</a:t>
            </a:r>
            <a:endParaRPr sz="975" b="0" i="0">
              <a:solidFill>
                <a:srgbClr val="5B6B7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953750" y="6629400"/>
            <a:ext cx="781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defRPr sz="975" b="0" i="0">
                <a:solidFill>
                  <a:srgbClr val="5B6B7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 i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05 / 13</a:t>
            </a:r>
            <a:endParaRPr sz="975" b="0" i="0">
              <a:solidFill>
                <a:srgbClr val="5B6B7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57200" y="1238250"/>
            <a:ext cx="666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650" b="0" i="0">
                <a:solidFill>
                  <a:srgbClr val="1F2F4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 i="0">
                <a:solidFill>
                  <a:srgbClr val="1F2F45"/>
                </a:solidFill>
                <a:latin typeface="微软雅黑"/>
                <a:ea typeface="微软雅黑"/>
                <a:cs typeface="微软雅黑"/>
              </a:rPr>
              <a:t>大前端不止写网页，能力边界向应用交付扩展</a:t>
            </a:r>
            <a:endParaRPr sz="1650" b="0" i="0">
              <a:solidFill>
                <a:srgbClr val="1F2F4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457200" y="3790950"/>
            <a:ext cx="1047750" cy="571500"/>
          </a:xfrm>
          <a:prstGeom prst="roundRect">
            <a:avLst>
              <a:gd name="adj" fmla="val 20000"/>
            </a:avLst>
          </a:prstGeom>
          <a:solidFill>
            <a:srgbClr val="D6E9F5"/>
          </a:solidFill>
          <a:ln w="9525">
            <a:solidFill>
              <a:srgbClr val="B7D3E5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609600" y="3867150"/>
            <a:ext cx="9334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00" b="1" i="0">
                <a:solidFill>
                  <a:srgbClr val="17345F"/>
                </a:solidFill>
                <a:latin typeface="Consolas"/>
                <a:ea typeface="Consolas"/>
                <a:cs typeface="Consolas"/>
              </a:defRPr>
            </a:pPr>
            <a:r>
              <a:rPr sz="1500" b="1" i="0">
                <a:solidFill>
                  <a:srgbClr val="17345F"/>
                </a:solidFill>
                <a:latin typeface="Consolas"/>
                <a:ea typeface="Consolas"/>
                <a:cs typeface="Consolas"/>
              </a:rPr>
              <a:t>Web</a:t>
            </a:r>
            <a:endParaRPr sz="1500" b="1" i="0">
              <a:solidFill>
                <a:srgbClr val="17345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09600" y="4133850"/>
            <a:ext cx="933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900" b="0" i="0">
                <a:solidFill>
                  <a:srgbClr val="5B6B7F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 i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浏览器</a:t>
            </a:r>
            <a:endParaRPr sz="900" b="0" i="0">
              <a:solidFill>
                <a:srgbClr val="5B6B7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1543050" y="3295650"/>
            <a:ext cx="1133475" cy="571500"/>
          </a:xfrm>
          <a:prstGeom prst="roundRect">
            <a:avLst>
              <a:gd name="adj" fmla="val 20000"/>
            </a:avLst>
          </a:prstGeom>
          <a:solidFill>
            <a:srgbClr val="D6E9F5"/>
          </a:solidFill>
          <a:ln w="9525">
            <a:solidFill>
              <a:srgbClr val="B7D3E5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695450" y="3371850"/>
            <a:ext cx="10191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00" b="1" i="0">
                <a:solidFill>
                  <a:srgbClr val="17345F"/>
                </a:solidFill>
                <a:latin typeface="Consolas"/>
                <a:ea typeface="Consolas"/>
                <a:cs typeface="Consolas"/>
              </a:defRPr>
            </a:pPr>
            <a:r>
              <a:rPr sz="1500" b="1" i="0">
                <a:solidFill>
                  <a:srgbClr val="17345F"/>
                </a:solidFill>
                <a:latin typeface="Consolas"/>
                <a:ea typeface="Consolas"/>
                <a:cs typeface="Consolas"/>
              </a:rPr>
              <a:t>Mobile</a:t>
            </a:r>
            <a:endParaRPr sz="1500" b="1" i="0">
              <a:solidFill>
                <a:srgbClr val="17345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695450" y="3638550"/>
            <a:ext cx="10191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900" b="0" i="0">
                <a:solidFill>
                  <a:srgbClr val="5B6B7F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 i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PWA / App</a:t>
            </a:r>
            <a:endParaRPr sz="900" b="0" i="0">
              <a:solidFill>
                <a:srgbClr val="5B6B7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2628900" y="2800350"/>
            <a:ext cx="1219200" cy="571500"/>
          </a:xfrm>
          <a:prstGeom prst="roundRect">
            <a:avLst>
              <a:gd name="adj" fmla="val 20000"/>
            </a:avLst>
          </a:prstGeom>
          <a:solidFill>
            <a:srgbClr val="D6E9F5"/>
          </a:solidFill>
          <a:ln w="9525">
            <a:solidFill>
              <a:srgbClr val="B7D3E5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2781300" y="2876550"/>
            <a:ext cx="1104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00" b="1" i="0">
                <a:solidFill>
                  <a:srgbClr val="17345F"/>
                </a:solidFill>
                <a:latin typeface="Consolas"/>
                <a:ea typeface="Consolas"/>
                <a:cs typeface="Consolas"/>
              </a:defRPr>
            </a:pPr>
            <a:r>
              <a:rPr sz="1500" b="1" i="0">
                <a:solidFill>
                  <a:srgbClr val="17345F"/>
                </a:solidFill>
                <a:latin typeface="Consolas"/>
                <a:ea typeface="Consolas"/>
                <a:cs typeface="Consolas"/>
              </a:rPr>
              <a:t>Desktop</a:t>
            </a:r>
            <a:endParaRPr sz="1500" b="1" i="0">
              <a:solidFill>
                <a:srgbClr val="17345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2781300" y="3143250"/>
            <a:ext cx="1104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900" b="0" i="0">
                <a:solidFill>
                  <a:srgbClr val="5B6B7F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 i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Electron</a:t>
            </a:r>
            <a:endParaRPr sz="900" b="0" i="0">
              <a:solidFill>
                <a:srgbClr val="5B6B7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3714750" y="2305050"/>
            <a:ext cx="1304925" cy="571500"/>
          </a:xfrm>
          <a:prstGeom prst="roundRect">
            <a:avLst>
              <a:gd name="adj" fmla="val 20000"/>
            </a:avLst>
          </a:prstGeom>
          <a:solidFill>
            <a:srgbClr val="D6E9F5"/>
          </a:solidFill>
          <a:ln w="9525">
            <a:solidFill>
              <a:srgbClr val="B7D3E5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3867150" y="2381250"/>
            <a:ext cx="1190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00" b="1" i="0">
                <a:solidFill>
                  <a:srgbClr val="17345F"/>
                </a:solidFill>
                <a:latin typeface="Consolas"/>
                <a:ea typeface="Consolas"/>
                <a:cs typeface="Consolas"/>
              </a:defRPr>
            </a:pPr>
            <a:r>
              <a:rPr sz="1500" b="1" i="0">
                <a:solidFill>
                  <a:srgbClr val="17345F"/>
                </a:solidFill>
                <a:latin typeface="Consolas"/>
                <a:ea typeface="Consolas"/>
                <a:cs typeface="Consolas"/>
              </a:rPr>
              <a:t>3D</a:t>
            </a:r>
            <a:endParaRPr sz="1500" b="1" i="0">
              <a:solidFill>
                <a:srgbClr val="17345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3867150" y="2647950"/>
            <a:ext cx="1190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900" b="0" i="0">
                <a:solidFill>
                  <a:srgbClr val="5B6B7F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 i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Three.js</a:t>
            </a:r>
            <a:endParaRPr sz="900" b="0" i="0">
              <a:solidFill>
                <a:srgbClr val="5B6B7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4800600" y="1809750"/>
            <a:ext cx="1390650" cy="571500"/>
          </a:xfrm>
          <a:prstGeom prst="roundRect">
            <a:avLst>
              <a:gd name="adj" fmla="val 20000"/>
            </a:avLst>
          </a:prstGeom>
          <a:solidFill>
            <a:srgbClr val="C44E52"/>
          </a:solidFill>
          <a:ln w="9525">
            <a:solidFill>
              <a:srgbClr val="C44E52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4953000" y="1885950"/>
            <a:ext cx="1276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AI</a:t>
            </a:r>
            <a:endParaRPr sz="1500" b="1" i="0">
              <a:solidFill>
                <a:srgbClr val="FFFFF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4953000" y="2152650"/>
            <a:ext cx="1276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900" b="0" i="0">
                <a:solidFill>
                  <a:srgbClr val="FFE9E9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 i="0">
                <a:solidFill>
                  <a:srgbClr val="FFE9E9"/>
                </a:solidFill>
                <a:latin typeface="微软雅黑"/>
                <a:ea typeface="微软雅黑"/>
                <a:cs typeface="微软雅黑"/>
              </a:rPr>
              <a:t>模型集成</a:t>
            </a:r>
            <a:endParaRPr sz="900" b="0" i="0">
              <a:solidFill>
                <a:srgbClr val="FFE9E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457200" y="485775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00" b="1" i="0">
                <a:solidFill>
                  <a:srgbClr val="C44E5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 i="0">
                <a:solidFill>
                  <a:srgbClr val="C44E52"/>
                </a:solidFill>
                <a:latin typeface="微软雅黑"/>
                <a:ea typeface="微软雅黑"/>
                <a:cs typeface="微软雅黑"/>
              </a:rPr>
              <a:t>本项目训练的组合能力</a:t>
            </a:r>
            <a:endParaRPr sz="1500" b="1" i="0">
              <a:solidFill>
                <a:srgbClr val="C44E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457200" y="5238750"/>
            <a:ext cx="51435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marL="228600" indent="-114300">
              <a:spcAft>
                <a:spcPts val="400"/>
              </a:spcAft>
              <a:buChar char="•"/>
              <a:defRPr sz="1350" b="0">
                <a:solidFill>
                  <a:srgbClr val="1F2F45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F2F45"/>
                </a:solidFill>
                <a:latin typeface="微软雅黑"/>
                <a:ea typeface="微软雅黑"/>
                <a:cs typeface="微软雅黑"/>
              </a:rPr>
              <a:t>前后端分离的全栈应用开发</a:t>
            </a:r>
            <a:endParaRPr sz="1350" b="0">
              <a:solidFill>
                <a:srgbClr val="1F2F45"/>
              </a:solidFill>
              <a:latin typeface="微软雅黑"/>
              <a:ea typeface="微软雅黑"/>
              <a:cs typeface="微软雅黑"/>
            </a:endParaRPr>
          </a:p>
          <a:p>
            <a:pPr marL="228600" indent="-114300">
              <a:spcAft>
                <a:spcPts val="400"/>
              </a:spcAft>
              <a:buChar char="•"/>
              <a:defRPr sz="1350" b="0">
                <a:solidFill>
                  <a:srgbClr val="1F2F45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F2F45"/>
                </a:solidFill>
                <a:latin typeface="微软雅黑"/>
                <a:ea typeface="微软雅黑"/>
                <a:cs typeface="微软雅黑"/>
              </a:rPr>
              <a:t>RESTful API、数据建模与认证</a:t>
            </a:r>
            <a:endParaRPr sz="1350" b="0">
              <a:solidFill>
                <a:srgbClr val="1F2F45"/>
              </a:solidFill>
              <a:latin typeface="微软雅黑"/>
              <a:ea typeface="微软雅黑"/>
              <a:cs typeface="微软雅黑"/>
            </a:endParaRPr>
          </a:p>
          <a:p>
            <a:pPr marL="228600" indent="-114300">
              <a:spcAft>
                <a:spcPts val="400"/>
              </a:spcAft>
              <a:buChar char="•"/>
              <a:defRPr sz="1350" b="0">
                <a:solidFill>
                  <a:srgbClr val="1F2F45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F2F45"/>
                </a:solidFill>
                <a:latin typeface="微软雅黑"/>
                <a:ea typeface="微软雅黑"/>
                <a:cs typeface="微软雅黑"/>
              </a:rPr>
              <a:t>第三方 AI 服务、可视化与跨端交付</a:t>
            </a:r>
            <a:endParaRPr sz="1350" b="0">
              <a:solidFill>
                <a:srgbClr val="1F2F4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圆角矩形 25"/>
          <p:cNvSpPr>
            <a:spLocks noGrp="1"/>
          </p:cNvSpPr>
          <p:nvPr/>
        </p:nvSpPr>
        <p:spPr>
          <a:xfrm>
            <a:off x="6667500" y="1695450"/>
            <a:ext cx="5029200" cy="400050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C9D4E0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6972300" y="2000250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2025" b="1" i="0">
                <a:solidFill>
                  <a:srgbClr val="17345F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 i="0">
                <a:solidFill>
                  <a:srgbClr val="17345F"/>
                </a:solidFill>
                <a:latin typeface="微软雅黑"/>
                <a:ea typeface="微软雅黑"/>
                <a:cs typeface="微软雅黑"/>
              </a:rPr>
              <a:t>64 学时 · 16 次课</a:t>
            </a:r>
            <a:endParaRPr sz="2025" b="1" i="0">
              <a:solidFill>
                <a:srgbClr val="17345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972300" y="2400300"/>
            <a:ext cx="381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350" b="1" i="0">
                <a:solidFill>
                  <a:srgbClr val="C44E5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 i="0">
                <a:solidFill>
                  <a:srgbClr val="C44E52"/>
                </a:solidFill>
                <a:latin typeface="微软雅黑"/>
                <a:ea typeface="微软雅黑"/>
                <a:cs typeface="微软雅黑"/>
              </a:rPr>
              <a:t>当前交付：第 1 课课程 PPT</a:t>
            </a:r>
            <a:endParaRPr sz="1350" b="1" i="0">
              <a:solidFill>
                <a:srgbClr val="C44E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972300" y="2838450"/>
            <a:ext cx="4286250" cy="9525"/>
          </a:xfrm>
          <a:prstGeom prst="rect">
            <a:avLst/>
          </a:prstGeom>
          <a:solidFill>
            <a:srgbClr val="C9D4E0"/>
          </a:solidFill>
          <a:ln w="0">
            <a:solidFill>
              <a:srgbClr val="C9D4E0"/>
            </a:solidFill>
            <a:prstDash val="solid"/>
          </a:ln>
        </p:spPr>
      </p:sp>
      <p:sp>
        <p:nvSpPr>
          <p:cNvPr id="30" name="椭圆 29"/>
          <p:cNvSpPr>
            <a:spLocks noGrp="1"/>
          </p:cNvSpPr>
          <p:nvPr/>
        </p:nvSpPr>
        <p:spPr>
          <a:xfrm>
            <a:off x="7029450" y="3171825"/>
            <a:ext cx="190500" cy="190500"/>
          </a:xfrm>
          <a:prstGeom prst="ellipse">
            <a:avLst/>
          </a:prstGeom>
          <a:solidFill>
            <a:srgbClr val="C44E52"/>
          </a:solidFill>
          <a:ln w="0">
            <a:solidFill>
              <a:srgbClr val="C44E52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7429500" y="3143250"/>
            <a:ext cx="1190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350" b="1" i="0">
                <a:solidFill>
                  <a:srgbClr val="C44E5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 i="0">
                <a:solidFill>
                  <a:srgbClr val="C44E52"/>
                </a:solidFill>
                <a:latin typeface="微软雅黑"/>
                <a:ea typeface="微软雅黑"/>
                <a:cs typeface="微软雅黑"/>
              </a:rPr>
              <a:t>第 1 课</a:t>
            </a:r>
            <a:endParaRPr sz="1350" b="1" i="0">
              <a:solidFill>
                <a:srgbClr val="C44E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8858250" y="314325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75" b="0" i="0">
                <a:solidFill>
                  <a:srgbClr val="5B6B7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 i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导论 + Express Hello</a:t>
            </a:r>
            <a:endParaRPr sz="1275" b="0" i="0">
              <a:solidFill>
                <a:srgbClr val="5B6B7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7115175" y="3409950"/>
            <a:ext cx="19050" cy="476250"/>
          </a:xfrm>
          <a:prstGeom prst="rect">
            <a:avLst/>
          </a:prstGeom>
          <a:solidFill>
            <a:srgbClr val="D7E2ED"/>
          </a:solidFill>
          <a:ln w="0">
            <a:solidFill>
              <a:srgbClr val="D7E2ED"/>
            </a:solidFill>
            <a:prstDash val="solid"/>
          </a:ln>
        </p:spPr>
      </p:sp>
      <p:sp>
        <p:nvSpPr>
          <p:cNvPr id="34" name="椭圆 33"/>
          <p:cNvSpPr>
            <a:spLocks noGrp="1"/>
          </p:cNvSpPr>
          <p:nvPr/>
        </p:nvSpPr>
        <p:spPr>
          <a:xfrm>
            <a:off x="7029450" y="3914775"/>
            <a:ext cx="190500" cy="190500"/>
          </a:xfrm>
          <a:prstGeom prst="ellipse">
            <a:avLst/>
          </a:prstGeom>
          <a:solidFill>
            <a:srgbClr val="D7E2ED"/>
          </a:solidFill>
          <a:ln w="0">
            <a:solidFill>
              <a:srgbClr val="D7E2ED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7429500" y="3886200"/>
            <a:ext cx="1190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350" b="1" i="0">
                <a:solidFill>
                  <a:srgbClr val="17345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 i="0">
                <a:solidFill>
                  <a:srgbClr val="17345F"/>
                </a:solidFill>
                <a:latin typeface="微软雅黑"/>
                <a:ea typeface="微软雅黑"/>
                <a:cs typeface="微软雅黑"/>
              </a:rPr>
              <a:t>第 2–3 课</a:t>
            </a:r>
            <a:endParaRPr sz="1350" b="1" i="0">
              <a:solidFill>
                <a:srgbClr val="17345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8858250" y="38862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75" b="0" i="0">
                <a:solidFill>
                  <a:srgbClr val="5B6B7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 i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数据库 + JWT + CRUD</a:t>
            </a:r>
            <a:endParaRPr sz="1275" b="0" i="0">
              <a:solidFill>
                <a:srgbClr val="5B6B7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7115175" y="4152900"/>
            <a:ext cx="19050" cy="476250"/>
          </a:xfrm>
          <a:prstGeom prst="rect">
            <a:avLst/>
          </a:prstGeom>
          <a:solidFill>
            <a:srgbClr val="D7E2ED"/>
          </a:solidFill>
          <a:ln w="0">
            <a:solidFill>
              <a:srgbClr val="D7E2ED"/>
            </a:solidFill>
            <a:prstDash val="solid"/>
          </a:ln>
        </p:spPr>
      </p:sp>
      <p:sp>
        <p:nvSpPr>
          <p:cNvPr id="38" name="椭圆 37"/>
          <p:cNvSpPr>
            <a:spLocks noGrp="1"/>
          </p:cNvSpPr>
          <p:nvPr/>
        </p:nvSpPr>
        <p:spPr>
          <a:xfrm>
            <a:off x="7029450" y="4657725"/>
            <a:ext cx="190500" cy="190500"/>
          </a:xfrm>
          <a:prstGeom prst="ellipse">
            <a:avLst/>
          </a:prstGeom>
          <a:solidFill>
            <a:srgbClr val="D7E2ED"/>
          </a:solidFill>
          <a:ln w="0">
            <a:solidFill>
              <a:srgbClr val="D7E2ED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7429500" y="4629150"/>
            <a:ext cx="1190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350" b="1" i="0">
                <a:solidFill>
                  <a:srgbClr val="17345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 i="0">
                <a:solidFill>
                  <a:srgbClr val="17345F"/>
                </a:solidFill>
                <a:latin typeface="微软雅黑"/>
                <a:ea typeface="微软雅黑"/>
                <a:cs typeface="微软雅黑"/>
              </a:rPr>
              <a:t>第 4–16 课</a:t>
            </a:r>
            <a:endParaRPr sz="1350" b="1" i="0">
              <a:solidFill>
                <a:srgbClr val="17345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8858250" y="462915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75" b="0" i="0">
                <a:solidFill>
                  <a:srgbClr val="5B6B7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 i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前端、AI、图谱、跨端、部署</a:t>
            </a:r>
            <a:endParaRPr sz="1275" b="0" i="0">
              <a:solidFill>
                <a:srgbClr val="5B6B7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6972300" y="5334000"/>
            <a:ext cx="428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00" b="0" i="0">
                <a:solidFill>
                  <a:srgbClr val="5B6B7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 i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02、03 是进度快同学的扩展内容，不是本次必做交付。</a:t>
            </a:r>
            <a:endParaRPr sz="1200" b="0" i="0">
              <a:solidFill>
                <a:srgbClr val="5B6B7F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4" name="矩形 33"/>
          <p:cNvSpPr>
            <a:spLocks noGrp="1"/>
          </p:cNvSpPr>
          <p:nvPr/>
        </p:nvSpPr>
        <p:spPr>
          <a:xfrm>
            <a:off x="457200" y="361950"/>
            <a:ext cx="76200" cy="514350"/>
          </a:xfrm>
          <a:prstGeom prst="rect">
            <a:avLst/>
          </a:prstGeom>
          <a:solidFill>
            <a:srgbClr val="C44E52"/>
          </a:solidFill>
          <a:ln w="0">
            <a:solidFill>
              <a:srgbClr val="C44E52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47700" y="457200"/>
            <a:ext cx="609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2250" b="1" i="0">
                <a:solidFill>
                  <a:srgbClr val="C44E52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 i="0">
                <a:solidFill>
                  <a:srgbClr val="C44E52"/>
                </a:solidFill>
                <a:latin typeface="微软雅黑"/>
                <a:ea typeface="微软雅黑"/>
                <a:cs typeface="微软雅黑"/>
              </a:rPr>
              <a:t>06</a:t>
            </a:r>
            <a:endParaRPr sz="2250" b="1" i="0">
              <a:solidFill>
                <a:srgbClr val="C44E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333500" y="36195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125" b="1" i="0">
                <a:solidFill>
                  <a:srgbClr val="2F69A6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2F69A6"/>
                </a:solidFill>
                <a:latin typeface="Consolas"/>
                <a:ea typeface="Consolas"/>
                <a:cs typeface="Consolas"/>
              </a:rPr>
              <a:t>01 · TOOLCHAIN</a:t>
            </a:r>
            <a:endParaRPr sz="1125" b="1" i="0">
              <a:solidFill>
                <a:srgbClr val="2F69A6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333500" y="552450"/>
            <a:ext cx="9810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2550" b="1" i="0">
                <a:solidFill>
                  <a:srgbClr val="17345F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 i="0">
                <a:solidFill>
                  <a:srgbClr val="17345F"/>
                </a:solidFill>
                <a:latin typeface="微软雅黑"/>
                <a:ea typeface="微软雅黑"/>
                <a:cs typeface="微软雅黑"/>
              </a:rPr>
              <a:t>开发环境与 AI 工具</a:t>
            </a:r>
            <a:endParaRPr sz="2550" b="1" i="0">
              <a:solidFill>
                <a:srgbClr val="17345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0" y="6534150"/>
            <a:ext cx="12192000" cy="9525"/>
          </a:xfrm>
          <a:prstGeom prst="rect">
            <a:avLst/>
          </a:prstGeom>
          <a:solidFill>
            <a:srgbClr val="DCE3EB"/>
          </a:solidFill>
          <a:ln w="0">
            <a:solidFill>
              <a:srgbClr val="DCE3EB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457200" y="662940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975" b="0" i="0">
                <a:solidFill>
                  <a:srgbClr val="5B6B7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 i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《大前端与AI实战》 · 第一次课程</a:t>
            </a:r>
            <a:endParaRPr sz="975" b="0" i="0">
              <a:solidFill>
                <a:srgbClr val="5B6B7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953750" y="6629400"/>
            <a:ext cx="781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defRPr sz="975" b="0" i="0">
                <a:solidFill>
                  <a:srgbClr val="5B6B7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 i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06 / 13</a:t>
            </a:r>
            <a:endParaRPr sz="975" b="0" i="0">
              <a:solidFill>
                <a:srgbClr val="5B6B7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57200" y="1238250"/>
            <a:ext cx="742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75" b="0" i="0">
                <a:solidFill>
                  <a:srgbClr val="1F2F45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 i="0">
                <a:solidFill>
                  <a:srgbClr val="1F2F45"/>
                </a:solidFill>
                <a:latin typeface="微软雅黑"/>
                <a:ea typeface="微软雅黑"/>
                <a:cs typeface="微软雅黑"/>
              </a:rPr>
              <a:t>先把工具链装好，后面的代码才有稳定的运行环境</a:t>
            </a:r>
            <a:endParaRPr sz="1575" b="0" i="0">
              <a:solidFill>
                <a:srgbClr val="1F2F4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457200" y="1809750"/>
            <a:ext cx="3429000" cy="276225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C9D4E0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457200" y="1809750"/>
            <a:ext cx="3429000" cy="76200"/>
          </a:xfrm>
          <a:prstGeom prst="rect">
            <a:avLst/>
          </a:prstGeom>
          <a:solidFill>
            <a:srgbClr val="2F69A6"/>
          </a:solidFill>
          <a:ln w="0">
            <a:solidFill>
              <a:srgbClr val="2F69A6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685800" y="2114550"/>
            <a:ext cx="190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125" b="1" i="0">
                <a:solidFill>
                  <a:srgbClr val="2F69A6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2F69A6"/>
                </a:solidFill>
                <a:latin typeface="Consolas"/>
                <a:ea typeface="Consolas"/>
                <a:cs typeface="Consolas"/>
              </a:rPr>
              <a:t>运行时</a:t>
            </a:r>
            <a:endParaRPr sz="1125" b="1" i="0">
              <a:solidFill>
                <a:srgbClr val="2F69A6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85800" y="2476500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2100" b="1" i="0">
                <a:solidFill>
                  <a:srgbClr val="17345F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 i="0">
                <a:solidFill>
                  <a:srgbClr val="17345F"/>
                </a:solidFill>
                <a:latin typeface="微软雅黑"/>
                <a:ea typeface="微软雅黑"/>
                <a:cs typeface="微软雅黑"/>
              </a:rPr>
              <a:t>Node.js LTS</a:t>
            </a:r>
            <a:endParaRPr sz="2100" b="1" i="0">
              <a:solidFill>
                <a:srgbClr val="17345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85800" y="2952750"/>
            <a:ext cx="2857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75" b="0" i="0">
                <a:solidFill>
                  <a:srgbClr val="5B6B7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 i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让 JavaScript 在服务器运行</a:t>
            </a:r>
            <a:endParaRPr sz="1275" b="0" i="0">
              <a:solidFill>
                <a:srgbClr val="5B6B7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685800" y="3714750"/>
            <a:ext cx="2857500" cy="590550"/>
          </a:xfrm>
          <a:prstGeom prst="roundRect">
            <a:avLst>
              <a:gd name="adj" fmla="val 12903"/>
            </a:avLst>
          </a:prstGeom>
          <a:solidFill>
            <a:srgbClr val="102A4D"/>
          </a:solidFill>
          <a:ln w="0">
            <a:solidFill>
              <a:srgbClr val="102A4D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57250" y="3829050"/>
            <a:ext cx="2571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node -v</a:t>
            </a:r>
            <a:endParaRPr sz="1275" b="0" i="0">
              <a:solidFill>
                <a:srgbClr val="FFFFFF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2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npm -v</a:t>
            </a:r>
            <a:endParaRPr sz="1275" b="0" i="0">
              <a:solidFill>
                <a:srgbClr val="FFFFF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4229100" y="1809750"/>
            <a:ext cx="3429000" cy="276225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C9D4E0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4229100" y="1809750"/>
            <a:ext cx="3429000" cy="76200"/>
          </a:xfrm>
          <a:prstGeom prst="rect">
            <a:avLst/>
          </a:prstGeom>
          <a:solidFill>
            <a:srgbClr val="4388B9"/>
          </a:solidFill>
          <a:ln w="0">
            <a:solidFill>
              <a:srgbClr val="4388B9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4457700" y="2114550"/>
            <a:ext cx="190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125" b="1" i="0">
                <a:solidFill>
                  <a:srgbClr val="4388B9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4388B9"/>
                </a:solidFill>
                <a:latin typeface="Consolas"/>
                <a:ea typeface="Consolas"/>
                <a:cs typeface="Consolas"/>
              </a:rPr>
              <a:t>编辑器</a:t>
            </a:r>
            <a:endParaRPr sz="1125" b="1" i="0">
              <a:solidFill>
                <a:srgbClr val="4388B9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4457700" y="2476500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2100" b="1" i="0">
                <a:solidFill>
                  <a:srgbClr val="17345F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 i="0">
                <a:solidFill>
                  <a:srgbClr val="17345F"/>
                </a:solidFill>
                <a:latin typeface="微软雅黑"/>
                <a:ea typeface="微软雅黑"/>
                <a:cs typeface="微软雅黑"/>
              </a:rPr>
              <a:t>VS Code</a:t>
            </a:r>
            <a:endParaRPr sz="2100" b="1" i="0">
              <a:solidFill>
                <a:srgbClr val="17345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4457700" y="2952750"/>
            <a:ext cx="2857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75" b="0" i="0">
                <a:solidFill>
                  <a:srgbClr val="5B6B7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 i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代码、终端与 AI 插件的工作台</a:t>
            </a:r>
            <a:endParaRPr sz="1275" b="0" i="0">
              <a:solidFill>
                <a:srgbClr val="5B6B7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4457700" y="3714750"/>
            <a:ext cx="2857500" cy="590550"/>
          </a:xfrm>
          <a:prstGeom prst="roundRect">
            <a:avLst>
              <a:gd name="adj" fmla="val 12903"/>
            </a:avLst>
          </a:prstGeom>
          <a:solidFill>
            <a:srgbClr val="102A4D"/>
          </a:solidFill>
          <a:ln w="0">
            <a:solidFill>
              <a:srgbClr val="102A4D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4629150" y="3829050"/>
            <a:ext cx="2571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Prettier</a:t>
            </a:r>
            <a:endParaRPr sz="1275" b="0" i="0">
              <a:solidFill>
                <a:srgbClr val="FFFFFF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2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ESLint</a:t>
            </a:r>
            <a:endParaRPr sz="1275" b="0" i="0">
              <a:solidFill>
                <a:srgbClr val="FFFFF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8001000" y="1809750"/>
            <a:ext cx="3429000" cy="276225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C9D4E0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8001000" y="1809750"/>
            <a:ext cx="3429000" cy="76200"/>
          </a:xfrm>
          <a:prstGeom prst="rect">
            <a:avLst/>
          </a:prstGeom>
          <a:solidFill>
            <a:srgbClr val="C44E52"/>
          </a:solidFill>
          <a:ln w="0">
            <a:solidFill>
              <a:srgbClr val="C44E52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8229600" y="2114550"/>
            <a:ext cx="190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125" b="1" i="0">
                <a:solidFill>
                  <a:srgbClr val="C44E52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C44E52"/>
                </a:solidFill>
                <a:latin typeface="Consolas"/>
                <a:ea typeface="Consolas"/>
                <a:cs typeface="Consolas"/>
              </a:rPr>
              <a:t>版本控制</a:t>
            </a:r>
            <a:endParaRPr sz="1125" b="1" i="0">
              <a:solidFill>
                <a:srgbClr val="C44E52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8229600" y="2476500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2100" b="1" i="0">
                <a:solidFill>
                  <a:srgbClr val="17345F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 i="0">
                <a:solidFill>
                  <a:srgbClr val="17345F"/>
                </a:solidFill>
                <a:latin typeface="微软雅黑"/>
                <a:ea typeface="微软雅黑"/>
                <a:cs typeface="微软雅黑"/>
              </a:rPr>
              <a:t>Git</a:t>
            </a:r>
            <a:endParaRPr sz="2100" b="1" i="0">
              <a:solidFill>
                <a:srgbClr val="17345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8229600" y="2952750"/>
            <a:ext cx="2857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75" b="0" i="0">
                <a:solidFill>
                  <a:srgbClr val="5B6B7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 i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记录每一次可回退的修改</a:t>
            </a:r>
            <a:endParaRPr sz="1275" b="0" i="0">
              <a:solidFill>
                <a:srgbClr val="5B6B7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圆角矩形 27"/>
          <p:cNvSpPr>
            <a:spLocks noGrp="1"/>
          </p:cNvSpPr>
          <p:nvPr/>
        </p:nvSpPr>
        <p:spPr>
          <a:xfrm>
            <a:off x="8229600" y="3714750"/>
            <a:ext cx="2857500" cy="590550"/>
          </a:xfrm>
          <a:prstGeom prst="roundRect">
            <a:avLst>
              <a:gd name="adj" fmla="val 12903"/>
            </a:avLst>
          </a:prstGeom>
          <a:solidFill>
            <a:srgbClr val="102A4D"/>
          </a:solidFill>
          <a:ln w="0">
            <a:solidFill>
              <a:srgbClr val="102A4D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8401050" y="3829050"/>
            <a:ext cx="2571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git --version</a:t>
            </a:r>
            <a:endParaRPr sz="1275" b="0" i="0">
              <a:solidFill>
                <a:srgbClr val="FFFFFF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2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git init</a:t>
            </a:r>
            <a:endParaRPr sz="1275" b="0" i="0">
              <a:solidFill>
                <a:srgbClr val="FFFFF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30" name="圆角矩形 29"/>
          <p:cNvSpPr>
            <a:spLocks noGrp="1"/>
          </p:cNvSpPr>
          <p:nvPr/>
        </p:nvSpPr>
        <p:spPr>
          <a:xfrm>
            <a:off x="457200" y="5010150"/>
            <a:ext cx="11239500" cy="914400"/>
          </a:xfrm>
          <a:prstGeom prst="roundRect">
            <a:avLst>
              <a:gd name="adj" fmla="val 12500"/>
            </a:avLst>
          </a:prstGeom>
          <a:solidFill>
            <a:srgbClr val="E8F4FF"/>
          </a:solidFill>
          <a:ln w="9525">
            <a:solidFill>
              <a:srgbClr val="2F69A6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723900" y="52387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425" b="1" i="0">
                <a:solidFill>
                  <a:srgbClr val="C44E52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 i="0">
                <a:solidFill>
                  <a:srgbClr val="C44E52"/>
                </a:solidFill>
                <a:latin typeface="微软雅黑"/>
                <a:ea typeface="微软雅黑"/>
                <a:cs typeface="微软雅黑"/>
              </a:rPr>
              <a:t>本周配套</a:t>
            </a:r>
            <a:endParaRPr sz="1425" b="1" i="0">
              <a:solidFill>
                <a:srgbClr val="C44E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2000250" y="5219700"/>
            <a:ext cx="800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650" b="1" i="0">
                <a:solidFill>
                  <a:srgbClr val="17345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 i="0">
                <a:solidFill>
                  <a:srgbClr val="17345F"/>
                </a:solidFill>
                <a:latin typeface="微软雅黑"/>
                <a:ea typeface="微软雅黑"/>
                <a:cs typeface="微软雅黑"/>
              </a:rPr>
              <a:t>Ollama 本地模型  ·  一个免费 API  ·  一款可用的 Coding Agent</a:t>
            </a:r>
            <a:endParaRPr sz="1650" b="1" i="0">
              <a:solidFill>
                <a:srgbClr val="17345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2000250" y="55626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00" b="0" i="0">
                <a:solidFill>
                  <a:srgbClr val="5B6B7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 i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先能安装、登录、运行，再开始写项目。</a:t>
            </a:r>
            <a:endParaRPr sz="1200" b="0" i="0">
              <a:solidFill>
                <a:srgbClr val="5B6B7F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" name="矩形 19"/>
          <p:cNvSpPr>
            <a:spLocks noGrp="1"/>
          </p:cNvSpPr>
          <p:nvPr/>
        </p:nvSpPr>
        <p:spPr>
          <a:xfrm>
            <a:off x="457200" y="361950"/>
            <a:ext cx="76200" cy="514350"/>
          </a:xfrm>
          <a:prstGeom prst="rect">
            <a:avLst/>
          </a:prstGeom>
          <a:solidFill>
            <a:srgbClr val="C44E52"/>
          </a:solidFill>
          <a:ln w="0">
            <a:solidFill>
              <a:srgbClr val="C44E52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47700" y="457200"/>
            <a:ext cx="609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2250" b="1" i="0">
                <a:solidFill>
                  <a:srgbClr val="C44E52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 i="0">
                <a:solidFill>
                  <a:srgbClr val="C44E52"/>
                </a:solidFill>
                <a:latin typeface="微软雅黑"/>
                <a:ea typeface="微软雅黑"/>
                <a:cs typeface="微软雅黑"/>
              </a:rPr>
              <a:t>07</a:t>
            </a:r>
            <a:endParaRPr sz="2250" b="1" i="0">
              <a:solidFill>
                <a:srgbClr val="C44E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333500" y="36195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125" b="1" i="0">
                <a:solidFill>
                  <a:srgbClr val="2F69A6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2F69A6"/>
                </a:solidFill>
                <a:latin typeface="Consolas"/>
                <a:ea typeface="Consolas"/>
                <a:cs typeface="Consolas"/>
              </a:rPr>
              <a:t>00 · AGENT &amp; MODEL</a:t>
            </a:r>
            <a:endParaRPr sz="1125" b="1" i="0">
              <a:solidFill>
                <a:srgbClr val="2F69A6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333500" y="552450"/>
            <a:ext cx="9810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2550" b="1" i="0">
                <a:solidFill>
                  <a:srgbClr val="17345F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 i="0">
                <a:solidFill>
                  <a:srgbClr val="17345F"/>
                </a:solidFill>
                <a:latin typeface="微软雅黑"/>
                <a:ea typeface="微软雅黑"/>
                <a:cs typeface="微软雅黑"/>
              </a:rPr>
              <a:t>Coding Agent 与自定义模型</a:t>
            </a:r>
            <a:endParaRPr sz="2550" b="1" i="0">
              <a:solidFill>
                <a:srgbClr val="17345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0" y="6534150"/>
            <a:ext cx="12192000" cy="9525"/>
          </a:xfrm>
          <a:prstGeom prst="rect">
            <a:avLst/>
          </a:prstGeom>
          <a:solidFill>
            <a:srgbClr val="DCE3EB"/>
          </a:solidFill>
          <a:ln w="0">
            <a:solidFill>
              <a:srgbClr val="DCE3EB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457200" y="662940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975" b="0" i="0">
                <a:solidFill>
                  <a:srgbClr val="5B6B7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 i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《大前端与AI实战》 · 第一次课程</a:t>
            </a:r>
            <a:endParaRPr sz="975" b="0" i="0">
              <a:solidFill>
                <a:srgbClr val="5B6B7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953750" y="6629400"/>
            <a:ext cx="781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defRPr sz="975" b="0" i="0">
                <a:solidFill>
                  <a:srgbClr val="5B6B7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 i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07 / 13</a:t>
            </a:r>
            <a:endParaRPr sz="975" b="0" i="0">
              <a:solidFill>
                <a:srgbClr val="5B6B7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57200" y="123825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75" b="0" i="0">
                <a:solidFill>
                  <a:srgbClr val="1F2F45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 i="0">
                <a:solidFill>
                  <a:srgbClr val="1F2F45"/>
                </a:solidFill>
                <a:latin typeface="微软雅黑"/>
                <a:ea typeface="微软雅黑"/>
                <a:cs typeface="微软雅黑"/>
              </a:rPr>
              <a:t>工具提供“手脚”，模型提供“引擎”；先理解配置，再选择工具</a:t>
            </a:r>
            <a:endParaRPr sz="1575" b="0" i="0">
              <a:solidFill>
                <a:srgbClr val="1F2F45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28" name="表格 27"/>
          <p:cNvGraphicFramePr/>
          <p:nvPr/>
        </p:nvGraphicFramePr>
        <p:xfrm>
          <a:off x="457200" y="1657350"/>
          <a:ext cx="7239000" cy="3733800"/>
        </p:xfrm>
        <a:graphic>
          <a:graphicData uri="http://schemas.openxmlformats.org/drawingml/2006/table">
            <a:tbl>
              <a:tblPr firstRow="1"/>
              <a:tblGrid>
                <a:gridCol w="1333500"/>
                <a:gridCol w="1524000"/>
                <a:gridCol w="4381500"/>
              </a:tblGrid>
              <a:tr h="533400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工具</a:t>
                      </a:r>
                      <a:endParaRPr sz="12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17345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形态</a:t>
                      </a:r>
                      <a:endParaRPr sz="12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17345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配置 / 使用要点</a:t>
                      </a:r>
                      <a:endParaRPr sz="12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17345F"/>
                    </a:solidFill>
                  </a:tcPr>
                </a:tc>
              </a:tr>
              <a:tr h="533400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125" b="0">
                          <a:solidFill>
                            <a:srgbClr val="1F2F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ZCode</a:t>
                      </a:r>
                      <a:endParaRPr sz="1125" b="0">
                        <a:solidFill>
                          <a:srgbClr val="1F2F4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125" b="0">
                          <a:solidFill>
                            <a:srgbClr val="1F2F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桌面 Agent</a:t>
                      </a:r>
                      <a:endParaRPr sz="1125" b="0">
                        <a:solidFill>
                          <a:srgbClr val="1F2F4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125" b="0">
                          <a:solidFill>
                            <a:srgbClr val="1F2F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zcode.z.ai；BigModel 登录或 API Key；GLM-5.3</a:t>
                      </a:r>
                      <a:endParaRPr sz="1125" b="0">
                        <a:solidFill>
                          <a:srgbClr val="1F2F4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125" b="0">
                          <a:solidFill>
                            <a:srgbClr val="1F2F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Trae CN</a:t>
                      </a:r>
                      <a:endParaRPr sz="1125" b="0">
                        <a:solidFill>
                          <a:srgbClr val="1F2F4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E8F4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125" b="0">
                          <a:solidFill>
                            <a:srgbClr val="1F2F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IDE + SOLO</a:t>
                      </a:r>
                      <a:endParaRPr sz="1125" b="0">
                        <a:solidFill>
                          <a:srgbClr val="1F2F4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E8F4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125" b="0">
                          <a:solidFill>
                            <a:srgbClr val="1F2F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trae.cn；手机号 / 稀土掘金登录；`trae .`</a:t>
                      </a:r>
                      <a:endParaRPr sz="1125" b="0">
                        <a:solidFill>
                          <a:srgbClr val="1F2F4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E8F4FF"/>
                    </a:solidFill>
                  </a:tcPr>
                </a:tc>
              </a:tr>
              <a:tr h="533400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125" b="0">
                          <a:solidFill>
                            <a:srgbClr val="1F2F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Codex</a:t>
                      </a:r>
                      <a:endParaRPr sz="1125" b="0">
                        <a:solidFill>
                          <a:srgbClr val="1F2F4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125" b="0">
                          <a:solidFill>
                            <a:srgbClr val="1F2F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终端 Agent</a:t>
                      </a:r>
                      <a:endParaRPr sz="1125" b="0">
                        <a:solidFill>
                          <a:srgbClr val="1F2F4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125" b="0">
                          <a:solidFill>
                            <a:srgbClr val="1F2F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`@openai/codex`；`~/.codex/config.toml`；审批与沙箱</a:t>
                      </a:r>
                      <a:endParaRPr sz="1125" b="0">
                        <a:solidFill>
                          <a:srgbClr val="1F2F4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125" b="0">
                          <a:solidFill>
                            <a:srgbClr val="1F2F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Claude Code</a:t>
                      </a:r>
                      <a:endParaRPr sz="1125" b="0">
                        <a:solidFill>
                          <a:srgbClr val="1F2F4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E8F4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125" b="0">
                          <a:solidFill>
                            <a:srgbClr val="1F2F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终端 Agent</a:t>
                      </a:r>
                      <a:endParaRPr sz="1125" b="0">
                        <a:solidFill>
                          <a:srgbClr val="1F2F4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E8F4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125" b="0">
                          <a:solidFill>
                            <a:srgbClr val="1F2F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安装脚本或 npm；`CLAUDE.md`；API Key / 网关</a:t>
                      </a:r>
                      <a:endParaRPr sz="1125" b="0">
                        <a:solidFill>
                          <a:srgbClr val="1F2F4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E8F4FF"/>
                    </a:solidFill>
                  </a:tcPr>
                </a:tc>
              </a:tr>
              <a:tr h="533400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125" b="0">
                          <a:solidFill>
                            <a:srgbClr val="1F2F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OpenCode</a:t>
                      </a:r>
                      <a:endParaRPr sz="1125" b="0">
                        <a:solidFill>
                          <a:srgbClr val="1F2F4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125" b="0">
                          <a:solidFill>
                            <a:srgbClr val="1F2F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终端 Agent</a:t>
                      </a:r>
                      <a:endParaRPr sz="1125" b="0">
                        <a:solidFill>
                          <a:srgbClr val="1F2F4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125" b="0">
                          <a:solidFill>
                            <a:srgbClr val="1F2F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00 课件提到的工具路线；按 Provider、base_url、model 配置</a:t>
                      </a:r>
                      <a:endParaRPr sz="1125" b="0">
                        <a:solidFill>
                          <a:srgbClr val="1F2F4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125" b="0">
                          <a:solidFill>
                            <a:srgbClr val="1F2F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墨子 Code</a:t>
                      </a:r>
                      <a:endParaRPr sz="1125" b="0">
                        <a:solidFill>
                          <a:srgbClr val="1F2F4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E8F4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125" b="0">
                          <a:solidFill>
                            <a:srgbClr val="1F2F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桌面 Agent</a:t>
                      </a:r>
                      <a:endParaRPr sz="1125" b="0">
                        <a:solidFill>
                          <a:srgbClr val="1F2F4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E8F4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125" b="0">
                          <a:solidFill>
                            <a:srgbClr val="1F2F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选择 Provider / Model；`mozicode.json`、`mcp.json`</a:t>
                      </a:r>
                      <a:endParaRPr sz="1125" b="0">
                        <a:solidFill>
                          <a:srgbClr val="1F2F4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E8F4FF"/>
                    </a:solidFill>
                  </a:tcPr>
                </a:tc>
              </a:tr>
            </a:tbl>
          </a:graphicData>
        </a:graphic>
      </p:graphicFrame>
      <p:sp>
        <p:nvSpPr>
          <p:cNvPr id="10" name="圆角矩形 9"/>
          <p:cNvSpPr>
            <a:spLocks noGrp="1"/>
          </p:cNvSpPr>
          <p:nvPr/>
        </p:nvSpPr>
        <p:spPr>
          <a:xfrm>
            <a:off x="8077200" y="1657350"/>
            <a:ext cx="3619500" cy="3733800"/>
          </a:xfrm>
          <a:prstGeom prst="roundRect">
            <a:avLst>
              <a:gd name="adj" fmla="val 3158"/>
            </a:avLst>
          </a:prstGeom>
          <a:solidFill>
            <a:srgbClr val="E8F4FF"/>
          </a:solidFill>
          <a:ln w="9525">
            <a:solidFill>
              <a:srgbClr val="C9DDF0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8382000" y="1981200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800" b="1" i="0">
                <a:solidFill>
                  <a:srgbClr val="17345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 i="0">
                <a:solidFill>
                  <a:srgbClr val="17345F"/>
                </a:solidFill>
                <a:latin typeface="微软雅黑"/>
                <a:ea typeface="微软雅黑"/>
                <a:cs typeface="微软雅黑"/>
              </a:rPr>
              <a:t>模型侧</a:t>
            </a:r>
            <a:endParaRPr sz="1800" b="1" i="0">
              <a:solidFill>
                <a:srgbClr val="17345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382000" y="2533650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00" b="1" i="0">
                <a:solidFill>
                  <a:srgbClr val="C44E5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 i="0">
                <a:solidFill>
                  <a:srgbClr val="C44E52"/>
                </a:solidFill>
                <a:latin typeface="微软雅黑"/>
                <a:ea typeface="微软雅黑"/>
                <a:cs typeface="微软雅黑"/>
              </a:rPr>
              <a:t>本地</a:t>
            </a:r>
            <a:endParaRPr sz="1200" b="1" i="0">
              <a:solidFill>
                <a:srgbClr val="C44E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9448800" y="2495550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350" b="0" i="0">
                <a:solidFill>
                  <a:srgbClr val="1F2F45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1F2F45"/>
                </a:solidFill>
                <a:latin typeface="Consolas"/>
                <a:ea typeface="Consolas"/>
                <a:cs typeface="Consolas"/>
              </a:rPr>
              <a:t>Ollama + Qwen3:4b</a:t>
            </a:r>
            <a:endParaRPr sz="1350" b="0" i="0">
              <a:solidFill>
                <a:srgbClr val="1F2F45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382000" y="306705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00" b="1" i="0">
                <a:solidFill>
                  <a:srgbClr val="C44E5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 i="0">
                <a:solidFill>
                  <a:srgbClr val="C44E52"/>
                </a:solidFill>
                <a:latin typeface="微软雅黑"/>
                <a:ea typeface="微软雅黑"/>
                <a:cs typeface="微软雅黑"/>
              </a:rPr>
              <a:t>云端 / 免费档</a:t>
            </a:r>
            <a:endParaRPr sz="1200" b="1" i="0">
              <a:solidFill>
                <a:srgbClr val="C44E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9620250" y="2990850"/>
            <a:ext cx="180975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75" b="0" i="0">
                <a:solidFill>
                  <a:srgbClr val="1F2F45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 i="0">
                <a:solidFill>
                  <a:srgbClr val="1F2F45"/>
                </a:solidFill>
                <a:latin typeface="微软雅黑"/>
                <a:ea typeface="微软雅黑"/>
                <a:cs typeface="微软雅黑"/>
              </a:rPr>
              <a:t>GLM-5.3</a:t>
            </a:r>
            <a:endParaRPr sz="1275" b="0" i="0">
              <a:solidFill>
                <a:srgbClr val="1F2F45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275" b="0" i="0">
                <a:solidFill>
                  <a:srgbClr val="1F2F45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 i="0">
                <a:solidFill>
                  <a:srgbClr val="1F2F45"/>
                </a:solidFill>
                <a:latin typeface="微软雅黑"/>
                <a:ea typeface="微软雅黑"/>
                <a:cs typeface="微软雅黑"/>
              </a:rPr>
              <a:t>OpenRouter :free 模型</a:t>
            </a:r>
            <a:endParaRPr sz="1275" b="0" i="0">
              <a:solidFill>
                <a:srgbClr val="1F2F45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275" b="0" i="0">
                <a:solidFill>
                  <a:srgbClr val="1F2F45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 i="0">
                <a:solidFill>
                  <a:srgbClr val="1F2F45"/>
                </a:solidFill>
                <a:latin typeface="微软雅黑"/>
                <a:ea typeface="微软雅黑"/>
                <a:cs typeface="微软雅黑"/>
              </a:rPr>
              <a:t>Agnes · nex-agi ·</a:t>
            </a:r>
            <a:endParaRPr sz="1275" b="0" i="0">
              <a:solidFill>
                <a:srgbClr val="1F2F45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275" b="0" i="0">
                <a:solidFill>
                  <a:srgbClr val="1F2F45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 i="0">
                <a:solidFill>
                  <a:srgbClr val="1F2F45"/>
                </a:solidFill>
                <a:latin typeface="微软雅黑"/>
                <a:ea typeface="微软雅黑"/>
                <a:cs typeface="微软雅黑"/>
              </a:rPr>
              <a:t>SharedChat</a:t>
            </a:r>
            <a:endParaRPr sz="1275" b="0" i="0">
              <a:solidFill>
                <a:srgbClr val="1F2F4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382000" y="4248150"/>
            <a:ext cx="3009900" cy="9525"/>
          </a:xfrm>
          <a:prstGeom prst="rect">
            <a:avLst/>
          </a:prstGeom>
          <a:solidFill>
            <a:srgbClr val="C9DDF0"/>
          </a:solidFill>
          <a:ln w="0">
            <a:solidFill>
              <a:srgbClr val="C9DDF0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8382000" y="447675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00" b="1" i="0">
                <a:solidFill>
                  <a:srgbClr val="C44E5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 i="0">
                <a:solidFill>
                  <a:srgbClr val="C44E52"/>
                </a:solidFill>
                <a:latin typeface="微软雅黑"/>
                <a:ea typeface="微软雅黑"/>
                <a:cs typeface="微软雅黑"/>
              </a:rPr>
              <a:t>切换口径</a:t>
            </a:r>
            <a:endParaRPr sz="1200" b="1" i="0">
              <a:solidFill>
                <a:srgbClr val="C44E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382000" y="48196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425" b="1" i="0">
                <a:solidFill>
                  <a:srgbClr val="17345F"/>
                </a:solidFill>
                <a:latin typeface="Consolas"/>
                <a:ea typeface="Consolas"/>
                <a:cs typeface="Consolas"/>
              </a:defRPr>
            </a:pPr>
            <a:r>
              <a:rPr sz="1425" b="1" i="0">
                <a:solidFill>
                  <a:srgbClr val="17345F"/>
                </a:solidFill>
                <a:latin typeface="Consolas"/>
                <a:ea typeface="Consolas"/>
                <a:cs typeface="Consolas"/>
              </a:rPr>
              <a:t>base_url + api_key + model</a:t>
            </a:r>
            <a:endParaRPr sz="1425" b="1" i="0">
              <a:solidFill>
                <a:srgbClr val="17345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382000" y="5067300"/>
            <a:ext cx="3009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900" b="0" i="0">
                <a:solidFill>
                  <a:srgbClr val="5B6B7F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 i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注：Agnes 是课件中的写法；免费额度可能限速或下架。</a:t>
            </a:r>
            <a:endParaRPr sz="900" b="0" i="0">
              <a:solidFill>
                <a:srgbClr val="5B6B7F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3" name="矩形 62"/>
          <p:cNvSpPr>
            <a:spLocks noGrp="1"/>
          </p:cNvSpPr>
          <p:nvPr/>
        </p:nvSpPr>
        <p:spPr>
          <a:xfrm>
            <a:off x="457200" y="361950"/>
            <a:ext cx="76200" cy="514350"/>
          </a:xfrm>
          <a:prstGeom prst="rect">
            <a:avLst/>
          </a:prstGeom>
          <a:solidFill>
            <a:srgbClr val="C44E52"/>
          </a:solidFill>
          <a:ln w="0">
            <a:solidFill>
              <a:srgbClr val="C44E52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47700" y="457200"/>
            <a:ext cx="609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2250" b="1" i="0">
                <a:solidFill>
                  <a:srgbClr val="C44E52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 i="0">
                <a:solidFill>
                  <a:srgbClr val="C44E52"/>
                </a:solidFill>
                <a:latin typeface="微软雅黑"/>
                <a:ea typeface="微软雅黑"/>
                <a:cs typeface="微软雅黑"/>
              </a:rPr>
              <a:t>08</a:t>
            </a:r>
            <a:endParaRPr sz="2250" b="1" i="0">
              <a:solidFill>
                <a:srgbClr val="C44E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333500" y="36195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125" b="1" i="0">
                <a:solidFill>
                  <a:srgbClr val="2F69A6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2F69A6"/>
                </a:solidFill>
                <a:latin typeface="Consolas"/>
                <a:ea typeface="Consolas"/>
                <a:cs typeface="Consolas"/>
              </a:rPr>
              <a:t>00 / 01 · METHOD</a:t>
            </a:r>
            <a:endParaRPr sz="1125" b="1" i="0">
              <a:solidFill>
                <a:srgbClr val="2F69A6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333500" y="552450"/>
            <a:ext cx="9810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2550" b="1" i="0">
                <a:solidFill>
                  <a:srgbClr val="17345F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 i="0">
                <a:solidFill>
                  <a:srgbClr val="17345F"/>
                </a:solidFill>
                <a:latin typeface="微软雅黑"/>
                <a:ea typeface="微软雅黑"/>
                <a:cs typeface="微软雅黑"/>
              </a:rPr>
              <a:t>AI Coding 的规则与八步闭环</a:t>
            </a:r>
            <a:endParaRPr sz="2550" b="1" i="0">
              <a:solidFill>
                <a:srgbClr val="17345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0" y="6534150"/>
            <a:ext cx="12192000" cy="9525"/>
          </a:xfrm>
          <a:prstGeom prst="rect">
            <a:avLst/>
          </a:prstGeom>
          <a:solidFill>
            <a:srgbClr val="DCE3EB"/>
          </a:solidFill>
          <a:ln w="0">
            <a:solidFill>
              <a:srgbClr val="DCE3EB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457200" y="662940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975" b="0" i="0">
                <a:solidFill>
                  <a:srgbClr val="5B6B7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 i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《大前端与AI实战》 · 第一次课程</a:t>
            </a:r>
            <a:endParaRPr sz="975" b="0" i="0">
              <a:solidFill>
                <a:srgbClr val="5B6B7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953750" y="6629400"/>
            <a:ext cx="781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defRPr sz="975" b="0" i="0">
                <a:solidFill>
                  <a:srgbClr val="5B6B7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 i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08 / 13</a:t>
            </a:r>
            <a:endParaRPr sz="975" b="0" i="0">
              <a:solidFill>
                <a:srgbClr val="5B6B7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457200" y="1390650"/>
            <a:ext cx="3905250" cy="445770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9525">
            <a:solidFill>
              <a:srgbClr val="C9D4E0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742950" y="169545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725" b="1" i="0">
                <a:solidFill>
                  <a:srgbClr val="17345F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 i="0">
                <a:solidFill>
                  <a:srgbClr val="17345F"/>
                </a:solidFill>
                <a:latin typeface="微软雅黑"/>
                <a:ea typeface="微软雅黑"/>
                <a:cs typeface="微软雅黑"/>
              </a:rPr>
              <a:t>六条开发规则</a:t>
            </a:r>
            <a:endParaRPr sz="1725" b="1" i="0">
              <a:solidFill>
                <a:srgbClr val="17345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椭圆 9"/>
          <p:cNvSpPr>
            <a:spLocks noGrp="1"/>
          </p:cNvSpPr>
          <p:nvPr/>
        </p:nvSpPr>
        <p:spPr>
          <a:xfrm>
            <a:off x="742950" y="2228850"/>
            <a:ext cx="400050" cy="400050"/>
          </a:xfrm>
          <a:prstGeom prst="ellipse">
            <a:avLst/>
          </a:prstGeom>
          <a:solidFill>
            <a:srgbClr val="17345F"/>
          </a:solidFill>
          <a:ln w="0">
            <a:solidFill>
              <a:srgbClr val="17345F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742950" y="230505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  <a:endParaRPr sz="15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314450" y="23050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350" b="0" i="0">
                <a:solidFill>
                  <a:srgbClr val="1F2F45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 i="0">
                <a:solidFill>
                  <a:srgbClr val="1F2F45"/>
                </a:solidFill>
                <a:latin typeface="微软雅黑"/>
                <a:ea typeface="微软雅黑"/>
                <a:cs typeface="微软雅黑"/>
              </a:rPr>
              <a:t>你是机长，AI 是副驾</a:t>
            </a:r>
            <a:endParaRPr sz="1350" b="0" i="0">
              <a:solidFill>
                <a:srgbClr val="1F2F4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椭圆 12"/>
          <p:cNvSpPr>
            <a:spLocks noGrp="1"/>
          </p:cNvSpPr>
          <p:nvPr/>
        </p:nvSpPr>
        <p:spPr>
          <a:xfrm>
            <a:off x="742950" y="2762250"/>
            <a:ext cx="400050" cy="400050"/>
          </a:xfrm>
          <a:prstGeom prst="ellipse">
            <a:avLst/>
          </a:prstGeom>
          <a:solidFill>
            <a:srgbClr val="C44E52"/>
          </a:solidFill>
          <a:ln w="0">
            <a:solidFill>
              <a:srgbClr val="C44E52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742950" y="283845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  <a:endParaRPr sz="15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314450" y="28384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350" b="1" i="0">
                <a:solidFill>
                  <a:srgbClr val="C44E5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 i="0">
                <a:solidFill>
                  <a:srgbClr val="C44E52"/>
                </a:solidFill>
                <a:latin typeface="微软雅黑"/>
                <a:ea typeface="微软雅黑"/>
                <a:cs typeface="微软雅黑"/>
              </a:rPr>
              <a:t>永不轻信，务必验证</a:t>
            </a:r>
            <a:endParaRPr sz="1350" b="1" i="0">
              <a:solidFill>
                <a:srgbClr val="C44E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椭圆 15"/>
          <p:cNvSpPr>
            <a:spLocks noGrp="1"/>
          </p:cNvSpPr>
          <p:nvPr/>
        </p:nvSpPr>
        <p:spPr>
          <a:xfrm>
            <a:off x="742950" y="3295650"/>
            <a:ext cx="400050" cy="400050"/>
          </a:xfrm>
          <a:prstGeom prst="ellipse">
            <a:avLst/>
          </a:prstGeom>
          <a:solidFill>
            <a:srgbClr val="17345F"/>
          </a:solidFill>
          <a:ln w="0">
            <a:solidFill>
              <a:srgbClr val="17345F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742950" y="337185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  <a:endParaRPr sz="15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314450" y="33718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350" b="0" i="0">
                <a:solidFill>
                  <a:srgbClr val="1F2F45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 i="0">
                <a:solidFill>
                  <a:srgbClr val="1F2F45"/>
                </a:solidFill>
                <a:latin typeface="微软雅黑"/>
                <a:ea typeface="微软雅黑"/>
                <a:cs typeface="微软雅黑"/>
              </a:rPr>
              <a:t>Prompt 越清晰，输出越可用</a:t>
            </a:r>
            <a:endParaRPr sz="1350" b="0" i="0">
              <a:solidFill>
                <a:srgbClr val="1F2F4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椭圆 18"/>
          <p:cNvSpPr>
            <a:spLocks noGrp="1"/>
          </p:cNvSpPr>
          <p:nvPr/>
        </p:nvSpPr>
        <p:spPr>
          <a:xfrm>
            <a:off x="742950" y="3829050"/>
            <a:ext cx="400050" cy="400050"/>
          </a:xfrm>
          <a:prstGeom prst="ellipse">
            <a:avLst/>
          </a:prstGeom>
          <a:solidFill>
            <a:srgbClr val="17345F"/>
          </a:solidFill>
          <a:ln w="0">
            <a:solidFill>
              <a:srgbClr val="17345F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742950" y="390525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  <a:endParaRPr sz="15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314450" y="39052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350" b="0" i="0">
                <a:solidFill>
                  <a:srgbClr val="1F2F45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 i="0">
                <a:solidFill>
                  <a:srgbClr val="1F2F45"/>
                </a:solidFill>
                <a:latin typeface="微软雅黑"/>
                <a:ea typeface="微软雅黑"/>
                <a:cs typeface="微软雅黑"/>
              </a:rPr>
              <a:t>用于学习，不把 AI 当枪手</a:t>
            </a:r>
            <a:endParaRPr sz="1350" b="0" i="0">
              <a:solidFill>
                <a:srgbClr val="1F2F4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椭圆 21"/>
          <p:cNvSpPr>
            <a:spLocks noGrp="1"/>
          </p:cNvSpPr>
          <p:nvPr/>
        </p:nvSpPr>
        <p:spPr>
          <a:xfrm>
            <a:off x="742950" y="4362450"/>
            <a:ext cx="400050" cy="400050"/>
          </a:xfrm>
          <a:prstGeom prst="ellipse">
            <a:avLst/>
          </a:prstGeom>
          <a:solidFill>
            <a:srgbClr val="17345F"/>
          </a:solidFill>
          <a:ln w="0">
            <a:solidFill>
              <a:srgbClr val="17345F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742950" y="443865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  <a:endParaRPr sz="15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314450" y="44386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350" b="0" i="0">
                <a:solidFill>
                  <a:srgbClr val="1F2F45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 i="0">
                <a:solidFill>
                  <a:srgbClr val="1F2F45"/>
                </a:solidFill>
                <a:latin typeface="微软雅黑"/>
                <a:ea typeface="微软雅黑"/>
                <a:cs typeface="微软雅黑"/>
              </a:rPr>
              <a:t>只修改与当前问题相关的文件</a:t>
            </a:r>
            <a:endParaRPr sz="1350" b="0" i="0">
              <a:solidFill>
                <a:srgbClr val="1F2F4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椭圆 24"/>
          <p:cNvSpPr>
            <a:spLocks noGrp="1"/>
          </p:cNvSpPr>
          <p:nvPr/>
        </p:nvSpPr>
        <p:spPr>
          <a:xfrm>
            <a:off x="742950" y="4895850"/>
            <a:ext cx="400050" cy="400050"/>
          </a:xfrm>
          <a:prstGeom prst="ellipse">
            <a:avLst/>
          </a:prstGeom>
          <a:solidFill>
            <a:srgbClr val="17345F"/>
          </a:solidFill>
          <a:ln w="0">
            <a:solidFill>
              <a:srgbClr val="17345F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742950" y="497205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  <a:endParaRPr sz="15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314450" y="49720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350" b="0" i="0">
                <a:solidFill>
                  <a:srgbClr val="1F2F45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 i="0">
                <a:solidFill>
                  <a:srgbClr val="1F2F45"/>
                </a:solidFill>
                <a:latin typeface="微软雅黑"/>
                <a:ea typeface="微软雅黑"/>
                <a:cs typeface="微软雅黑"/>
              </a:rPr>
              <a:t>文档先行，变更持续同步</a:t>
            </a:r>
            <a:endParaRPr sz="1350" b="0" i="0">
              <a:solidFill>
                <a:srgbClr val="1F2F4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4819650" y="169545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725" b="1" i="0">
                <a:solidFill>
                  <a:srgbClr val="17345F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 i="0">
                <a:solidFill>
                  <a:srgbClr val="17345F"/>
                </a:solidFill>
                <a:latin typeface="微软雅黑"/>
                <a:ea typeface="微软雅黑"/>
                <a:cs typeface="微软雅黑"/>
              </a:rPr>
              <a:t>方法论</a:t>
            </a:r>
            <a:endParaRPr sz="1725" b="1" i="0">
              <a:solidFill>
                <a:srgbClr val="17345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4819650" y="2038350"/>
            <a:ext cx="600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75" b="0" i="0">
                <a:solidFill>
                  <a:srgbClr val="5B6B7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 i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每个阶段都有明确输入、交付物和验收标准</a:t>
            </a:r>
            <a:endParaRPr sz="1275" b="0" i="0">
              <a:solidFill>
                <a:srgbClr val="5B6B7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圆角矩形 29"/>
          <p:cNvSpPr>
            <a:spLocks noGrp="1"/>
          </p:cNvSpPr>
          <p:nvPr/>
        </p:nvSpPr>
        <p:spPr>
          <a:xfrm>
            <a:off x="4819650" y="2647950"/>
            <a:ext cx="139065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C9DDF0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4972050" y="2790825"/>
            <a:ext cx="266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650" b="1" i="0">
                <a:solidFill>
                  <a:srgbClr val="2F69A6"/>
                </a:solidFill>
                <a:latin typeface="Consolas"/>
                <a:ea typeface="Consolas"/>
                <a:cs typeface="Consolas"/>
              </a:defRPr>
            </a:pPr>
            <a:r>
              <a:rPr sz="1650" b="1" i="0">
                <a:solidFill>
                  <a:srgbClr val="2F69A6"/>
                </a:solidFill>
                <a:latin typeface="Consolas"/>
                <a:ea typeface="Consolas"/>
                <a:cs typeface="Consolas"/>
              </a:rPr>
              <a:t>1</a:t>
            </a:r>
            <a:endParaRPr sz="1650" b="1" i="0">
              <a:solidFill>
                <a:srgbClr val="2F69A6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5314950" y="2819400"/>
            <a:ext cx="8191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350" b="1" i="0">
                <a:solidFill>
                  <a:srgbClr val="17345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 i="0">
                <a:solidFill>
                  <a:srgbClr val="17345F"/>
                </a:solidFill>
                <a:latin typeface="微软雅黑"/>
                <a:ea typeface="微软雅黑"/>
                <a:cs typeface="微软雅黑"/>
              </a:rPr>
              <a:t>写 PRD</a:t>
            </a:r>
            <a:endParaRPr sz="1350" b="1" i="0">
              <a:solidFill>
                <a:srgbClr val="17345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圆角矩形 32"/>
          <p:cNvSpPr>
            <a:spLocks noGrp="1"/>
          </p:cNvSpPr>
          <p:nvPr/>
        </p:nvSpPr>
        <p:spPr>
          <a:xfrm>
            <a:off x="6457950" y="2647950"/>
            <a:ext cx="139065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C9DDF0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6610350" y="2790825"/>
            <a:ext cx="266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650" b="1" i="0">
                <a:solidFill>
                  <a:srgbClr val="2F69A6"/>
                </a:solidFill>
                <a:latin typeface="Consolas"/>
                <a:ea typeface="Consolas"/>
                <a:cs typeface="Consolas"/>
              </a:defRPr>
            </a:pPr>
            <a:r>
              <a:rPr sz="1650" b="1" i="0">
                <a:solidFill>
                  <a:srgbClr val="2F69A6"/>
                </a:solidFill>
                <a:latin typeface="Consolas"/>
                <a:ea typeface="Consolas"/>
                <a:cs typeface="Consolas"/>
              </a:rPr>
              <a:t>2</a:t>
            </a:r>
            <a:endParaRPr sz="1650" b="1" i="0">
              <a:solidFill>
                <a:srgbClr val="2F69A6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6953250" y="2819400"/>
            <a:ext cx="8191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350" b="1" i="0">
                <a:solidFill>
                  <a:srgbClr val="17345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 i="0">
                <a:solidFill>
                  <a:srgbClr val="17345F"/>
                </a:solidFill>
                <a:latin typeface="微软雅黑"/>
                <a:ea typeface="微软雅黑"/>
                <a:cs typeface="微软雅黑"/>
              </a:rPr>
              <a:t>PRD 评审</a:t>
            </a:r>
            <a:endParaRPr sz="1350" b="1" i="0">
              <a:solidFill>
                <a:srgbClr val="17345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圆角矩形 35"/>
          <p:cNvSpPr>
            <a:spLocks noGrp="1"/>
          </p:cNvSpPr>
          <p:nvPr/>
        </p:nvSpPr>
        <p:spPr>
          <a:xfrm>
            <a:off x="8096250" y="2647950"/>
            <a:ext cx="139065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C9DDF0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8248650" y="2790825"/>
            <a:ext cx="266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650" b="1" i="0">
                <a:solidFill>
                  <a:srgbClr val="2F69A6"/>
                </a:solidFill>
                <a:latin typeface="Consolas"/>
                <a:ea typeface="Consolas"/>
                <a:cs typeface="Consolas"/>
              </a:defRPr>
            </a:pPr>
            <a:r>
              <a:rPr sz="1650" b="1" i="0">
                <a:solidFill>
                  <a:srgbClr val="2F69A6"/>
                </a:solidFill>
                <a:latin typeface="Consolas"/>
                <a:ea typeface="Consolas"/>
                <a:cs typeface="Consolas"/>
              </a:rPr>
              <a:t>3</a:t>
            </a:r>
            <a:endParaRPr sz="1650" b="1" i="0">
              <a:solidFill>
                <a:srgbClr val="2F69A6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8591550" y="2819400"/>
            <a:ext cx="8191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350" b="1" i="0">
                <a:solidFill>
                  <a:srgbClr val="17345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 i="0">
                <a:solidFill>
                  <a:srgbClr val="17345F"/>
                </a:solidFill>
                <a:latin typeface="微软雅黑"/>
                <a:ea typeface="微软雅黑"/>
                <a:cs typeface="微软雅黑"/>
              </a:rPr>
              <a:t>任务分解</a:t>
            </a:r>
            <a:endParaRPr sz="1350" b="1" i="0">
              <a:solidFill>
                <a:srgbClr val="17345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圆角矩形 38"/>
          <p:cNvSpPr>
            <a:spLocks noGrp="1"/>
          </p:cNvSpPr>
          <p:nvPr/>
        </p:nvSpPr>
        <p:spPr>
          <a:xfrm>
            <a:off x="9734550" y="2647950"/>
            <a:ext cx="139065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C9DDF0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9886950" y="2790825"/>
            <a:ext cx="266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650" b="1" i="0">
                <a:solidFill>
                  <a:srgbClr val="2F69A6"/>
                </a:solidFill>
                <a:latin typeface="Consolas"/>
                <a:ea typeface="Consolas"/>
                <a:cs typeface="Consolas"/>
              </a:defRPr>
            </a:pPr>
            <a:r>
              <a:rPr sz="1650" b="1" i="0">
                <a:solidFill>
                  <a:srgbClr val="2F69A6"/>
                </a:solidFill>
                <a:latin typeface="Consolas"/>
                <a:ea typeface="Consolas"/>
                <a:cs typeface="Consolas"/>
              </a:rPr>
              <a:t>4</a:t>
            </a:r>
            <a:endParaRPr sz="1650" b="1" i="0">
              <a:solidFill>
                <a:srgbClr val="2F69A6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10229850" y="2819400"/>
            <a:ext cx="8191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350" b="1" i="0">
                <a:solidFill>
                  <a:srgbClr val="17345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 i="0">
                <a:solidFill>
                  <a:srgbClr val="17345F"/>
                </a:solidFill>
                <a:latin typeface="微软雅黑"/>
                <a:ea typeface="微软雅黑"/>
                <a:cs typeface="微软雅黑"/>
              </a:rPr>
              <a:t>轮次评审</a:t>
            </a:r>
            <a:endParaRPr sz="1350" b="1" i="0">
              <a:solidFill>
                <a:srgbClr val="17345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2" name="圆角矩形 41"/>
          <p:cNvSpPr>
            <a:spLocks noGrp="1"/>
          </p:cNvSpPr>
          <p:nvPr/>
        </p:nvSpPr>
        <p:spPr>
          <a:xfrm>
            <a:off x="4819650" y="3848100"/>
            <a:ext cx="139065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C9DDF0"/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4972050" y="3990975"/>
            <a:ext cx="266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650" b="1" i="0">
                <a:solidFill>
                  <a:srgbClr val="2F69A6"/>
                </a:solidFill>
                <a:latin typeface="Consolas"/>
                <a:ea typeface="Consolas"/>
                <a:cs typeface="Consolas"/>
              </a:defRPr>
            </a:pPr>
            <a:r>
              <a:rPr sz="1650" b="1" i="0">
                <a:solidFill>
                  <a:srgbClr val="2F69A6"/>
                </a:solidFill>
                <a:latin typeface="Consolas"/>
                <a:ea typeface="Consolas"/>
                <a:cs typeface="Consolas"/>
              </a:rPr>
              <a:t>5</a:t>
            </a:r>
            <a:endParaRPr sz="1650" b="1" i="0">
              <a:solidFill>
                <a:srgbClr val="2F69A6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5314950" y="4019550"/>
            <a:ext cx="8191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350" b="1" i="0">
                <a:solidFill>
                  <a:srgbClr val="17345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 i="0">
                <a:solidFill>
                  <a:srgbClr val="17345F"/>
                </a:solidFill>
                <a:latin typeface="微软雅黑"/>
                <a:ea typeface="微软雅黑"/>
                <a:cs typeface="微软雅黑"/>
              </a:rPr>
              <a:t>实现</a:t>
            </a:r>
            <a:endParaRPr sz="1350" b="1" i="0">
              <a:solidFill>
                <a:srgbClr val="17345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" name="圆角矩形 44"/>
          <p:cNvSpPr>
            <a:spLocks noGrp="1"/>
          </p:cNvSpPr>
          <p:nvPr/>
        </p:nvSpPr>
        <p:spPr>
          <a:xfrm>
            <a:off x="6457950" y="3848100"/>
            <a:ext cx="139065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C9DDF0"/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6610350" y="3990975"/>
            <a:ext cx="266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650" b="1" i="0">
                <a:solidFill>
                  <a:srgbClr val="2F69A6"/>
                </a:solidFill>
                <a:latin typeface="Consolas"/>
                <a:ea typeface="Consolas"/>
                <a:cs typeface="Consolas"/>
              </a:defRPr>
            </a:pPr>
            <a:r>
              <a:rPr sz="1650" b="1" i="0">
                <a:solidFill>
                  <a:srgbClr val="2F69A6"/>
                </a:solidFill>
                <a:latin typeface="Consolas"/>
                <a:ea typeface="Consolas"/>
                <a:cs typeface="Consolas"/>
              </a:rPr>
              <a:t>6</a:t>
            </a:r>
            <a:endParaRPr sz="1650" b="1" i="0">
              <a:solidFill>
                <a:srgbClr val="2F69A6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6953250" y="4019550"/>
            <a:ext cx="8191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350" b="1" i="0">
                <a:solidFill>
                  <a:srgbClr val="17345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 i="0">
                <a:solidFill>
                  <a:srgbClr val="17345F"/>
                </a:solidFill>
                <a:latin typeface="微软雅黑"/>
                <a:ea typeface="微软雅黑"/>
                <a:cs typeface="微软雅黑"/>
              </a:rPr>
              <a:t>测试</a:t>
            </a:r>
            <a:endParaRPr sz="1350" b="1" i="0">
              <a:solidFill>
                <a:srgbClr val="17345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8" name="圆角矩形 47"/>
          <p:cNvSpPr>
            <a:spLocks noGrp="1"/>
          </p:cNvSpPr>
          <p:nvPr/>
        </p:nvSpPr>
        <p:spPr>
          <a:xfrm>
            <a:off x="8096250" y="3848100"/>
            <a:ext cx="139065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C9DDF0"/>
            </a:solidFill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8248650" y="3990975"/>
            <a:ext cx="266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650" b="1" i="0">
                <a:solidFill>
                  <a:srgbClr val="2F69A6"/>
                </a:solidFill>
                <a:latin typeface="Consolas"/>
                <a:ea typeface="Consolas"/>
                <a:cs typeface="Consolas"/>
              </a:defRPr>
            </a:pPr>
            <a:r>
              <a:rPr sz="1650" b="1" i="0">
                <a:solidFill>
                  <a:srgbClr val="2F69A6"/>
                </a:solidFill>
                <a:latin typeface="Consolas"/>
                <a:ea typeface="Consolas"/>
                <a:cs typeface="Consolas"/>
              </a:rPr>
              <a:t>7</a:t>
            </a:r>
            <a:endParaRPr sz="1650" b="1" i="0">
              <a:solidFill>
                <a:srgbClr val="2F69A6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8591550" y="4019550"/>
            <a:ext cx="8191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350" b="1" i="0">
                <a:solidFill>
                  <a:srgbClr val="17345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 i="0">
                <a:solidFill>
                  <a:srgbClr val="17345F"/>
                </a:solidFill>
                <a:latin typeface="微软雅黑"/>
                <a:ea typeface="微软雅黑"/>
                <a:cs typeface="微软雅黑"/>
              </a:rPr>
              <a:t>回写文档</a:t>
            </a:r>
            <a:endParaRPr sz="1350" b="1" i="0">
              <a:solidFill>
                <a:srgbClr val="17345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1" name="圆角矩形 50"/>
          <p:cNvSpPr>
            <a:spLocks noGrp="1"/>
          </p:cNvSpPr>
          <p:nvPr/>
        </p:nvSpPr>
        <p:spPr>
          <a:xfrm>
            <a:off x="9734550" y="3848100"/>
            <a:ext cx="1390650" cy="819150"/>
          </a:xfrm>
          <a:prstGeom prst="roundRect">
            <a:avLst>
              <a:gd name="adj" fmla="val 9302"/>
            </a:avLst>
          </a:prstGeom>
          <a:solidFill>
            <a:srgbClr val="FFF8E1"/>
          </a:solidFill>
          <a:ln w="9525">
            <a:solidFill>
              <a:srgbClr val="E8C85A"/>
            </a:solidFill>
            <a:prstDash val="solid"/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9886950" y="3990975"/>
            <a:ext cx="266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650" b="1" i="0">
                <a:solidFill>
                  <a:srgbClr val="C44E52"/>
                </a:solidFill>
                <a:latin typeface="Consolas"/>
                <a:ea typeface="Consolas"/>
                <a:cs typeface="Consolas"/>
              </a:defRPr>
            </a:pPr>
            <a:r>
              <a:rPr sz="1650" b="1" i="0">
                <a:solidFill>
                  <a:srgbClr val="C44E52"/>
                </a:solidFill>
                <a:latin typeface="Consolas"/>
                <a:ea typeface="Consolas"/>
                <a:cs typeface="Consolas"/>
              </a:rPr>
              <a:t>8</a:t>
            </a:r>
            <a:endParaRPr sz="1650" b="1" i="0">
              <a:solidFill>
                <a:srgbClr val="C44E52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10229850" y="4019550"/>
            <a:ext cx="8191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350" b="1" i="0">
                <a:solidFill>
                  <a:srgbClr val="17345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 i="0">
                <a:solidFill>
                  <a:srgbClr val="17345F"/>
                </a:solidFill>
                <a:latin typeface="微软雅黑"/>
                <a:ea typeface="微软雅黑"/>
                <a:cs typeface="微软雅黑"/>
              </a:rPr>
              <a:t>反馈总结</a:t>
            </a:r>
            <a:endParaRPr sz="1350" b="1" i="0">
              <a:solidFill>
                <a:srgbClr val="17345F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116" name="直接箭头连接符 115"/>
          <p:cNvCxnSpPr>
            <a:stCxn id="30" idx="3"/>
            <a:endCxn id="33" idx="1"/>
          </p:cNvCxnSpPr>
          <p:nvPr/>
        </p:nvCxnSpPr>
        <p:spPr>
          <a:xfrm>
            <a:off x="6210300" y="3057525"/>
            <a:ext cx="247650" cy="0"/>
          </a:xfrm>
          <a:prstGeom prst="straightConnector1">
            <a:avLst/>
          </a:prstGeom>
          <a:ln w="19050">
            <a:solidFill>
              <a:srgbClr val="2F69A6"/>
            </a:solidFill>
            <a:prstDash val="solid"/>
            <a:tailEnd type="triangle" w="sm" len="sm"/>
          </a:ln>
        </p:spPr>
      </p:cxnSp>
      <p:cxnSp>
        <p:nvCxnSpPr>
          <p:cNvPr id="117" name="直接箭头连接符 116"/>
          <p:cNvCxnSpPr>
            <a:stCxn id="33" idx="3"/>
            <a:endCxn id="36" idx="1"/>
          </p:cNvCxnSpPr>
          <p:nvPr/>
        </p:nvCxnSpPr>
        <p:spPr>
          <a:xfrm>
            <a:off x="7848600" y="3057525"/>
            <a:ext cx="247650" cy="0"/>
          </a:xfrm>
          <a:prstGeom prst="straightConnector1">
            <a:avLst/>
          </a:prstGeom>
          <a:ln w="19050">
            <a:solidFill>
              <a:srgbClr val="2F69A6"/>
            </a:solidFill>
            <a:prstDash val="solid"/>
            <a:tailEnd type="triangle" w="sm" len="sm"/>
          </a:ln>
        </p:spPr>
      </p:cxnSp>
      <p:cxnSp>
        <p:nvCxnSpPr>
          <p:cNvPr id="118" name="直接箭头连接符 117"/>
          <p:cNvCxnSpPr>
            <a:stCxn id="36" idx="3"/>
            <a:endCxn id="39" idx="1"/>
          </p:cNvCxnSpPr>
          <p:nvPr/>
        </p:nvCxnSpPr>
        <p:spPr>
          <a:xfrm>
            <a:off x="9486900" y="3057525"/>
            <a:ext cx="247650" cy="0"/>
          </a:xfrm>
          <a:prstGeom prst="straightConnector1">
            <a:avLst/>
          </a:prstGeom>
          <a:ln w="19050">
            <a:solidFill>
              <a:srgbClr val="2F69A6"/>
            </a:solidFill>
            <a:prstDash val="solid"/>
            <a:tailEnd type="triangle" w="sm" len="sm"/>
          </a:ln>
        </p:spPr>
      </p:cxnSp>
      <p:cxnSp>
        <p:nvCxnSpPr>
          <p:cNvPr id="119" name="直接箭头连接符 118"/>
          <p:cNvCxnSpPr>
            <a:stCxn id="42" idx="3"/>
            <a:endCxn id="45" idx="1"/>
          </p:cNvCxnSpPr>
          <p:nvPr/>
        </p:nvCxnSpPr>
        <p:spPr>
          <a:xfrm>
            <a:off x="6210300" y="4257675"/>
            <a:ext cx="247650" cy="0"/>
          </a:xfrm>
          <a:prstGeom prst="straightConnector1">
            <a:avLst/>
          </a:prstGeom>
          <a:ln w="19050">
            <a:solidFill>
              <a:srgbClr val="2F69A6"/>
            </a:solidFill>
            <a:prstDash val="solid"/>
            <a:tailEnd type="triangle" w="sm" len="sm"/>
          </a:ln>
        </p:spPr>
      </p:cxnSp>
      <p:cxnSp>
        <p:nvCxnSpPr>
          <p:cNvPr id="120" name="直接箭头连接符 119"/>
          <p:cNvCxnSpPr>
            <a:stCxn id="45" idx="3"/>
            <a:endCxn id="48" idx="1"/>
          </p:cNvCxnSpPr>
          <p:nvPr/>
        </p:nvCxnSpPr>
        <p:spPr>
          <a:xfrm>
            <a:off x="7848600" y="4257675"/>
            <a:ext cx="247650" cy="0"/>
          </a:xfrm>
          <a:prstGeom prst="straightConnector1">
            <a:avLst/>
          </a:prstGeom>
          <a:ln w="19050">
            <a:solidFill>
              <a:srgbClr val="2F69A6"/>
            </a:solidFill>
            <a:prstDash val="solid"/>
            <a:tailEnd type="triangle" w="sm" len="sm"/>
          </a:ln>
        </p:spPr>
      </p:cxnSp>
      <p:cxnSp>
        <p:nvCxnSpPr>
          <p:cNvPr id="121" name="直接箭头连接符 120"/>
          <p:cNvCxnSpPr>
            <a:stCxn id="48" idx="3"/>
            <a:endCxn id="51" idx="1"/>
          </p:cNvCxnSpPr>
          <p:nvPr/>
        </p:nvCxnSpPr>
        <p:spPr>
          <a:xfrm>
            <a:off x="9486900" y="4257675"/>
            <a:ext cx="247650" cy="0"/>
          </a:xfrm>
          <a:prstGeom prst="straightConnector1">
            <a:avLst/>
          </a:prstGeom>
          <a:ln w="19050">
            <a:solidFill>
              <a:srgbClr val="2F69A6"/>
            </a:solidFill>
            <a:prstDash val="solid"/>
            <a:tailEnd type="triangle" w="sm" len="sm"/>
          </a:ln>
        </p:spPr>
      </p:cxnSp>
      <p:cxnSp>
        <p:nvCxnSpPr>
          <p:cNvPr id="122" name="肘形连接符 121"/>
          <p:cNvCxnSpPr>
            <a:stCxn id="39" idx="2"/>
            <a:endCxn id="42" idx="0"/>
          </p:cNvCxnSpPr>
          <p:nvPr/>
        </p:nvCxnSpPr>
        <p:spPr>
          <a:xfrm flipH="1">
            <a:off x="5514975" y="3467100"/>
            <a:ext cx="4914900" cy="3810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2F69A6"/>
            </a:solidFill>
            <a:prstDash val="solid"/>
            <a:tailEnd type="triangle" w="sm" len="sm"/>
          </a:ln>
        </p:spPr>
      </p:cxnSp>
      <p:sp>
        <p:nvSpPr>
          <p:cNvPr id="61" name="圆角矩形 60"/>
          <p:cNvSpPr>
            <a:spLocks noGrp="1"/>
          </p:cNvSpPr>
          <p:nvPr/>
        </p:nvSpPr>
        <p:spPr>
          <a:xfrm>
            <a:off x="4819650" y="5219700"/>
            <a:ext cx="6305550" cy="514350"/>
          </a:xfrm>
          <a:prstGeom prst="roundRect">
            <a:avLst>
              <a:gd name="adj" fmla="val 14815"/>
            </a:avLst>
          </a:prstGeom>
          <a:solidFill>
            <a:srgbClr val="17345F"/>
          </a:solidFill>
          <a:ln w="0">
            <a:solidFill>
              <a:srgbClr val="17345F"/>
            </a:solidFill>
            <a:prstDash val="solid"/>
          </a:ln>
        </p:spPr>
      </p:sp>
      <p:sp>
        <p:nvSpPr>
          <p:cNvPr id="62" name="矩形 61"/>
          <p:cNvSpPr>
            <a:spLocks noGrp="1"/>
          </p:cNvSpPr>
          <p:nvPr/>
        </p:nvSpPr>
        <p:spPr>
          <a:xfrm>
            <a:off x="5067300" y="5372100"/>
            <a:ext cx="5810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75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 8 步的经验回流到下一轮 PRD，形成可持续的工程闭环</a:t>
            </a:r>
            <a:endParaRPr sz="1275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4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矩形 8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C44E52"/>
          </a:solidFill>
          <a:ln w="0">
            <a:solidFill>
              <a:srgbClr val="C44E52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1524000"/>
            <a:ext cx="857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2850" b="1" i="0">
                <a:solidFill>
                  <a:srgbClr val="F4C542"/>
                </a:solidFill>
                <a:latin typeface="Consolas"/>
                <a:ea typeface="Consolas"/>
                <a:cs typeface="Consolas"/>
              </a:defRPr>
            </a:pPr>
            <a:r>
              <a:rPr sz="2850" b="1" i="0">
                <a:solidFill>
                  <a:srgbClr val="F4C542"/>
                </a:solidFill>
                <a:latin typeface="Consolas"/>
                <a:ea typeface="Consolas"/>
                <a:cs typeface="Consolas"/>
              </a:rPr>
              <a:t>09</a:t>
            </a:r>
            <a:endParaRPr sz="2850" b="1" i="0">
              <a:solidFill>
                <a:srgbClr val="F4C542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2143125"/>
            <a:ext cx="5143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125" b="1" i="0">
                <a:solidFill>
                  <a:srgbClr val="9FC5ED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9FC5ED"/>
                </a:solidFill>
                <a:latin typeface="Consolas"/>
                <a:ea typeface="Consolas"/>
                <a:cs typeface="Consolas"/>
              </a:rPr>
              <a:t>SECTION TWO</a:t>
            </a:r>
            <a:endParaRPr sz="1125" b="1" i="0">
              <a:solidFill>
                <a:srgbClr val="9FC5ED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2571750"/>
            <a:ext cx="9525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34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第一个后端服务</a:t>
            </a:r>
            <a:endParaRPr sz="345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3524250"/>
            <a:ext cx="9144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725" b="0" i="0">
                <a:solidFill>
                  <a:srgbClr val="DCEBFA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 i="0">
                <a:solidFill>
                  <a:srgbClr val="DCEBFA"/>
                </a:solidFill>
                <a:latin typeface="微软雅黑"/>
                <a:ea typeface="微软雅黑"/>
                <a:cs typeface="微软雅黑"/>
              </a:rPr>
              <a:t>Node.js + Express + Git：先完成一个可运行的最小闭环</a:t>
            </a:r>
            <a:endParaRPr sz="1725" b="0" i="0">
              <a:solidFill>
                <a:srgbClr val="DCEBF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0" y="5943600"/>
            <a:ext cx="12192000" cy="590550"/>
          </a:xfrm>
          <a:prstGeom prst="rect">
            <a:avLst/>
          </a:prstGeom>
          <a:solidFill>
            <a:srgbClr val="1D477C"/>
          </a:solidFill>
          <a:ln w="0">
            <a:solidFill>
              <a:srgbClr val="1D477C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6134100"/>
            <a:ext cx="428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050" b="0" i="0">
                <a:solidFill>
                  <a:srgbClr val="BFD3E8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 i="0">
                <a:solidFill>
                  <a:srgbClr val="BFD3E8"/>
                </a:solidFill>
                <a:latin typeface="微软雅黑"/>
                <a:ea typeface="微软雅黑"/>
                <a:cs typeface="微软雅黑"/>
              </a:rPr>
              <a:t>AI Coding 课程 · 01 第一次课程</a:t>
            </a:r>
            <a:endParaRPr sz="1050" b="0" i="0">
              <a:solidFill>
                <a:srgbClr val="BFD3E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0810875" y="6134100"/>
            <a:ext cx="857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defRPr sz="1050" b="0" i="0">
                <a:solidFill>
                  <a:srgbClr val="BFD3E8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 i="0">
                <a:solidFill>
                  <a:srgbClr val="BFD3E8"/>
                </a:solidFill>
                <a:latin typeface="微软雅黑"/>
                <a:ea typeface="微软雅黑"/>
                <a:cs typeface="微软雅黑"/>
              </a:rPr>
              <a:t>09 / 13</a:t>
            </a:r>
            <a:endParaRPr sz="1050" b="0" i="0">
              <a:solidFill>
                <a:srgbClr val="BFD3E8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6" name="矩形 35"/>
          <p:cNvSpPr>
            <a:spLocks noGrp="1"/>
          </p:cNvSpPr>
          <p:nvPr/>
        </p:nvSpPr>
        <p:spPr>
          <a:xfrm>
            <a:off x="457200" y="361950"/>
            <a:ext cx="76200" cy="514350"/>
          </a:xfrm>
          <a:prstGeom prst="rect">
            <a:avLst/>
          </a:prstGeom>
          <a:solidFill>
            <a:srgbClr val="C44E52"/>
          </a:solidFill>
          <a:ln w="0">
            <a:solidFill>
              <a:srgbClr val="C44E52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47700" y="457200"/>
            <a:ext cx="609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2250" b="1" i="0">
                <a:solidFill>
                  <a:srgbClr val="C44E52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 i="0">
                <a:solidFill>
                  <a:srgbClr val="C44E52"/>
                </a:solidFill>
                <a:latin typeface="微软雅黑"/>
                <a:ea typeface="微软雅黑"/>
                <a:cs typeface="微软雅黑"/>
              </a:rPr>
              <a:t>10</a:t>
            </a:r>
            <a:endParaRPr sz="2250" b="1" i="0">
              <a:solidFill>
                <a:srgbClr val="C44E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333500" y="36195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125" b="1" i="0">
                <a:solidFill>
                  <a:srgbClr val="2F69A6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2F69A6"/>
                </a:solidFill>
                <a:latin typeface="Consolas"/>
                <a:ea typeface="Consolas"/>
                <a:cs typeface="Consolas"/>
              </a:rPr>
              <a:t>01 · NODE + EXPRESS</a:t>
            </a:r>
            <a:endParaRPr sz="1125" b="1" i="0">
              <a:solidFill>
                <a:srgbClr val="2F69A6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333500" y="552450"/>
            <a:ext cx="9810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2550" b="1" i="0">
                <a:solidFill>
                  <a:srgbClr val="17345F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 i="0">
                <a:solidFill>
                  <a:srgbClr val="17345F"/>
                </a:solidFill>
                <a:latin typeface="微软雅黑"/>
                <a:ea typeface="微软雅黑"/>
                <a:cs typeface="微软雅黑"/>
              </a:rPr>
              <a:t>从 npm init 到 Hello World API</a:t>
            </a:r>
            <a:endParaRPr sz="2550" b="1" i="0">
              <a:solidFill>
                <a:srgbClr val="17345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0" y="6534150"/>
            <a:ext cx="12192000" cy="9525"/>
          </a:xfrm>
          <a:prstGeom prst="rect">
            <a:avLst/>
          </a:prstGeom>
          <a:solidFill>
            <a:srgbClr val="DCE3EB"/>
          </a:solidFill>
          <a:ln w="0">
            <a:solidFill>
              <a:srgbClr val="DCE3EB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457200" y="662940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975" b="0" i="0">
                <a:solidFill>
                  <a:srgbClr val="5B6B7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 i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《大前端与AI实战》 · 第一次课程</a:t>
            </a:r>
            <a:endParaRPr sz="975" b="0" i="0">
              <a:solidFill>
                <a:srgbClr val="5B6B7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953750" y="6629400"/>
            <a:ext cx="781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defRPr sz="975" b="0" i="0">
                <a:solidFill>
                  <a:srgbClr val="5B6B7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 i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10 / 13</a:t>
            </a:r>
            <a:endParaRPr sz="975" b="0" i="0">
              <a:solidFill>
                <a:srgbClr val="5B6B7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457200" y="1371600"/>
            <a:ext cx="3638550" cy="4438650"/>
          </a:xfrm>
          <a:prstGeom prst="roundRect">
            <a:avLst>
              <a:gd name="adj" fmla="val 3141"/>
            </a:avLst>
          </a:prstGeom>
          <a:solidFill>
            <a:srgbClr val="FFFFFF"/>
          </a:solidFill>
          <a:ln w="9525">
            <a:solidFill>
              <a:srgbClr val="C9D4E0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742950" y="169545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725" b="1" i="0">
                <a:solidFill>
                  <a:srgbClr val="17345F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 i="0">
                <a:solidFill>
                  <a:srgbClr val="17345F"/>
                </a:solidFill>
                <a:latin typeface="微软雅黑"/>
                <a:ea typeface="微软雅黑"/>
                <a:cs typeface="微软雅黑"/>
              </a:rPr>
              <a:t>五步建立项目</a:t>
            </a:r>
            <a:endParaRPr sz="1725" b="1" i="0">
              <a:solidFill>
                <a:srgbClr val="17345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椭圆 9"/>
          <p:cNvSpPr>
            <a:spLocks noGrp="1"/>
          </p:cNvSpPr>
          <p:nvPr/>
        </p:nvSpPr>
        <p:spPr>
          <a:xfrm>
            <a:off x="742950" y="2266950"/>
            <a:ext cx="400050" cy="400050"/>
          </a:xfrm>
          <a:prstGeom prst="ellipse">
            <a:avLst/>
          </a:prstGeom>
          <a:solidFill>
            <a:srgbClr val="2F69A6"/>
          </a:solidFill>
          <a:ln w="0">
            <a:solidFill>
              <a:srgbClr val="2F69A6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742950" y="234315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  <a:endParaRPr sz="15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314450" y="22860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350" b="1" i="0">
                <a:solidFill>
                  <a:srgbClr val="17345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 i="0">
                <a:solidFill>
                  <a:srgbClr val="17345F"/>
                </a:solidFill>
                <a:latin typeface="微软雅黑"/>
                <a:ea typeface="微软雅黑"/>
                <a:cs typeface="微软雅黑"/>
              </a:rPr>
              <a:t>创建目录</a:t>
            </a:r>
            <a:endParaRPr sz="1350" b="1" i="0">
              <a:solidFill>
                <a:srgbClr val="17345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314450" y="2571750"/>
            <a:ext cx="228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00" b="0" i="0">
                <a:solidFill>
                  <a:srgbClr val="5B6B7F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5B6B7F"/>
                </a:solidFill>
                <a:latin typeface="Consolas"/>
                <a:ea typeface="Consolas"/>
                <a:cs typeface="Consolas"/>
              </a:rPr>
              <a:t>feynman-platform-backend</a:t>
            </a:r>
            <a:endParaRPr sz="1200" b="0" i="0">
              <a:solidFill>
                <a:srgbClr val="5B6B7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14" name="椭圆 13"/>
          <p:cNvSpPr>
            <a:spLocks noGrp="1"/>
          </p:cNvSpPr>
          <p:nvPr/>
        </p:nvSpPr>
        <p:spPr>
          <a:xfrm>
            <a:off x="742950" y="2933700"/>
            <a:ext cx="400050" cy="400050"/>
          </a:xfrm>
          <a:prstGeom prst="ellipse">
            <a:avLst/>
          </a:prstGeom>
          <a:solidFill>
            <a:srgbClr val="2F69A6"/>
          </a:solidFill>
          <a:ln w="0">
            <a:solidFill>
              <a:srgbClr val="2F69A6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742950" y="300990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  <a:endParaRPr sz="15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314450" y="295275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350" b="1" i="0">
                <a:solidFill>
                  <a:srgbClr val="17345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 i="0">
                <a:solidFill>
                  <a:srgbClr val="17345F"/>
                </a:solidFill>
                <a:latin typeface="微软雅黑"/>
                <a:ea typeface="微软雅黑"/>
                <a:cs typeface="微软雅黑"/>
              </a:rPr>
              <a:t>初始化项目</a:t>
            </a:r>
            <a:endParaRPr sz="1350" b="1" i="0">
              <a:solidFill>
                <a:srgbClr val="17345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314450" y="3238500"/>
            <a:ext cx="228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00" b="0" i="0">
                <a:solidFill>
                  <a:srgbClr val="5B6B7F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5B6B7F"/>
                </a:solidFill>
                <a:latin typeface="Consolas"/>
                <a:ea typeface="Consolas"/>
                <a:cs typeface="Consolas"/>
              </a:rPr>
              <a:t>npm init -y</a:t>
            </a:r>
            <a:endParaRPr sz="1200" b="0" i="0">
              <a:solidFill>
                <a:srgbClr val="5B6B7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18" name="椭圆 17"/>
          <p:cNvSpPr>
            <a:spLocks noGrp="1"/>
          </p:cNvSpPr>
          <p:nvPr/>
        </p:nvSpPr>
        <p:spPr>
          <a:xfrm>
            <a:off x="742950" y="3600450"/>
            <a:ext cx="400050" cy="400050"/>
          </a:xfrm>
          <a:prstGeom prst="ellipse">
            <a:avLst/>
          </a:prstGeom>
          <a:solidFill>
            <a:srgbClr val="2F69A6"/>
          </a:solidFill>
          <a:ln w="0">
            <a:solidFill>
              <a:srgbClr val="2F69A6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742950" y="367665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  <a:endParaRPr sz="15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314450" y="36195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350" b="1" i="0">
                <a:solidFill>
                  <a:srgbClr val="17345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 i="0">
                <a:solidFill>
                  <a:srgbClr val="17345F"/>
                </a:solidFill>
                <a:latin typeface="微软雅黑"/>
                <a:ea typeface="微软雅黑"/>
                <a:cs typeface="微软雅黑"/>
              </a:rPr>
              <a:t>安装 Express</a:t>
            </a:r>
            <a:endParaRPr sz="1350" b="1" i="0">
              <a:solidFill>
                <a:srgbClr val="17345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314450" y="3905250"/>
            <a:ext cx="228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00" b="0" i="0">
                <a:solidFill>
                  <a:srgbClr val="5B6B7F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5B6B7F"/>
                </a:solidFill>
                <a:latin typeface="Consolas"/>
                <a:ea typeface="Consolas"/>
                <a:cs typeface="Consolas"/>
              </a:rPr>
              <a:t>npm install express</a:t>
            </a:r>
            <a:endParaRPr sz="1200" b="0" i="0">
              <a:solidFill>
                <a:srgbClr val="5B6B7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22" name="椭圆 21"/>
          <p:cNvSpPr>
            <a:spLocks noGrp="1"/>
          </p:cNvSpPr>
          <p:nvPr/>
        </p:nvSpPr>
        <p:spPr>
          <a:xfrm>
            <a:off x="742950" y="4267200"/>
            <a:ext cx="400050" cy="400050"/>
          </a:xfrm>
          <a:prstGeom prst="ellipse">
            <a:avLst/>
          </a:prstGeom>
          <a:solidFill>
            <a:srgbClr val="2F69A6"/>
          </a:solidFill>
          <a:ln w="0">
            <a:solidFill>
              <a:srgbClr val="2F69A6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742950" y="434340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  <a:endParaRPr sz="15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314450" y="428625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350" b="1" i="0">
                <a:solidFill>
                  <a:srgbClr val="17345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 i="0">
                <a:solidFill>
                  <a:srgbClr val="17345F"/>
                </a:solidFill>
                <a:latin typeface="微软雅黑"/>
                <a:ea typeface="微软雅黑"/>
                <a:cs typeface="微软雅黑"/>
              </a:rPr>
              <a:t>编写入口</a:t>
            </a:r>
            <a:endParaRPr sz="1350" b="1" i="0">
              <a:solidFill>
                <a:srgbClr val="17345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314450" y="4572000"/>
            <a:ext cx="228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00" b="0" i="0">
                <a:solidFill>
                  <a:srgbClr val="5B6B7F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5B6B7F"/>
                </a:solidFill>
                <a:latin typeface="Consolas"/>
                <a:ea typeface="Consolas"/>
                <a:cs typeface="Consolas"/>
              </a:rPr>
              <a:t>index.js</a:t>
            </a:r>
            <a:endParaRPr sz="1200" b="0" i="0">
              <a:solidFill>
                <a:srgbClr val="5B6B7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26" name="椭圆 25"/>
          <p:cNvSpPr>
            <a:spLocks noGrp="1"/>
          </p:cNvSpPr>
          <p:nvPr/>
        </p:nvSpPr>
        <p:spPr>
          <a:xfrm>
            <a:off x="742950" y="4933950"/>
            <a:ext cx="400050" cy="400050"/>
          </a:xfrm>
          <a:prstGeom prst="ellipse">
            <a:avLst/>
          </a:prstGeom>
          <a:solidFill>
            <a:srgbClr val="C44E52"/>
          </a:solidFill>
          <a:ln w="0">
            <a:solidFill>
              <a:srgbClr val="C44E52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742950" y="501015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  <a:endParaRPr sz="15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314450" y="49530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350" b="1" i="0">
                <a:solidFill>
                  <a:srgbClr val="17345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 i="0">
                <a:solidFill>
                  <a:srgbClr val="17345F"/>
                </a:solidFill>
                <a:latin typeface="微软雅黑"/>
                <a:ea typeface="微软雅黑"/>
                <a:cs typeface="微软雅黑"/>
              </a:rPr>
              <a:t>启动服务</a:t>
            </a:r>
            <a:endParaRPr sz="1350" b="1" i="0">
              <a:solidFill>
                <a:srgbClr val="17345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314450" y="5238750"/>
            <a:ext cx="228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00" b="0" i="0">
                <a:solidFill>
                  <a:srgbClr val="5B6B7F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5B6B7F"/>
                </a:solidFill>
                <a:latin typeface="Consolas"/>
                <a:ea typeface="Consolas"/>
                <a:cs typeface="Consolas"/>
              </a:rPr>
              <a:t>node index.js</a:t>
            </a:r>
            <a:endParaRPr sz="1200" b="0" i="0">
              <a:solidFill>
                <a:srgbClr val="5B6B7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30" name="圆角矩形 29"/>
          <p:cNvSpPr>
            <a:spLocks noGrp="1"/>
          </p:cNvSpPr>
          <p:nvPr/>
        </p:nvSpPr>
        <p:spPr>
          <a:xfrm>
            <a:off x="4476750" y="1371600"/>
            <a:ext cx="7219950" cy="4438650"/>
          </a:xfrm>
          <a:prstGeom prst="roundRect">
            <a:avLst>
              <a:gd name="adj" fmla="val 2575"/>
            </a:avLst>
          </a:prstGeom>
          <a:solidFill>
            <a:srgbClr val="102A4D"/>
          </a:solidFill>
          <a:ln w="0">
            <a:solidFill>
              <a:srgbClr val="102A4D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4800600" y="16954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425" b="1" i="0">
                <a:solidFill>
                  <a:srgbClr val="F4C542"/>
                </a:solidFill>
                <a:latin typeface="Consolas"/>
                <a:ea typeface="Consolas"/>
                <a:cs typeface="Consolas"/>
              </a:defRPr>
            </a:pPr>
            <a:r>
              <a:rPr sz="1425" b="1" i="0">
                <a:solidFill>
                  <a:srgbClr val="F4C542"/>
                </a:solidFill>
                <a:latin typeface="Consolas"/>
                <a:ea typeface="Consolas"/>
                <a:cs typeface="Consolas"/>
              </a:rPr>
              <a:t>index.js</a:t>
            </a:r>
            <a:endParaRPr sz="1425" b="1" i="0">
              <a:solidFill>
                <a:srgbClr val="F4C542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4800600" y="2133600"/>
            <a:ext cx="659130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350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const express = require('express');</a:t>
            </a:r>
            <a:endParaRPr sz="1350" b="0" i="0">
              <a:solidFill>
                <a:srgbClr val="FFFFFF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350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const app = express();</a:t>
            </a:r>
            <a:endParaRPr sz="1350" b="0" i="0">
              <a:solidFill>
                <a:srgbClr val="FFFFFF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350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const port = 3000;</a:t>
            </a:r>
            <a:endParaRPr sz="1350" b="0" i="0">
              <a:solidFill>
                <a:srgbClr val="FFFFFF"/>
              </a:solidFill>
              <a:latin typeface="Consolas"/>
              <a:ea typeface="Consolas"/>
              <a:cs typeface="Consolas"/>
            </a:endParaRPr>
          </a:p>
          <a:p>
            <a:endParaRPr sz="1350"/>
          </a:p>
          <a:p>
            <a:pPr algn="l">
              <a:defRPr sz="1350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app.get('/', (req, res) =&gt; {</a:t>
            </a:r>
            <a:endParaRPr sz="1350" b="0" i="0">
              <a:solidFill>
                <a:srgbClr val="FFFFFF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350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res.send('Hello, Feynman Learner!');</a:t>
            </a:r>
            <a:endParaRPr sz="1350" b="0" i="0">
              <a:solidFill>
                <a:srgbClr val="FFFFFF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350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});</a:t>
            </a:r>
            <a:endParaRPr sz="1350" b="0" i="0">
              <a:solidFill>
                <a:srgbClr val="FFFFFF"/>
              </a:solidFill>
              <a:latin typeface="Consolas"/>
              <a:ea typeface="Consolas"/>
              <a:cs typeface="Consolas"/>
            </a:endParaRPr>
          </a:p>
          <a:p>
            <a:endParaRPr sz="1350"/>
          </a:p>
          <a:p>
            <a:pPr algn="l">
              <a:defRPr sz="1350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app.listen(port, () =&gt; {</a:t>
            </a:r>
            <a:endParaRPr sz="1350" b="0" i="0">
              <a:solidFill>
                <a:srgbClr val="FFFFFF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350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console.log(`running at http://localhost:${port}`);</a:t>
            </a:r>
            <a:endParaRPr sz="1350" b="0" i="0">
              <a:solidFill>
                <a:srgbClr val="FFFFFF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350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});</a:t>
            </a:r>
            <a:endParaRPr sz="1350" b="0" i="0">
              <a:solidFill>
                <a:srgbClr val="FFFFF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4800600" y="4895850"/>
            <a:ext cx="6591300" cy="9525"/>
          </a:xfrm>
          <a:prstGeom prst="rect">
            <a:avLst/>
          </a:prstGeom>
          <a:solidFill>
            <a:srgbClr val="315A86"/>
          </a:solidFill>
          <a:ln w="0">
            <a:solidFill>
              <a:srgbClr val="315A86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4800600" y="5143500"/>
            <a:ext cx="76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75" b="1" i="0">
                <a:solidFill>
                  <a:srgbClr val="F4C542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 i="0">
                <a:solidFill>
                  <a:srgbClr val="F4C542"/>
                </a:solidFill>
                <a:latin typeface="微软雅黑"/>
                <a:ea typeface="微软雅黑"/>
                <a:cs typeface="微软雅黑"/>
              </a:rPr>
              <a:t>验证</a:t>
            </a:r>
            <a:endParaRPr sz="1275" b="1" i="0">
              <a:solidFill>
                <a:srgbClr val="F4C54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5657850" y="5124450"/>
            <a:ext cx="561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75" b="0" i="0">
                <a:solidFill>
                  <a:srgbClr val="DCEBFA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DCEBFA"/>
                </a:solidFill>
                <a:latin typeface="Consolas"/>
                <a:ea typeface="Consolas"/>
                <a:cs typeface="Consolas"/>
              </a:rPr>
              <a:t>浏览器访问 http://localhost:3000/，返回 Hello, Feynman Learner!</a:t>
            </a:r>
            <a:endParaRPr sz="1275" b="0" i="0">
              <a:solidFill>
                <a:srgbClr val="DCEBFA"/>
              </a:solidFill>
              <a:latin typeface="Consolas"/>
              <a:ea typeface="Consolas"/>
              <a:cs typeface="Consola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4" name="矩形 33"/>
          <p:cNvSpPr>
            <a:spLocks noGrp="1"/>
          </p:cNvSpPr>
          <p:nvPr/>
        </p:nvSpPr>
        <p:spPr>
          <a:xfrm>
            <a:off x="457200" y="361950"/>
            <a:ext cx="76200" cy="514350"/>
          </a:xfrm>
          <a:prstGeom prst="rect">
            <a:avLst/>
          </a:prstGeom>
          <a:solidFill>
            <a:srgbClr val="C44E52"/>
          </a:solidFill>
          <a:ln w="0">
            <a:solidFill>
              <a:srgbClr val="C44E52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47700" y="457200"/>
            <a:ext cx="609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2250" b="1" i="0">
                <a:solidFill>
                  <a:srgbClr val="C44E52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 i="0">
                <a:solidFill>
                  <a:srgbClr val="C44E52"/>
                </a:solidFill>
                <a:latin typeface="微软雅黑"/>
                <a:ea typeface="微软雅黑"/>
                <a:cs typeface="微软雅黑"/>
              </a:rPr>
              <a:t>11</a:t>
            </a:r>
            <a:endParaRPr sz="2250" b="1" i="0">
              <a:solidFill>
                <a:srgbClr val="C44E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333500" y="36195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125" b="1" i="0">
                <a:solidFill>
                  <a:srgbClr val="2F69A6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2F69A6"/>
                </a:solidFill>
                <a:latin typeface="Consolas"/>
                <a:ea typeface="Consolas"/>
                <a:cs typeface="Consolas"/>
              </a:rPr>
              <a:t>01 · GIT</a:t>
            </a:r>
            <a:endParaRPr sz="1125" b="1" i="0">
              <a:solidFill>
                <a:srgbClr val="2F69A6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333500" y="552450"/>
            <a:ext cx="9810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2550" b="1" i="0">
                <a:solidFill>
                  <a:srgbClr val="17345F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 i="0">
                <a:solidFill>
                  <a:srgbClr val="17345F"/>
                </a:solidFill>
                <a:latin typeface="微软雅黑"/>
                <a:ea typeface="微软雅黑"/>
                <a:cs typeface="微软雅黑"/>
              </a:rPr>
              <a:t>Git：第一版代码的可回退快照</a:t>
            </a:r>
            <a:endParaRPr sz="2550" b="1" i="0">
              <a:solidFill>
                <a:srgbClr val="17345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0" y="6534150"/>
            <a:ext cx="12192000" cy="9525"/>
          </a:xfrm>
          <a:prstGeom prst="rect">
            <a:avLst/>
          </a:prstGeom>
          <a:solidFill>
            <a:srgbClr val="DCE3EB"/>
          </a:solidFill>
          <a:ln w="0">
            <a:solidFill>
              <a:srgbClr val="DCE3EB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457200" y="662940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975" b="0" i="0">
                <a:solidFill>
                  <a:srgbClr val="5B6B7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 i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《大前端与AI实战》 · 第一次课程</a:t>
            </a:r>
            <a:endParaRPr sz="975" b="0" i="0">
              <a:solidFill>
                <a:srgbClr val="5B6B7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953750" y="6629400"/>
            <a:ext cx="781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defRPr sz="975" b="0" i="0">
                <a:solidFill>
                  <a:srgbClr val="5B6B7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 i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11 / 13</a:t>
            </a:r>
            <a:endParaRPr sz="975" b="0" i="0">
              <a:solidFill>
                <a:srgbClr val="5B6B7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57200" y="1238250"/>
            <a:ext cx="742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75" b="0" i="0">
                <a:solidFill>
                  <a:srgbClr val="1F2F45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 i="0">
                <a:solidFill>
                  <a:srgbClr val="1F2F45"/>
                </a:solidFill>
                <a:latin typeface="微软雅黑"/>
                <a:ea typeface="微软雅黑"/>
                <a:cs typeface="微软雅黑"/>
              </a:rPr>
              <a:t>Git 记录意图，也保护你在迭代中的每一次进展</a:t>
            </a:r>
            <a:endParaRPr sz="1575" b="0" i="0">
              <a:solidFill>
                <a:srgbClr val="1F2F4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457200" y="2057400"/>
            <a:ext cx="224790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666750" y="22669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350" b="1" i="0">
                <a:solidFill>
                  <a:srgbClr val="2F69A6"/>
                </a:solidFill>
                <a:latin typeface="Consolas"/>
                <a:ea typeface="Consolas"/>
                <a:cs typeface="Consolas"/>
              </a:defRPr>
            </a:pPr>
            <a:r>
              <a:rPr sz="1350" b="1" i="0">
                <a:solidFill>
                  <a:srgbClr val="2F69A6"/>
                </a:solidFill>
                <a:latin typeface="Consolas"/>
                <a:ea typeface="Consolas"/>
                <a:cs typeface="Consolas"/>
              </a:rPr>
              <a:t>01</a:t>
            </a:r>
            <a:endParaRPr sz="1350" b="1" i="0">
              <a:solidFill>
                <a:srgbClr val="2F69A6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66750" y="2647950"/>
            <a:ext cx="1828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75" b="1" i="0">
                <a:solidFill>
                  <a:srgbClr val="17345F"/>
                </a:solidFill>
                <a:latin typeface="Consolas"/>
                <a:ea typeface="Consolas"/>
                <a:cs typeface="Consolas"/>
              </a:defRPr>
            </a:pPr>
            <a:r>
              <a:rPr sz="1575" b="1" i="0">
                <a:solidFill>
                  <a:srgbClr val="17345F"/>
                </a:solidFill>
                <a:latin typeface="Consolas"/>
                <a:ea typeface="Consolas"/>
                <a:cs typeface="Consolas"/>
              </a:rPr>
              <a:t>git init</a:t>
            </a:r>
            <a:endParaRPr sz="1575" b="1" i="0">
              <a:solidFill>
                <a:srgbClr val="17345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66750" y="3048000"/>
            <a:ext cx="1828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00" b="0" i="0">
                <a:solidFill>
                  <a:srgbClr val="5B6B7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 i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初始化仓库</a:t>
            </a:r>
            <a:endParaRPr sz="1200" b="0" i="0">
              <a:solidFill>
                <a:srgbClr val="5B6B7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3181350" y="2057400"/>
            <a:ext cx="224790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3390900" y="22669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350" b="1" i="0">
                <a:solidFill>
                  <a:srgbClr val="2F69A6"/>
                </a:solidFill>
                <a:latin typeface="Consolas"/>
                <a:ea typeface="Consolas"/>
                <a:cs typeface="Consolas"/>
              </a:defRPr>
            </a:pPr>
            <a:r>
              <a:rPr sz="1350" b="1" i="0">
                <a:solidFill>
                  <a:srgbClr val="2F69A6"/>
                </a:solidFill>
                <a:latin typeface="Consolas"/>
                <a:ea typeface="Consolas"/>
                <a:cs typeface="Consolas"/>
              </a:rPr>
              <a:t>02</a:t>
            </a:r>
            <a:endParaRPr sz="1350" b="1" i="0">
              <a:solidFill>
                <a:srgbClr val="2F69A6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3390900" y="2647950"/>
            <a:ext cx="1828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75" b="1" i="0">
                <a:solidFill>
                  <a:srgbClr val="17345F"/>
                </a:solidFill>
                <a:latin typeface="Consolas"/>
                <a:ea typeface="Consolas"/>
                <a:cs typeface="Consolas"/>
              </a:defRPr>
            </a:pPr>
            <a:r>
              <a:rPr sz="1575" b="1" i="0">
                <a:solidFill>
                  <a:srgbClr val="17345F"/>
                </a:solidFill>
                <a:latin typeface="Consolas"/>
                <a:ea typeface="Consolas"/>
                <a:cs typeface="Consolas"/>
              </a:rPr>
              <a:t>.gitignore</a:t>
            </a:r>
            <a:endParaRPr sz="1575" b="1" i="0">
              <a:solidFill>
                <a:srgbClr val="17345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3390900" y="3048000"/>
            <a:ext cx="1828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00" b="0" i="0">
                <a:solidFill>
                  <a:srgbClr val="5B6B7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 i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忽略 node_modules / .env</a:t>
            </a:r>
            <a:endParaRPr sz="1200" b="0" i="0">
              <a:solidFill>
                <a:srgbClr val="5B6B7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5905500" y="2057400"/>
            <a:ext cx="224790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6115050" y="22669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350" b="1" i="0">
                <a:solidFill>
                  <a:srgbClr val="2F69A6"/>
                </a:solidFill>
                <a:latin typeface="Consolas"/>
                <a:ea typeface="Consolas"/>
                <a:cs typeface="Consolas"/>
              </a:defRPr>
            </a:pPr>
            <a:r>
              <a:rPr sz="1350" b="1" i="0">
                <a:solidFill>
                  <a:srgbClr val="2F69A6"/>
                </a:solidFill>
                <a:latin typeface="Consolas"/>
                <a:ea typeface="Consolas"/>
                <a:cs typeface="Consolas"/>
              </a:rPr>
              <a:t>03</a:t>
            </a:r>
            <a:endParaRPr sz="1350" b="1" i="0">
              <a:solidFill>
                <a:srgbClr val="2F69A6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115050" y="2647950"/>
            <a:ext cx="1828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75" b="1" i="0">
                <a:solidFill>
                  <a:srgbClr val="17345F"/>
                </a:solidFill>
                <a:latin typeface="Consolas"/>
                <a:ea typeface="Consolas"/>
                <a:cs typeface="Consolas"/>
              </a:defRPr>
            </a:pPr>
            <a:r>
              <a:rPr sz="1575" b="1" i="0">
                <a:solidFill>
                  <a:srgbClr val="17345F"/>
                </a:solidFill>
                <a:latin typeface="Consolas"/>
                <a:ea typeface="Consolas"/>
                <a:cs typeface="Consolas"/>
              </a:rPr>
              <a:t>git add .</a:t>
            </a:r>
            <a:endParaRPr sz="1575" b="1" i="0">
              <a:solidFill>
                <a:srgbClr val="17345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115050" y="3048000"/>
            <a:ext cx="1828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00" b="0" i="0">
                <a:solidFill>
                  <a:srgbClr val="5B6B7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 i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加入暂存区</a:t>
            </a:r>
            <a:endParaRPr sz="1200" b="0" i="0">
              <a:solidFill>
                <a:srgbClr val="5B6B7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8629650" y="2057400"/>
            <a:ext cx="2247900" cy="1428750"/>
          </a:xfrm>
          <a:prstGeom prst="roundRect">
            <a:avLst>
              <a:gd name="adj" fmla="val 8000"/>
            </a:avLst>
          </a:prstGeom>
          <a:solidFill>
            <a:srgbClr val="FFF8E1"/>
          </a:solidFill>
          <a:ln w="9525">
            <a:solidFill>
              <a:srgbClr val="E8C85A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8839200" y="22669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350" b="1" i="0">
                <a:solidFill>
                  <a:srgbClr val="C44E52"/>
                </a:solidFill>
                <a:latin typeface="Consolas"/>
                <a:ea typeface="Consolas"/>
                <a:cs typeface="Consolas"/>
              </a:defRPr>
            </a:pPr>
            <a:r>
              <a:rPr sz="1350" b="1" i="0">
                <a:solidFill>
                  <a:srgbClr val="C44E52"/>
                </a:solidFill>
                <a:latin typeface="Consolas"/>
                <a:ea typeface="Consolas"/>
                <a:cs typeface="Consolas"/>
              </a:rPr>
              <a:t>04</a:t>
            </a:r>
            <a:endParaRPr sz="1350" b="1" i="0">
              <a:solidFill>
                <a:srgbClr val="C44E52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839200" y="2647950"/>
            <a:ext cx="1828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75" b="1" i="0">
                <a:solidFill>
                  <a:srgbClr val="17345F"/>
                </a:solidFill>
                <a:latin typeface="Consolas"/>
                <a:ea typeface="Consolas"/>
                <a:cs typeface="Consolas"/>
              </a:defRPr>
            </a:pPr>
            <a:r>
              <a:rPr sz="1575" b="1" i="0">
                <a:solidFill>
                  <a:srgbClr val="17345F"/>
                </a:solidFill>
                <a:latin typeface="Consolas"/>
                <a:ea typeface="Consolas"/>
                <a:cs typeface="Consolas"/>
              </a:rPr>
              <a:t>git commit</a:t>
            </a:r>
            <a:endParaRPr sz="1575" b="1" i="0">
              <a:solidFill>
                <a:srgbClr val="17345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839200" y="3048000"/>
            <a:ext cx="1828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00" b="0" i="0">
                <a:solidFill>
                  <a:srgbClr val="5B6B7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 i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保存第一版快照</a:t>
            </a:r>
            <a:endParaRPr sz="1200" b="0" i="0">
              <a:solidFill>
                <a:srgbClr val="5B6B7F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58" name="直接箭头连接符 57"/>
          <p:cNvCxnSpPr>
            <a:stCxn id="9" idx="3"/>
            <a:endCxn id="13" idx="1"/>
          </p:cNvCxnSpPr>
          <p:nvPr/>
        </p:nvCxnSpPr>
        <p:spPr>
          <a:xfrm>
            <a:off x="2705100" y="2771775"/>
            <a:ext cx="476250" cy="0"/>
          </a:xfrm>
          <a:prstGeom prst="straightConnector1">
            <a:avLst/>
          </a:prstGeom>
          <a:ln w="19050">
            <a:solidFill>
              <a:srgbClr val="2F69A6"/>
            </a:solidFill>
            <a:prstDash val="solid"/>
            <a:tailEnd type="triangle" w="sm" len="sm"/>
          </a:ln>
        </p:spPr>
      </p:cxnSp>
      <p:cxnSp>
        <p:nvCxnSpPr>
          <p:cNvPr id="59" name="直接箭头连接符 58"/>
          <p:cNvCxnSpPr>
            <a:stCxn id="13" idx="3"/>
            <a:endCxn id="17" idx="1"/>
          </p:cNvCxnSpPr>
          <p:nvPr/>
        </p:nvCxnSpPr>
        <p:spPr>
          <a:xfrm>
            <a:off x="5429250" y="2771775"/>
            <a:ext cx="476250" cy="0"/>
          </a:xfrm>
          <a:prstGeom prst="straightConnector1">
            <a:avLst/>
          </a:prstGeom>
          <a:ln w="19050">
            <a:solidFill>
              <a:srgbClr val="2F69A6"/>
            </a:solidFill>
            <a:prstDash val="solid"/>
            <a:tailEnd type="triangle" w="sm" len="sm"/>
          </a:ln>
        </p:spPr>
      </p:cxnSp>
      <p:cxnSp>
        <p:nvCxnSpPr>
          <p:cNvPr id="60" name="直接箭头连接符 59"/>
          <p:cNvCxnSpPr>
            <a:stCxn id="17" idx="3"/>
            <a:endCxn id="21" idx="1"/>
          </p:cNvCxnSpPr>
          <p:nvPr/>
        </p:nvCxnSpPr>
        <p:spPr>
          <a:xfrm>
            <a:off x="8153400" y="2771775"/>
            <a:ext cx="476250" cy="0"/>
          </a:xfrm>
          <a:prstGeom prst="straightConnector1">
            <a:avLst/>
          </a:prstGeom>
          <a:ln w="19050">
            <a:solidFill>
              <a:srgbClr val="2F69A6"/>
            </a:solidFill>
            <a:prstDash val="solid"/>
            <a:tailEnd type="triangle" w="sm" len="sm"/>
          </a:ln>
        </p:spPr>
      </p:cxnSp>
      <p:sp>
        <p:nvSpPr>
          <p:cNvPr id="28" name="圆角矩形 27"/>
          <p:cNvSpPr>
            <a:spLocks noGrp="1"/>
          </p:cNvSpPr>
          <p:nvPr/>
        </p:nvSpPr>
        <p:spPr>
          <a:xfrm>
            <a:off x="457200" y="4095750"/>
            <a:ext cx="6477000" cy="1562100"/>
          </a:xfrm>
          <a:prstGeom prst="roundRect">
            <a:avLst>
              <a:gd name="adj" fmla="val 7317"/>
            </a:avLst>
          </a:prstGeom>
          <a:solidFill>
            <a:srgbClr val="17345F"/>
          </a:solidFill>
          <a:ln w="9525">
            <a:solidFill>
              <a:srgbClr val="17345F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742950" y="4362450"/>
            <a:ext cx="190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75" b="1" i="0">
                <a:solidFill>
                  <a:srgbClr val="F4C542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 i="0">
                <a:solidFill>
                  <a:srgbClr val="F4C542"/>
                </a:solidFill>
                <a:latin typeface="微软雅黑"/>
                <a:ea typeface="微软雅黑"/>
                <a:cs typeface="微软雅黑"/>
              </a:rPr>
              <a:t>提交信息示例</a:t>
            </a:r>
            <a:endParaRPr sz="1275" b="1" i="0">
              <a:solidFill>
                <a:srgbClr val="F4C54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742950" y="4781550"/>
            <a:ext cx="5810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00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git commit -m "feat: setup basic express server and hello world api"</a:t>
            </a:r>
            <a:endParaRPr sz="1200" b="0" i="0">
              <a:solidFill>
                <a:srgbClr val="FFFFF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7353300" y="4095750"/>
            <a:ext cx="4343400" cy="1562100"/>
          </a:xfrm>
          <a:prstGeom prst="roundRect">
            <a:avLst>
              <a:gd name="adj" fmla="val 7317"/>
            </a:avLst>
          </a:prstGeom>
          <a:solidFill>
            <a:srgbClr val="E8F4FF"/>
          </a:solidFill>
          <a:ln w="9525">
            <a:solidFill>
              <a:srgbClr val="C9DDF0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7639050" y="436245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00" b="1" i="0">
                <a:solidFill>
                  <a:srgbClr val="17345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 i="0">
                <a:solidFill>
                  <a:srgbClr val="17345F"/>
                </a:solidFill>
                <a:latin typeface="微软雅黑"/>
                <a:ea typeface="微软雅黑"/>
                <a:cs typeface="微软雅黑"/>
              </a:rPr>
              <a:t>为什么要忽略？</a:t>
            </a:r>
            <a:endParaRPr sz="1500" b="1" i="0">
              <a:solidFill>
                <a:srgbClr val="17345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7639050" y="4762500"/>
            <a:ext cx="3619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marL="228600" indent="-114300">
              <a:spcAft>
                <a:spcPts val="300"/>
              </a:spcAft>
              <a:buChar char="•"/>
              <a:defRPr sz="1200" b="0">
                <a:solidFill>
                  <a:srgbClr val="1F2F45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F2F45"/>
                </a:solidFill>
                <a:latin typeface="微软雅黑"/>
                <a:ea typeface="微软雅黑"/>
                <a:cs typeface="微软雅黑"/>
              </a:rPr>
              <a:t>node_modules 可由 npm install 重新生成</a:t>
            </a:r>
            <a:endParaRPr sz="1200" b="0">
              <a:solidFill>
                <a:srgbClr val="1F2F45"/>
              </a:solidFill>
              <a:latin typeface="微软雅黑"/>
              <a:ea typeface="微软雅黑"/>
              <a:cs typeface="微软雅黑"/>
            </a:endParaRPr>
          </a:p>
          <a:p>
            <a:pPr marL="228600" indent="-114300">
              <a:spcAft>
                <a:spcPts val="300"/>
              </a:spcAft>
              <a:buChar char="•"/>
              <a:defRPr sz="1200" b="0">
                <a:solidFill>
                  <a:srgbClr val="1F2F45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F2F45"/>
                </a:solidFill>
                <a:latin typeface="微软雅黑"/>
                <a:ea typeface="微软雅黑"/>
                <a:cs typeface="微软雅黑"/>
              </a:rPr>
              <a:t>.env 可能包含密钥，不能入库</a:t>
            </a:r>
            <a:endParaRPr sz="1200" b="0">
              <a:solidFill>
                <a:srgbClr val="1F2F45"/>
              </a:solidFill>
              <a:latin typeface="微软雅黑"/>
              <a:ea typeface="微软雅黑"/>
              <a:cs typeface="微软雅黑"/>
            </a:endParaRPr>
          </a:p>
          <a:p>
            <a:pPr marL="228600" indent="-114300">
              <a:spcAft>
                <a:spcPts val="300"/>
              </a:spcAft>
              <a:buChar char="•"/>
              <a:defRPr sz="1200" b="0">
                <a:solidFill>
                  <a:srgbClr val="1F2F45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F2F45"/>
                </a:solidFill>
                <a:latin typeface="微软雅黑"/>
                <a:ea typeface="微软雅黑"/>
                <a:cs typeface="微软雅黑"/>
              </a:rPr>
              <a:t>清晰的 commit message 便于回顾</a:t>
            </a:r>
            <a:endParaRPr sz="1200" b="0">
              <a:solidFill>
                <a:srgbClr val="1F2F45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1" name="矩形 30"/>
          <p:cNvSpPr>
            <a:spLocks noGrp="1"/>
          </p:cNvSpPr>
          <p:nvPr/>
        </p:nvSpPr>
        <p:spPr>
          <a:xfrm>
            <a:off x="457200" y="361950"/>
            <a:ext cx="76200" cy="514350"/>
          </a:xfrm>
          <a:prstGeom prst="rect">
            <a:avLst/>
          </a:prstGeom>
          <a:solidFill>
            <a:srgbClr val="C44E52"/>
          </a:solidFill>
          <a:ln w="0">
            <a:solidFill>
              <a:srgbClr val="C44E52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47700" y="457200"/>
            <a:ext cx="609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2250" b="1" i="0">
                <a:solidFill>
                  <a:srgbClr val="C44E52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 i="0">
                <a:solidFill>
                  <a:srgbClr val="C44E52"/>
                </a:solidFill>
                <a:latin typeface="微软雅黑"/>
                <a:ea typeface="微软雅黑"/>
                <a:cs typeface="微软雅黑"/>
              </a:rPr>
              <a:t>12</a:t>
            </a:r>
            <a:endParaRPr sz="2250" b="1" i="0">
              <a:solidFill>
                <a:srgbClr val="C44E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333500" y="36195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125" b="1" i="0">
                <a:solidFill>
                  <a:srgbClr val="2F69A6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2F69A6"/>
                </a:solidFill>
                <a:latin typeface="Consolas"/>
                <a:ea typeface="Consolas"/>
                <a:cs typeface="Consolas"/>
              </a:rPr>
              <a:t>01 · WORKSPACE CHECK</a:t>
            </a:r>
            <a:endParaRPr sz="1125" b="1" i="0">
              <a:solidFill>
                <a:srgbClr val="2F69A6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333500" y="552450"/>
            <a:ext cx="9810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2550" b="1" i="0">
                <a:solidFill>
                  <a:srgbClr val="17345F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 i="0">
                <a:solidFill>
                  <a:srgbClr val="17345F"/>
                </a:solidFill>
                <a:latin typeface="微软雅黑"/>
                <a:ea typeface="微软雅黑"/>
                <a:cs typeface="微软雅黑"/>
              </a:rPr>
              <a:t>当前工作区的可验证成果</a:t>
            </a:r>
            <a:endParaRPr sz="2550" b="1" i="0">
              <a:solidFill>
                <a:srgbClr val="17345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0" y="6534150"/>
            <a:ext cx="12192000" cy="9525"/>
          </a:xfrm>
          <a:prstGeom prst="rect">
            <a:avLst/>
          </a:prstGeom>
          <a:solidFill>
            <a:srgbClr val="DCE3EB"/>
          </a:solidFill>
          <a:ln w="0">
            <a:solidFill>
              <a:srgbClr val="DCE3EB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457200" y="662940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975" b="0" i="0">
                <a:solidFill>
                  <a:srgbClr val="5B6B7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 i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《大前端与AI实战》 · 第一次课程</a:t>
            </a:r>
            <a:endParaRPr sz="975" b="0" i="0">
              <a:solidFill>
                <a:srgbClr val="5B6B7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953750" y="6629400"/>
            <a:ext cx="781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defRPr sz="975" b="0" i="0">
                <a:solidFill>
                  <a:srgbClr val="5B6B7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 i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12 / 13</a:t>
            </a:r>
            <a:endParaRPr sz="975" b="0" i="0">
              <a:solidFill>
                <a:srgbClr val="5B6B7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57200" y="1238250"/>
            <a:ext cx="914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00" b="0" i="0">
                <a:solidFill>
                  <a:srgbClr val="1F2F45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 i="0">
                <a:solidFill>
                  <a:srgbClr val="1F2F45"/>
                </a:solidFill>
                <a:latin typeface="微软雅黑"/>
                <a:ea typeface="微软雅黑"/>
                <a:cs typeface="微软雅黑"/>
              </a:rPr>
              <a:t>当前工程已经覆盖第 1–3 课的后端骨架，本次 PPT 以第 1 课为主线呈现</a:t>
            </a:r>
            <a:endParaRPr sz="1500" b="0" i="0">
              <a:solidFill>
                <a:srgbClr val="1F2F4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457200" y="1752600"/>
            <a:ext cx="4953000" cy="3714750"/>
          </a:xfrm>
          <a:prstGeom prst="roundRect">
            <a:avLst>
              <a:gd name="adj" fmla="val 3077"/>
            </a:avLst>
          </a:prstGeom>
          <a:solidFill>
            <a:srgbClr val="102A4D"/>
          </a:solidFill>
          <a:ln w="0">
            <a:solidFill>
              <a:srgbClr val="102A4D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42950" y="2076450"/>
            <a:ext cx="3810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00" b="1" i="0">
                <a:solidFill>
                  <a:srgbClr val="F4C542"/>
                </a:solidFill>
                <a:latin typeface="Consolas"/>
                <a:ea typeface="Consolas"/>
                <a:cs typeface="Consolas"/>
              </a:defRPr>
            </a:pPr>
            <a:r>
              <a:rPr sz="1500" b="1" i="0">
                <a:solidFill>
                  <a:srgbClr val="F4C542"/>
                </a:solidFill>
                <a:latin typeface="Consolas"/>
                <a:ea typeface="Consolas"/>
                <a:cs typeface="Consolas"/>
              </a:rPr>
              <a:t>feynman-platform-backend/</a:t>
            </a:r>
            <a:endParaRPr sz="1500" b="1" i="0">
              <a:solidFill>
                <a:srgbClr val="F4C542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42950" y="2533650"/>
            <a:ext cx="4191000" cy="2514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├─ index.js</a:t>
            </a:r>
            <a:endParaRPr sz="1275" b="0" i="0">
              <a:solidFill>
                <a:srgbClr val="FFFFFF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2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├─ models/</a:t>
            </a:r>
            <a:endParaRPr sz="1275" b="0" i="0">
              <a:solidFill>
                <a:srgbClr val="FFFFFF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2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│  ├─ User.js</a:t>
            </a:r>
            <a:endParaRPr sz="1275" b="0" i="0">
              <a:solidFill>
                <a:srgbClr val="FFFFFF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2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│  └─ KnowledgePoint.js</a:t>
            </a:r>
            <a:endParaRPr sz="1275" b="0" i="0">
              <a:solidFill>
                <a:srgbClr val="FFFFFF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2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├─ routes/</a:t>
            </a:r>
            <a:endParaRPr sz="1275" b="0" i="0">
              <a:solidFill>
                <a:srgbClr val="FFFFFF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2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│  ├─ users.js</a:t>
            </a:r>
            <a:endParaRPr sz="1275" b="0" i="0">
              <a:solidFill>
                <a:srgbClr val="FFFFFF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2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│  └─ knowledgePoints.js</a:t>
            </a:r>
            <a:endParaRPr sz="1275" b="0" i="0">
              <a:solidFill>
                <a:srgbClr val="FFFFFF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2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├─ middleware/ · utils/</a:t>
            </a:r>
            <a:endParaRPr sz="1275" b="0" i="0">
              <a:solidFill>
                <a:srgbClr val="FFFFFF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2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├─ README.md · errata.md</a:t>
            </a:r>
            <a:endParaRPr sz="1275" b="0" i="0">
              <a:solidFill>
                <a:srgbClr val="FFFFFF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2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└─ .env.example · .gitignore</a:t>
            </a:r>
            <a:endParaRPr sz="1275" b="0" i="0">
              <a:solidFill>
                <a:srgbClr val="FFFFF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5867400" y="1752600"/>
            <a:ext cx="5829300" cy="371475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C9D4E0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6191250" y="207645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725" b="1" i="0">
                <a:solidFill>
                  <a:srgbClr val="17345F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 i="0">
                <a:solidFill>
                  <a:srgbClr val="17345F"/>
                </a:solidFill>
                <a:latin typeface="微软雅黑"/>
                <a:ea typeface="微软雅黑"/>
                <a:cs typeface="微软雅黑"/>
              </a:rPr>
              <a:t>基础验证</a:t>
            </a:r>
            <a:endParaRPr sz="1725" b="1" i="0">
              <a:solidFill>
                <a:srgbClr val="17345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191250" y="2647950"/>
            <a:ext cx="685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125" b="1" i="0">
                <a:solidFill>
                  <a:srgbClr val="25804B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25804B"/>
                </a:solidFill>
                <a:latin typeface="Consolas"/>
                <a:ea typeface="Consolas"/>
                <a:cs typeface="Consolas"/>
              </a:rPr>
              <a:t>PASS</a:t>
            </a:r>
            <a:endParaRPr sz="1125" b="1" i="0">
              <a:solidFill>
                <a:srgbClr val="25804B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067550" y="2628900"/>
            <a:ext cx="3524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350" b="1" i="0">
                <a:solidFill>
                  <a:srgbClr val="17345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 i="0">
                <a:solidFill>
                  <a:srgbClr val="17345F"/>
                </a:solidFill>
                <a:latin typeface="微软雅黑"/>
                <a:ea typeface="微软雅黑"/>
                <a:cs typeface="微软雅黑"/>
              </a:rPr>
              <a:t>所有 .js 语法检查通过</a:t>
            </a:r>
            <a:endParaRPr sz="1350" b="1" i="0">
              <a:solidFill>
                <a:srgbClr val="17345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067550" y="2905125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125" b="0" i="0">
                <a:solidFill>
                  <a:srgbClr val="5B6B7F"/>
                </a:solidFill>
                <a:latin typeface="Consolas"/>
                <a:ea typeface="Consolas"/>
                <a:cs typeface="Consolas"/>
              </a:defRPr>
            </a:pPr>
            <a:r>
              <a:rPr sz="1125" b="0" i="0">
                <a:solidFill>
                  <a:srgbClr val="5B6B7F"/>
                </a:solidFill>
                <a:latin typeface="Consolas"/>
                <a:ea typeface="Consolas"/>
                <a:cs typeface="Consolas"/>
              </a:rPr>
              <a:t>node --check</a:t>
            </a:r>
            <a:endParaRPr sz="1125" b="0" i="0">
              <a:solidFill>
                <a:srgbClr val="5B6B7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191250" y="3143250"/>
            <a:ext cx="5048250" cy="9525"/>
          </a:xfrm>
          <a:prstGeom prst="rect">
            <a:avLst/>
          </a:prstGeom>
          <a:solidFill>
            <a:srgbClr val="DCE3EB"/>
          </a:solidFill>
          <a:ln w="0">
            <a:solidFill>
              <a:srgbClr val="DCE3EB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6191250" y="3295650"/>
            <a:ext cx="685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125" b="1" i="0">
                <a:solidFill>
                  <a:srgbClr val="25804B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25804B"/>
                </a:solidFill>
                <a:latin typeface="Consolas"/>
                <a:ea typeface="Consolas"/>
                <a:cs typeface="Consolas"/>
              </a:rPr>
              <a:t>PASS</a:t>
            </a:r>
            <a:endParaRPr sz="1125" b="1" i="0">
              <a:solidFill>
                <a:srgbClr val="25804B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067550" y="3276600"/>
            <a:ext cx="3524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350" b="1" i="0">
                <a:solidFill>
                  <a:srgbClr val="17345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 i="0">
                <a:solidFill>
                  <a:srgbClr val="17345F"/>
                </a:solidFill>
                <a:latin typeface="微软雅黑"/>
                <a:ea typeface="微软雅黑"/>
                <a:cs typeface="微软雅黑"/>
              </a:rPr>
              <a:t>根路由可用</a:t>
            </a:r>
            <a:endParaRPr sz="1350" b="1" i="0">
              <a:solidFill>
                <a:srgbClr val="17345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067550" y="3552825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125" b="0" i="0">
                <a:solidFill>
                  <a:srgbClr val="5B6B7F"/>
                </a:solidFill>
                <a:latin typeface="Consolas"/>
                <a:ea typeface="Consolas"/>
                <a:cs typeface="Consolas"/>
              </a:defRPr>
            </a:pPr>
            <a:r>
              <a:rPr sz="1125" b="0" i="0">
                <a:solidFill>
                  <a:srgbClr val="5B6B7F"/>
                </a:solidFill>
                <a:latin typeface="Consolas"/>
                <a:ea typeface="Consolas"/>
                <a:cs typeface="Consolas"/>
              </a:rPr>
              <a:t>GET / → Hello, Feynman Learner!</a:t>
            </a:r>
            <a:endParaRPr sz="1125" b="0" i="0">
              <a:solidFill>
                <a:srgbClr val="5B6B7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191250" y="3790950"/>
            <a:ext cx="5048250" cy="9525"/>
          </a:xfrm>
          <a:prstGeom prst="rect">
            <a:avLst/>
          </a:prstGeom>
          <a:solidFill>
            <a:srgbClr val="DCE3EB"/>
          </a:solidFill>
          <a:ln w="0">
            <a:solidFill>
              <a:srgbClr val="DCE3EB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6191250" y="3943350"/>
            <a:ext cx="685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125" b="1" i="0">
                <a:solidFill>
                  <a:srgbClr val="25804B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25804B"/>
                </a:solidFill>
                <a:latin typeface="Consolas"/>
                <a:ea typeface="Consolas"/>
                <a:cs typeface="Consolas"/>
              </a:rPr>
              <a:t>PASS</a:t>
            </a:r>
            <a:endParaRPr sz="1125" b="1" i="0">
              <a:solidFill>
                <a:srgbClr val="25804B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067550" y="3924300"/>
            <a:ext cx="3524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350" b="1" i="0">
                <a:solidFill>
                  <a:srgbClr val="17345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 i="0">
                <a:solidFill>
                  <a:srgbClr val="17345F"/>
                </a:solidFill>
                <a:latin typeface="微软雅黑"/>
                <a:ea typeface="微软雅黑"/>
                <a:cs typeface="微软雅黑"/>
              </a:rPr>
              <a:t>认证中间件已挂载</a:t>
            </a:r>
            <a:endParaRPr sz="1350" b="1" i="0">
              <a:solidFill>
                <a:srgbClr val="17345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067550" y="4200525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125" b="0" i="0">
                <a:solidFill>
                  <a:srgbClr val="5B6B7F"/>
                </a:solidFill>
                <a:latin typeface="Consolas"/>
                <a:ea typeface="Consolas"/>
                <a:cs typeface="Consolas"/>
              </a:defRPr>
            </a:pPr>
            <a:r>
              <a:rPr sz="1125" b="0" i="0">
                <a:solidFill>
                  <a:srgbClr val="5B6B7F"/>
                </a:solidFill>
                <a:latin typeface="Consolas"/>
                <a:ea typeface="Consolas"/>
                <a:cs typeface="Consolas"/>
              </a:rPr>
              <a:t>未带 Token → 401</a:t>
            </a:r>
            <a:endParaRPr sz="1125" b="0" i="0">
              <a:solidFill>
                <a:srgbClr val="5B6B7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191250" y="4438650"/>
            <a:ext cx="5048250" cy="9525"/>
          </a:xfrm>
          <a:prstGeom prst="rect">
            <a:avLst/>
          </a:prstGeom>
          <a:solidFill>
            <a:srgbClr val="DCE3EB"/>
          </a:solidFill>
          <a:ln w="0">
            <a:solidFill>
              <a:srgbClr val="DCE3EB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6191250" y="4591050"/>
            <a:ext cx="685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125" b="1" i="0">
                <a:solidFill>
                  <a:srgbClr val="C44E52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C44E52"/>
                </a:solidFill>
                <a:latin typeface="Consolas"/>
                <a:ea typeface="Consolas"/>
                <a:cs typeface="Consolas"/>
              </a:rPr>
              <a:t>INFO</a:t>
            </a:r>
            <a:endParaRPr sz="1125" b="1" i="0">
              <a:solidFill>
                <a:srgbClr val="C44E52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067550" y="4572000"/>
            <a:ext cx="3524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350" b="1" i="0">
                <a:solidFill>
                  <a:srgbClr val="17345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 i="0">
                <a:solidFill>
                  <a:srgbClr val="17345F"/>
                </a:solidFill>
                <a:latin typeface="微软雅黑"/>
                <a:ea typeface="微软雅黑"/>
                <a:cs typeface="微软雅黑"/>
              </a:rPr>
              <a:t>MongoDB 尚未配置</a:t>
            </a:r>
            <a:endParaRPr sz="1350" b="1" i="0">
              <a:solidFill>
                <a:srgbClr val="17345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067550" y="4848225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125" b="0" i="0">
                <a:solidFill>
                  <a:srgbClr val="5B6B7F"/>
                </a:solidFill>
                <a:latin typeface="Consolas"/>
                <a:ea typeface="Consolas"/>
                <a:cs typeface="Consolas"/>
              </a:defRPr>
            </a:pPr>
            <a:r>
              <a:rPr sz="1125" b="0" i="0">
                <a:solidFill>
                  <a:srgbClr val="5B6B7F"/>
                </a:solidFill>
                <a:latin typeface="Consolas"/>
                <a:ea typeface="Consolas"/>
                <a:cs typeface="Consolas"/>
              </a:rPr>
              <a:t>服务可启动，但数据库接口暂不可用</a:t>
            </a:r>
            <a:endParaRPr sz="1125" b="0" i="0">
              <a:solidFill>
                <a:srgbClr val="5B6B7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191250" y="5086350"/>
            <a:ext cx="5048250" cy="9525"/>
          </a:xfrm>
          <a:prstGeom prst="rect">
            <a:avLst/>
          </a:prstGeom>
          <a:solidFill>
            <a:srgbClr val="DCE3EB"/>
          </a:solidFill>
          <a:ln w="0">
            <a:solidFill>
              <a:srgbClr val="DCE3EB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457200" y="575310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00" b="0" i="0">
                <a:solidFill>
                  <a:srgbClr val="5B6B7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 i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说明：02、03 的实现属于当前工作区的扩展成果，不改变本次“完成 01 PPT”的提交范围。</a:t>
            </a:r>
            <a:endParaRPr sz="1200" b="0" i="0">
              <a:solidFill>
                <a:srgbClr val="5B6B7F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矩形 25"/>
          <p:cNvSpPr>
            <a:spLocks noGrp="1"/>
          </p:cNvSpPr>
          <p:nvPr/>
        </p:nvSpPr>
        <p:spPr>
          <a:xfrm>
            <a:off x="457200" y="361950"/>
            <a:ext cx="76200" cy="514350"/>
          </a:xfrm>
          <a:prstGeom prst="rect">
            <a:avLst/>
          </a:prstGeom>
          <a:solidFill>
            <a:srgbClr val="C44E52"/>
          </a:solidFill>
          <a:ln w="0">
            <a:solidFill>
              <a:srgbClr val="C44E52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47700" y="457200"/>
            <a:ext cx="609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2250" b="1" i="0">
                <a:solidFill>
                  <a:srgbClr val="C44E52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 i="0">
                <a:solidFill>
                  <a:srgbClr val="C44E52"/>
                </a:solidFill>
                <a:latin typeface="微软雅黑"/>
                <a:ea typeface="微软雅黑"/>
                <a:cs typeface="微软雅黑"/>
              </a:rPr>
              <a:t>13</a:t>
            </a:r>
            <a:endParaRPr sz="2250" b="1" i="0">
              <a:solidFill>
                <a:srgbClr val="C44E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333500" y="36195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125" b="1" i="0">
                <a:solidFill>
                  <a:srgbClr val="2F69A6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2F69A6"/>
                </a:solidFill>
                <a:latin typeface="Consolas"/>
                <a:ea typeface="Consolas"/>
                <a:cs typeface="Consolas"/>
              </a:rPr>
              <a:t>01 · SUBMISSION</a:t>
            </a:r>
            <a:endParaRPr sz="1125" b="1" i="0">
              <a:solidFill>
                <a:srgbClr val="2F69A6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333500" y="552450"/>
            <a:ext cx="9810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2550" b="1" i="0">
                <a:solidFill>
                  <a:srgbClr val="17345F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 i="0">
                <a:solidFill>
                  <a:srgbClr val="17345F"/>
                </a:solidFill>
                <a:latin typeface="微软雅黑"/>
                <a:ea typeface="微软雅黑"/>
                <a:cs typeface="微软雅黑"/>
              </a:rPr>
              <a:t>本周提交与后续安排</a:t>
            </a:r>
            <a:endParaRPr sz="2550" b="1" i="0">
              <a:solidFill>
                <a:srgbClr val="17345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0" y="6534150"/>
            <a:ext cx="12192000" cy="9525"/>
          </a:xfrm>
          <a:prstGeom prst="rect">
            <a:avLst/>
          </a:prstGeom>
          <a:solidFill>
            <a:srgbClr val="DCE3EB"/>
          </a:solidFill>
          <a:ln w="0">
            <a:solidFill>
              <a:srgbClr val="DCE3EB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457200" y="662940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975" b="0" i="0">
                <a:solidFill>
                  <a:srgbClr val="5B6B7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 i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《大前端与AI实战》 · 第一次课程</a:t>
            </a:r>
            <a:endParaRPr sz="975" b="0" i="0">
              <a:solidFill>
                <a:srgbClr val="5B6B7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953750" y="6629400"/>
            <a:ext cx="781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defRPr sz="975" b="0" i="0">
                <a:solidFill>
                  <a:srgbClr val="5B6B7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 i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13 / 13</a:t>
            </a:r>
            <a:endParaRPr sz="975" b="0" i="0">
              <a:solidFill>
                <a:srgbClr val="5B6B7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457200" y="1409700"/>
            <a:ext cx="5257800" cy="4191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9525">
            <a:solidFill>
              <a:srgbClr val="C9D4E0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762000" y="171450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875" b="1" i="0">
                <a:solidFill>
                  <a:srgbClr val="17345F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 i="0">
                <a:solidFill>
                  <a:srgbClr val="17345F"/>
                </a:solidFill>
                <a:latin typeface="微软雅黑"/>
                <a:ea typeface="微软雅黑"/>
                <a:cs typeface="微软雅黑"/>
              </a:rPr>
              <a:t>本次必须完成</a:t>
            </a:r>
            <a:endParaRPr sz="1875" b="1" i="0">
              <a:solidFill>
                <a:srgbClr val="17345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62000" y="2266950"/>
            <a:ext cx="428625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marL="228600" indent="-114300">
              <a:spcAft>
                <a:spcPts val="900"/>
              </a:spcAft>
              <a:buChar char="•"/>
              <a:defRPr sz="1425" b="0">
                <a:solidFill>
                  <a:srgbClr val="1F2F45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F2F45"/>
                </a:solidFill>
                <a:latin typeface="微软雅黑"/>
                <a:ea typeface="微软雅黑"/>
                <a:cs typeface="微软雅黑"/>
              </a:rPr>
              <a:t>看完 00 AI Coding 基础知识课件</a:t>
            </a:r>
            <a:endParaRPr sz="1425" b="0">
              <a:solidFill>
                <a:srgbClr val="1F2F45"/>
              </a:solidFill>
              <a:latin typeface="微软雅黑"/>
              <a:ea typeface="微软雅黑"/>
              <a:cs typeface="微软雅黑"/>
            </a:endParaRPr>
          </a:p>
          <a:p>
            <a:pPr marL="228600" indent="-114300">
              <a:spcAft>
                <a:spcPts val="900"/>
              </a:spcAft>
              <a:buChar char="•"/>
              <a:defRPr sz="1425" b="0">
                <a:solidFill>
                  <a:srgbClr val="1F2F45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F2F45"/>
                </a:solidFill>
                <a:latin typeface="微软雅黑"/>
                <a:ea typeface="微软雅黑"/>
                <a:cs typeface="微软雅黑"/>
              </a:rPr>
              <a:t>使用 Coding Agent 逐段解说 01，仔细学习、观看并核对</a:t>
            </a:r>
            <a:endParaRPr sz="1425" b="0">
              <a:solidFill>
                <a:srgbClr val="1F2F45"/>
              </a:solidFill>
              <a:latin typeface="微软雅黑"/>
              <a:ea typeface="微软雅黑"/>
              <a:cs typeface="微软雅黑"/>
            </a:endParaRPr>
          </a:p>
          <a:p>
            <a:pPr marL="228600" indent="-114300">
              <a:spcAft>
                <a:spcPts val="900"/>
              </a:spcAft>
              <a:buChar char="•"/>
              <a:defRPr sz="1425" b="0">
                <a:solidFill>
                  <a:srgbClr val="1F2F45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F2F45"/>
                </a:solidFill>
                <a:latin typeface="微软雅黑"/>
                <a:ea typeface="微软雅黑"/>
                <a:cs typeface="微软雅黑"/>
              </a:rPr>
              <a:t>完成 01 第一次课程的课程内容 PPT</a:t>
            </a:r>
            <a:endParaRPr sz="1425" b="0">
              <a:solidFill>
                <a:srgbClr val="1F2F45"/>
              </a:solidFill>
              <a:latin typeface="微软雅黑"/>
              <a:ea typeface="微软雅黑"/>
              <a:cs typeface="微软雅黑"/>
            </a:endParaRPr>
          </a:p>
          <a:p>
            <a:pPr marL="228600" indent="-114300">
              <a:spcAft>
                <a:spcPts val="900"/>
              </a:spcAft>
              <a:buChar char="•"/>
              <a:defRPr sz="1425" b="0">
                <a:solidFill>
                  <a:srgbClr val="1F2F45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F2F45"/>
                </a:solidFill>
                <a:latin typeface="微软雅黑"/>
                <a:ea typeface="微软雅黑"/>
                <a:cs typeface="微软雅黑"/>
              </a:rPr>
              <a:t>理解至少一套 Agent + 模型的配置方式</a:t>
            </a:r>
            <a:endParaRPr sz="1425" b="0">
              <a:solidFill>
                <a:srgbClr val="1F2F45"/>
              </a:solidFill>
              <a:latin typeface="微软雅黑"/>
              <a:ea typeface="微软雅黑"/>
              <a:cs typeface="微软雅黑"/>
            </a:endParaRPr>
          </a:p>
          <a:p>
            <a:pPr marL="228600" indent="-114300">
              <a:spcAft>
                <a:spcPts val="900"/>
              </a:spcAft>
              <a:buChar char="•"/>
              <a:defRPr sz="1425" b="0">
                <a:solidFill>
                  <a:srgbClr val="1F2F45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F2F45"/>
                </a:solidFill>
                <a:latin typeface="微软雅黑"/>
                <a:ea typeface="微软雅黑"/>
                <a:cs typeface="微软雅黑"/>
              </a:rPr>
              <a:t>能说明 Ollama、本地模型、云 API 的区别</a:t>
            </a:r>
            <a:endParaRPr sz="1425" b="0">
              <a:solidFill>
                <a:srgbClr val="1F2F4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762000" y="4400550"/>
            <a:ext cx="4286250" cy="781050"/>
          </a:xfrm>
          <a:prstGeom prst="roundRect">
            <a:avLst>
              <a:gd name="adj" fmla="val 9756"/>
            </a:avLst>
          </a:prstGeom>
          <a:solidFill>
            <a:srgbClr val="E8F4FF"/>
          </a:solidFill>
          <a:ln w="9525">
            <a:solidFill>
              <a:srgbClr val="C9DDF0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009650" y="4629150"/>
            <a:ext cx="3714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425" b="1" i="0">
                <a:solidFill>
                  <a:srgbClr val="C44E52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 i="0">
                <a:solidFill>
                  <a:srgbClr val="C44E52"/>
                </a:solidFill>
                <a:latin typeface="微软雅黑"/>
                <a:ea typeface="微软雅黑"/>
                <a:cs typeface="微软雅黑"/>
              </a:rPr>
              <a:t>02、03：进度快的同学继续</a:t>
            </a:r>
            <a:endParaRPr sz="1425" b="1" i="0">
              <a:solidFill>
                <a:srgbClr val="C44E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6057900" y="1409700"/>
            <a:ext cx="5638800" cy="4191000"/>
          </a:xfrm>
          <a:prstGeom prst="roundRect">
            <a:avLst>
              <a:gd name="adj" fmla="val 2727"/>
            </a:avLst>
          </a:prstGeom>
          <a:solidFill>
            <a:srgbClr val="17345F"/>
          </a:solidFill>
          <a:ln w="9525">
            <a:solidFill>
              <a:srgbClr val="17345F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400800" y="171450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6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课后任务（来自 00 课件第 26 页）</a:t>
            </a:r>
            <a:endParaRPr sz="165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400800" y="234315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425" b="1" i="0">
                <a:solidFill>
                  <a:srgbClr val="F4C542"/>
                </a:solidFill>
                <a:latin typeface="Consolas"/>
                <a:ea typeface="Consolas"/>
                <a:cs typeface="Consolas"/>
              </a:defRPr>
            </a:pPr>
            <a:r>
              <a:rPr sz="1425" b="1" i="0">
                <a:solidFill>
                  <a:srgbClr val="F4C542"/>
                </a:solidFill>
                <a:latin typeface="Consolas"/>
                <a:ea typeface="Consolas"/>
                <a:cs typeface="Consolas"/>
              </a:rPr>
              <a:t>01</a:t>
            </a:r>
            <a:endParaRPr sz="1425" b="1" i="0">
              <a:solidFill>
                <a:srgbClr val="F4C542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029450" y="23241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425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安装 Ollama</a:t>
            </a:r>
            <a:endParaRPr sz="1425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7029450" y="2628900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00" b="0" i="0">
                <a:solidFill>
                  <a:srgbClr val="DCEBFA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 i="0">
                <a:solidFill>
                  <a:srgbClr val="DCEBFA"/>
                </a:solidFill>
                <a:latin typeface="微软雅黑"/>
                <a:ea typeface="微软雅黑"/>
                <a:cs typeface="微软雅黑"/>
              </a:rPr>
              <a:t>运行 ollama run qwen3:4b，记录首 token 延迟</a:t>
            </a:r>
            <a:endParaRPr sz="1200" b="0" i="0">
              <a:solidFill>
                <a:srgbClr val="DCEBF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400800" y="321945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425" b="1" i="0">
                <a:solidFill>
                  <a:srgbClr val="F4C542"/>
                </a:solidFill>
                <a:latin typeface="Consolas"/>
                <a:ea typeface="Consolas"/>
                <a:cs typeface="Consolas"/>
              </a:defRPr>
            </a:pPr>
            <a:r>
              <a:rPr sz="1425" b="1" i="0">
                <a:solidFill>
                  <a:srgbClr val="F4C542"/>
                </a:solidFill>
                <a:latin typeface="Consolas"/>
                <a:ea typeface="Consolas"/>
                <a:cs typeface="Consolas"/>
              </a:rPr>
              <a:t>02</a:t>
            </a:r>
            <a:endParaRPr sz="1425" b="1" i="0">
              <a:solidFill>
                <a:srgbClr val="F4C542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029450" y="32004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425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调用免费 API</a:t>
            </a:r>
            <a:endParaRPr sz="1425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029450" y="3505200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00" b="0" i="0">
                <a:solidFill>
                  <a:srgbClr val="DCEBFA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 i="0">
                <a:solidFill>
                  <a:srgbClr val="DCEBFA"/>
                </a:solidFill>
                <a:latin typeface="微软雅黑"/>
                <a:ea typeface="微软雅黑"/>
                <a:cs typeface="微软雅黑"/>
              </a:rPr>
              <a:t>选智谱或硅基流动，写一段 OpenAI 兼容调用代码</a:t>
            </a:r>
            <a:endParaRPr sz="1200" b="0" i="0">
              <a:solidFill>
                <a:srgbClr val="DCEBF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400800" y="409575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425" b="1" i="0">
                <a:solidFill>
                  <a:srgbClr val="F4C542"/>
                </a:solidFill>
                <a:latin typeface="Consolas"/>
                <a:ea typeface="Consolas"/>
                <a:cs typeface="Consolas"/>
              </a:defRPr>
            </a:pPr>
            <a:r>
              <a:rPr sz="1425" b="1" i="0">
                <a:solidFill>
                  <a:srgbClr val="F4C542"/>
                </a:solidFill>
                <a:latin typeface="Consolas"/>
                <a:ea typeface="Consolas"/>
                <a:cs typeface="Consolas"/>
              </a:rPr>
              <a:t>03</a:t>
            </a:r>
            <a:endParaRPr sz="1425" b="1" i="0">
              <a:solidFill>
                <a:srgbClr val="F4C542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029450" y="40767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425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写一页 PRD</a:t>
            </a:r>
            <a:endParaRPr sz="1425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029450" y="4381500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00" b="0" i="0">
                <a:solidFill>
                  <a:srgbClr val="DCEBFA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 i="0">
                <a:solidFill>
                  <a:srgbClr val="DCEBFA"/>
                </a:solidFill>
                <a:latin typeface="微软雅黑"/>
                <a:ea typeface="微软雅黑"/>
                <a:cs typeface="微软雅黑"/>
              </a:rPr>
              <a:t>主题：宿舍图书借还小程序，包含 3 条验收标准</a:t>
            </a:r>
            <a:endParaRPr sz="1200" b="0" i="0">
              <a:solidFill>
                <a:srgbClr val="DCEBF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400800" y="5048250"/>
            <a:ext cx="4762500" cy="9525"/>
          </a:xfrm>
          <a:prstGeom prst="rect">
            <a:avLst/>
          </a:prstGeom>
          <a:solidFill>
            <a:srgbClr val="315A86"/>
          </a:solidFill>
          <a:ln w="0">
            <a:solidFill>
              <a:srgbClr val="315A86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6400800" y="52768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75" b="1" i="0">
                <a:solidFill>
                  <a:srgbClr val="F4C542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 i="0">
                <a:solidFill>
                  <a:srgbClr val="F4C542"/>
                </a:solidFill>
                <a:latin typeface="微软雅黑"/>
                <a:ea typeface="微软雅黑"/>
                <a:cs typeface="微软雅黑"/>
              </a:rPr>
              <a:t>下一课：RESTful API、MongoDB、Mongoose 与用户注册</a:t>
            </a:r>
            <a:endParaRPr sz="1275" b="1" i="0">
              <a:solidFill>
                <a:srgbClr val="F4C542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3967</Words>
  <Application>WPS 演示</Application>
  <PresentationFormat>Converted Presentation</PresentationFormat>
  <Paragraphs>626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30" baseType="lpstr">
      <vt:lpstr>Arial</vt:lpstr>
      <vt:lpstr>宋体</vt:lpstr>
      <vt:lpstr>Wingdings</vt:lpstr>
      <vt:lpstr>Consolas</vt:lpstr>
      <vt:lpstr>Thonburi</vt:lpstr>
      <vt:lpstr>微软雅黑</vt:lpstr>
      <vt:lpstr>汉仪旗黑</vt:lpstr>
      <vt:lpstr>宋体</vt:lpstr>
      <vt:lpstr>汉仪书宋二KW</vt:lpstr>
      <vt:lpstr>微软雅黑</vt:lpstr>
      <vt:lpstr>Arial Unicode MS</vt:lpstr>
      <vt:lpstr>Calibri</vt:lpstr>
      <vt:lpstr>Helvetica Neue</vt:lpstr>
      <vt:lpstr>Consolas</vt:lpstr>
      <vt:lpstr>微软雅黑</vt:lpstr>
      <vt:lpstr>苹方-简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。。。</cp:lastModifiedBy>
  <cp:revision>1</cp:revision>
  <dcterms:created xsi:type="dcterms:W3CDTF">2026-09-11T07:07:14Z</dcterms:created>
  <dcterms:modified xsi:type="dcterms:W3CDTF">2026-09-11T07:07:14Z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065665C1AB0FAB5DA2A8A36AC56F29F2_42</vt:lpwstr>
  </property>
  <property fmtid="{D5CDD505-2E9C-101B-9397-08002B2CF9AE}" pid="3" name="KSOProductBuildVer">
    <vt:lpwstr>2052-12.1.26026.26026</vt:lpwstr>
  </property>
</Properties>
</file>