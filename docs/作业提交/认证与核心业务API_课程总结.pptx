
<file path=[Content_Types].xml><?xml version="1.0" encoding="utf-8"?>
<Types xmlns="http://schemas.openxmlformats.org/package/2006/content-types">
  <Default Extension="bmp" ContentType="image/bmp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ebp" ContentType="image/webp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92024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subtitle"/>
          <p:cNvSpPr/>
          <p:nvPr>
            <p:ph type="subTitle"/>
          </p:nvPr>
        </p:nvSpPr>
        <p:spPr>
          <a:xfrm>
            <a:off x="609600" y="339344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"/>
          <p:cNvSpPr/>
          <p:nvPr>
            <p:ph type="body"/>
          </p:nvPr>
        </p:nvSpPr>
        <p:spPr>
          <a:xfrm>
            <a:off x="609600" y="1625600"/>
            <a:ext cx="109728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71450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"/>
          <p:cNvSpPr/>
          <p:nvPr>
            <p:ph type="body"/>
          </p:nvPr>
        </p:nvSpPr>
        <p:spPr>
          <a:xfrm>
            <a:off x="609600" y="31877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-left"/>
          <p:cNvSpPr/>
          <p:nvPr>
            <p:ph type="body" idx="1"/>
          </p:nvPr>
        </p:nvSpPr>
        <p:spPr>
          <a:xfrm>
            <a:off x="6096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body-right"/>
          <p:cNvSpPr/>
          <p:nvPr>
            <p:ph type="body" idx="2"/>
          </p:nvPr>
        </p:nvSpPr>
        <p:spPr>
          <a:xfrm>
            <a:off x="62230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-left"/>
          <p:cNvSpPr/>
          <p:nvPr>
            <p:ph type="body" idx="1"/>
          </p:nvPr>
        </p:nvSpPr>
        <p:spPr>
          <a:xfrm>
            <a:off x="6096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text-right"/>
          <p:cNvSpPr/>
          <p:nvPr>
            <p:ph type="body" idx="2"/>
          </p:nvPr>
        </p:nvSpPr>
        <p:spPr>
          <a:xfrm>
            <a:off x="62230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5" name="ph-body-left"/>
          <p:cNvSpPr/>
          <p:nvPr>
            <p:ph type="body" idx="1"/>
          </p:nvPr>
        </p:nvSpPr>
        <p:spPr>
          <a:xfrm>
            <a:off x="6096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6" name="ph-body-right"/>
          <p:cNvSpPr/>
          <p:nvPr>
            <p:ph type="body" idx="2"/>
          </p:nvPr>
        </p:nvSpPr>
        <p:spPr>
          <a:xfrm>
            <a:off x="62230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picture"/>
          <p:cNvSpPr/>
          <p:nvPr>
            <p:ph type="pic"/>
          </p:nvPr>
        </p:nvSpPr>
        <p:spPr>
          <a:xfrm>
            <a:off x="609600" y="406400"/>
            <a:ext cx="10972800" cy="4927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caption"/>
          <p:cNvSpPr/>
          <p:nvPr>
            <p:ph type="body"/>
          </p:nvPr>
        </p:nvSpPr>
        <p:spPr>
          <a:xfrm>
            <a:off x="609600" y="5537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ellipse 1"/>
          <p:cNvSpPr/>
          <p:nvPr/>
        </p:nvSpPr>
        <p:spPr>
          <a:xfrm>
            <a:off x="8509000" y="-762000"/>
            <a:ext cx="4318000" cy="4318000"/>
          </a:xfrm>
          <a:prstGeom prst="ellipse">
            <a:avLst/>
          </a:prstGeom>
          <a:solidFill>
            <a:srgbClr val="12365A">
              <a:alpha val="80000"/>
            </a:srgbClr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ellipse 2"/>
          <p:cNvSpPr/>
          <p:nvPr/>
        </p:nvSpPr>
        <p:spPr>
          <a:xfrm>
            <a:off x="9271000" y="0"/>
            <a:ext cx="2794000" cy="2794000"/>
          </a:xfrm>
          <a:prstGeom prst="ellipse">
            <a:avLst/>
          </a:prstGeom>
          <a:noFill/>
          <a:ln w="12700">
            <a:solidFill>
              <a:srgbClr val="1BA6A6">
                <a:alpha val="55000"/>
              </a:srgbClr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5" name="rect 2"/>
          <p:cNvSpPr/>
          <p:nvPr/>
        </p:nvSpPr>
        <p:spPr>
          <a:xfrm>
            <a:off x="9715500" y="444881"/>
            <a:ext cx="1903730" cy="1904111"/>
          </a:xfrm>
          <a:custGeom>
            <a:avLst/>
            <a:gdLst/>
            <a:ahLst/>
            <a:cxnLst/>
            <a:rect l="0" t="0" r="0" b="0"/>
            <a:pathLst>
              <a:path w="150" h="150">
                <a:moveTo>
                  <a:pt x="0" y="75"/>
                </a:moveTo>
                <a:lnTo>
                  <a:pt x="0" y="78"/>
                </a:lnTo>
                <a:lnTo>
                  <a:pt x="0" y="79"/>
                </a:lnTo>
                <a:moveTo>
                  <a:pt x="1" y="87"/>
                </a:moveTo>
                <a:lnTo>
                  <a:pt x="1" y="89"/>
                </a:lnTo>
                <a:lnTo>
                  <a:pt x="2" y="91"/>
                </a:lnTo>
                <a:moveTo>
                  <a:pt x="4" y="99"/>
                </a:moveTo>
                <a:lnTo>
                  <a:pt x="4" y="99"/>
                </a:lnTo>
                <a:lnTo>
                  <a:pt x="5" y="102"/>
                </a:lnTo>
                <a:lnTo>
                  <a:pt x="5" y="102"/>
                </a:lnTo>
                <a:moveTo>
                  <a:pt x="8" y="110"/>
                </a:moveTo>
                <a:lnTo>
                  <a:pt x="9" y="111"/>
                </a:lnTo>
                <a:lnTo>
                  <a:pt x="10" y="113"/>
                </a:lnTo>
                <a:moveTo>
                  <a:pt x="15" y="120"/>
                </a:moveTo>
                <a:lnTo>
                  <a:pt x="15" y="120"/>
                </a:lnTo>
                <a:lnTo>
                  <a:pt x="17" y="122"/>
                </a:lnTo>
                <a:lnTo>
                  <a:pt x="17" y="123"/>
                </a:lnTo>
                <a:moveTo>
                  <a:pt x="23" y="129"/>
                </a:moveTo>
                <a:lnTo>
                  <a:pt x="24" y="130"/>
                </a:lnTo>
                <a:lnTo>
                  <a:pt x="26" y="131"/>
                </a:lnTo>
                <a:moveTo>
                  <a:pt x="32" y="136"/>
                </a:moveTo>
                <a:lnTo>
                  <a:pt x="32" y="136"/>
                </a:lnTo>
                <a:lnTo>
                  <a:pt x="34" y="138"/>
                </a:lnTo>
                <a:lnTo>
                  <a:pt x="35" y="139"/>
                </a:lnTo>
                <a:moveTo>
                  <a:pt x="42" y="142"/>
                </a:moveTo>
                <a:lnTo>
                  <a:pt x="43" y="143"/>
                </a:lnTo>
                <a:lnTo>
                  <a:pt x="46" y="144"/>
                </a:lnTo>
                <a:lnTo>
                  <a:pt x="46" y="144"/>
                </a:lnTo>
                <a:moveTo>
                  <a:pt x="53" y="147"/>
                </a:moveTo>
                <a:lnTo>
                  <a:pt x="56" y="148"/>
                </a:lnTo>
                <a:lnTo>
                  <a:pt x="57" y="148"/>
                </a:lnTo>
                <a:moveTo>
                  <a:pt x="65" y="149"/>
                </a:moveTo>
                <a:lnTo>
                  <a:pt x="67" y="150"/>
                </a:lnTo>
                <a:lnTo>
                  <a:pt x="69" y="150"/>
                </a:lnTo>
                <a:moveTo>
                  <a:pt x="77" y="150"/>
                </a:moveTo>
                <a:lnTo>
                  <a:pt x="78" y="150"/>
                </a:lnTo>
                <a:lnTo>
                  <a:pt x="81" y="150"/>
                </a:lnTo>
                <a:lnTo>
                  <a:pt x="81" y="150"/>
                </a:lnTo>
                <a:moveTo>
                  <a:pt x="89" y="149"/>
                </a:moveTo>
                <a:lnTo>
                  <a:pt x="91" y="148"/>
                </a:lnTo>
                <a:lnTo>
                  <a:pt x="93" y="148"/>
                </a:lnTo>
                <a:moveTo>
                  <a:pt x="101" y="145"/>
                </a:moveTo>
                <a:lnTo>
                  <a:pt x="102" y="145"/>
                </a:lnTo>
                <a:lnTo>
                  <a:pt x="104" y="144"/>
                </a:lnTo>
                <a:lnTo>
                  <a:pt x="104" y="144"/>
                </a:lnTo>
                <a:moveTo>
                  <a:pt x="112" y="140"/>
                </a:moveTo>
                <a:lnTo>
                  <a:pt x="114" y="139"/>
                </a:lnTo>
                <a:lnTo>
                  <a:pt x="115" y="138"/>
                </a:lnTo>
                <a:moveTo>
                  <a:pt x="122" y="134"/>
                </a:moveTo>
                <a:lnTo>
                  <a:pt x="122" y="133"/>
                </a:lnTo>
                <a:lnTo>
                  <a:pt x="124" y="132"/>
                </a:lnTo>
                <a:lnTo>
                  <a:pt x="125" y="131"/>
                </a:lnTo>
                <a:moveTo>
                  <a:pt x="130" y="126"/>
                </a:moveTo>
                <a:lnTo>
                  <a:pt x="132" y="124"/>
                </a:lnTo>
                <a:lnTo>
                  <a:pt x="133" y="123"/>
                </a:lnTo>
                <a:moveTo>
                  <a:pt x="138" y="116"/>
                </a:moveTo>
                <a:lnTo>
                  <a:pt x="138" y="116"/>
                </a:lnTo>
                <a:lnTo>
                  <a:pt x="139" y="114"/>
                </a:lnTo>
                <a:lnTo>
                  <a:pt x="140" y="113"/>
                </a:lnTo>
                <a:moveTo>
                  <a:pt x="143" y="106"/>
                </a:moveTo>
                <a:lnTo>
                  <a:pt x="144" y="104"/>
                </a:lnTo>
                <a:lnTo>
                  <a:pt x="145" y="102"/>
                </a:lnTo>
                <a:moveTo>
                  <a:pt x="147" y="94"/>
                </a:moveTo>
                <a:lnTo>
                  <a:pt x="148" y="94"/>
                </a:lnTo>
                <a:lnTo>
                  <a:pt x="148" y="91"/>
                </a:lnTo>
                <a:lnTo>
                  <a:pt x="148" y="91"/>
                </a:lnTo>
                <a:moveTo>
                  <a:pt x="150" y="83"/>
                </a:moveTo>
                <a:lnTo>
                  <a:pt x="150" y="81"/>
                </a:lnTo>
                <a:lnTo>
                  <a:pt x="150" y="79"/>
                </a:lnTo>
                <a:moveTo>
                  <a:pt x="150" y="71"/>
                </a:moveTo>
                <a:lnTo>
                  <a:pt x="150" y="69"/>
                </a:lnTo>
                <a:lnTo>
                  <a:pt x="150" y="67"/>
                </a:lnTo>
                <a:moveTo>
                  <a:pt x="148" y="59"/>
                </a:moveTo>
                <a:lnTo>
                  <a:pt x="148" y="59"/>
                </a:lnTo>
                <a:lnTo>
                  <a:pt x="148" y="56"/>
                </a:lnTo>
                <a:lnTo>
                  <a:pt x="147" y="55"/>
                </a:lnTo>
                <a:moveTo>
                  <a:pt x="145" y="47"/>
                </a:moveTo>
                <a:lnTo>
                  <a:pt x="144" y="46"/>
                </a:lnTo>
                <a:lnTo>
                  <a:pt x="143" y="44"/>
                </a:lnTo>
                <a:moveTo>
                  <a:pt x="139" y="37"/>
                </a:moveTo>
                <a:lnTo>
                  <a:pt x="139" y="36"/>
                </a:lnTo>
                <a:lnTo>
                  <a:pt x="138" y="34"/>
                </a:lnTo>
                <a:lnTo>
                  <a:pt x="137" y="33"/>
                </a:lnTo>
                <a:moveTo>
                  <a:pt x="132" y="27"/>
                </a:moveTo>
                <a:lnTo>
                  <a:pt x="132" y="26"/>
                </a:lnTo>
                <a:lnTo>
                  <a:pt x="130" y="24"/>
                </a:lnTo>
                <a:lnTo>
                  <a:pt x="130" y="24"/>
                </a:lnTo>
                <a:moveTo>
                  <a:pt x="124" y="18"/>
                </a:moveTo>
                <a:lnTo>
                  <a:pt x="122" y="17"/>
                </a:lnTo>
                <a:lnTo>
                  <a:pt x="121" y="16"/>
                </a:lnTo>
                <a:moveTo>
                  <a:pt x="114" y="11"/>
                </a:moveTo>
                <a:lnTo>
                  <a:pt x="114" y="11"/>
                </a:lnTo>
                <a:lnTo>
                  <a:pt x="111" y="9"/>
                </a:lnTo>
                <a:lnTo>
                  <a:pt x="111" y="9"/>
                </a:lnTo>
                <a:moveTo>
                  <a:pt x="104" y="6"/>
                </a:moveTo>
                <a:lnTo>
                  <a:pt x="102" y="5"/>
                </a:lnTo>
                <a:lnTo>
                  <a:pt x="100" y="4"/>
                </a:lnTo>
                <a:moveTo>
                  <a:pt x="92" y="2"/>
                </a:moveTo>
                <a:lnTo>
                  <a:pt x="91" y="2"/>
                </a:lnTo>
                <a:lnTo>
                  <a:pt x="89" y="1"/>
                </a:lnTo>
                <a:lnTo>
                  <a:pt x="88" y="1"/>
                </a:lnTo>
                <a:moveTo>
                  <a:pt x="80" y="0"/>
                </a:moveTo>
                <a:lnTo>
                  <a:pt x="78" y="0"/>
                </a:lnTo>
                <a:lnTo>
                  <a:pt x="76" y="0"/>
                </a:lnTo>
                <a:moveTo>
                  <a:pt x="68" y="0"/>
                </a:moveTo>
                <a:lnTo>
                  <a:pt x="67" y="0"/>
                </a:lnTo>
                <a:lnTo>
                  <a:pt x="64" y="1"/>
                </a:lnTo>
                <a:moveTo>
                  <a:pt x="57" y="2"/>
                </a:moveTo>
                <a:lnTo>
                  <a:pt x="56" y="2"/>
                </a:lnTo>
                <a:lnTo>
                  <a:pt x="53" y="3"/>
                </a:lnTo>
                <a:lnTo>
                  <a:pt x="53" y="3"/>
                </a:lnTo>
                <a:moveTo>
                  <a:pt x="45" y="6"/>
                </a:moveTo>
                <a:lnTo>
                  <a:pt x="43" y="7"/>
                </a:lnTo>
                <a:lnTo>
                  <a:pt x="42" y="8"/>
                </a:lnTo>
                <a:moveTo>
                  <a:pt x="35" y="12"/>
                </a:moveTo>
                <a:lnTo>
                  <a:pt x="34" y="12"/>
                </a:lnTo>
                <a:lnTo>
                  <a:pt x="32" y="14"/>
                </a:lnTo>
                <a:lnTo>
                  <a:pt x="31" y="14"/>
                </a:lnTo>
                <a:moveTo>
                  <a:pt x="25" y="19"/>
                </a:moveTo>
                <a:lnTo>
                  <a:pt x="24" y="20"/>
                </a:lnTo>
                <a:lnTo>
                  <a:pt x="22" y="22"/>
                </a:lnTo>
                <a:moveTo>
                  <a:pt x="17" y="28"/>
                </a:moveTo>
                <a:lnTo>
                  <a:pt x="17" y="28"/>
                </a:lnTo>
                <a:lnTo>
                  <a:pt x="15" y="30"/>
                </a:lnTo>
                <a:lnTo>
                  <a:pt x="14" y="31"/>
                </a:lnTo>
                <a:moveTo>
                  <a:pt x="10" y="37"/>
                </a:moveTo>
                <a:lnTo>
                  <a:pt x="9" y="39"/>
                </a:lnTo>
                <a:lnTo>
                  <a:pt x="8" y="41"/>
                </a:lnTo>
                <a:lnTo>
                  <a:pt x="8" y="41"/>
                </a:lnTo>
                <a:moveTo>
                  <a:pt x="5" y="48"/>
                </a:moveTo>
                <a:lnTo>
                  <a:pt x="4" y="51"/>
                </a:lnTo>
                <a:lnTo>
                  <a:pt x="4" y="52"/>
                </a:lnTo>
                <a:moveTo>
                  <a:pt x="2" y="60"/>
                </a:moveTo>
                <a:lnTo>
                  <a:pt x="1" y="61"/>
                </a:lnTo>
                <a:lnTo>
                  <a:pt x="1" y="64"/>
                </a:lnTo>
                <a:moveTo>
                  <a:pt x="0" y="72"/>
                </a:moveTo>
                <a:lnTo>
                  <a:pt x="0" y="72"/>
                </a:lnTo>
                <a:lnTo>
                  <a:pt x="0" y="75"/>
                </a:lnTo>
              </a:path>
            </a:pathLst>
          </a:custGeom>
          <a:noFill/>
          <a:ln w="12700">
            <a:solidFill>
              <a:srgbClr val="FFB454">
                <a:alpha val="70000"/>
              </a:srgbClr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6" name="rect 3"/>
          <p:cNvSpPr/>
          <p:nvPr/>
        </p:nvSpPr>
        <p:spPr>
          <a:xfrm>
            <a:off x="10350500" y="965200"/>
            <a:ext cx="635000" cy="457200"/>
          </a:xfrm>
          <a:custGeom>
            <a:avLst/>
            <a:gdLst/>
            <a:ahLst/>
            <a:cxnLst/>
            <a:rect l="0" t="0" r="0" b="0"/>
            <a:pathLst>
              <a:path w="50" h="36">
                <a:moveTo>
                  <a:pt x="10" y="0"/>
                </a:moveTo>
                <a:lnTo>
                  <a:pt x="40" y="0"/>
                </a:lnTo>
                <a:cubicBezTo>
                  <a:pt x="46" y="0"/>
                  <a:pt x="50" y="4"/>
                  <a:pt x="50" y="10"/>
                </a:cubicBezTo>
                <a:lnTo>
                  <a:pt x="50" y="36"/>
                </a:lnTo>
                <a:lnTo>
                  <a:pt x="0" y="36"/>
                </a:ln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close/>
              </a:path>
            </a:pathLst>
          </a:custGeom>
          <a:noFill/>
          <a:ln w="63500">
            <a:solidFill>
              <a:srgbClr val="F6F8FC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7" name="roundRect 1"/>
          <p:cNvSpPr/>
          <p:nvPr/>
        </p:nvSpPr>
        <p:spPr>
          <a:xfrm>
            <a:off x="10287000" y="1346200"/>
            <a:ext cx="762000" cy="609600"/>
          </a:xfrm>
          <a:prstGeom prst="roundRect">
            <a:avLst>
              <a:gd fmla="val 20833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ellipse 3"/>
          <p:cNvSpPr/>
          <p:nvPr/>
        </p:nvSpPr>
        <p:spPr>
          <a:xfrm>
            <a:off x="10579100" y="1511300"/>
            <a:ext cx="177800" cy="17780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9" name="rect 4"/>
          <p:cNvSpPr/>
          <p:nvPr/>
        </p:nvSpPr>
        <p:spPr>
          <a:xfrm>
            <a:off x="10668000" y="1689100"/>
            <a:ext cx="12700" cy="127000"/>
          </a:xfrm>
          <a:custGeom>
            <a:avLst/>
            <a:gdLst/>
            <a:ahLst/>
            <a:cxnLst/>
            <a:rect l="0" t="0" r="0" b="0"/>
            <a:pathLst>
              <a:path w="1" h="10">
                <a:moveTo>
                  <a:pt x="0" y="0"/>
                </a:moveTo>
                <a:lnTo>
                  <a:pt x="0" y="10"/>
                </a:lnTo>
              </a:path>
            </a:pathLst>
          </a:custGeom>
          <a:solidFill>
            <a:srgbClr val="000000"/>
          </a:solidFill>
          <a:ln cap="rnd" w="63500">
            <a:solidFill>
              <a:srgbClr val="0B1F3A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0" name="rect 5"/>
          <p:cNvSpPr/>
          <p:nvPr/>
        </p:nvSpPr>
        <p:spPr>
          <a:xfrm>
            <a:off x="812800" y="660400"/>
            <a:ext cx="28829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3000"/>
              </a:lnSpc>
              <a:buNone/>
            </a:pPr>
            <a:r>
              <a:rPr lang="en-US" sz="1600">
                <a:solidFill>
                  <a:srgbClr val="7FD7D2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 sans-serif" latin="Arial" ea="sans-serif" sym=""/>
                  </a:ext>
                </a:extLst>
              </a:rPr>
              <a:t>03 / BACKEND FOUNDATION</a:t>
            </a:r>
          </a:p>
        </p:txBody>
      </p:sp>
      <p:sp>
        <p:nvSpPr>
          <p:cNvPr id="11" name="roundRect 2"/>
          <p:cNvSpPr/>
          <p:nvPr/>
        </p:nvSpPr>
        <p:spPr>
          <a:xfrm>
            <a:off x="812800" y="1168400"/>
            <a:ext cx="685800" cy="63500"/>
          </a:xfrm>
          <a:prstGeom prst="roundRect">
            <a:avLst>
              <a:gd fmla="val 50000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6"/>
          <p:cNvSpPr/>
          <p:nvPr/>
        </p:nvSpPr>
        <p:spPr>
          <a:xfrm>
            <a:off x="812800" y="1562100"/>
            <a:ext cx="3784600" cy="889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58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颁发通行证</a:t>
            </a:r>
          </a:p>
        </p:txBody>
      </p:sp>
      <p:sp>
        <p:nvSpPr>
          <p:cNvPr id="13" name="rect 7"/>
          <p:cNvSpPr/>
          <p:nvPr/>
        </p:nvSpPr>
        <p:spPr>
          <a:xfrm>
            <a:off x="863600" y="2705100"/>
            <a:ext cx="4330700" cy="368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2400">
                <a:solidFill>
                  <a:srgbClr val="B9C9DB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JWT 认证与知识点 CRUD 实战</a:t>
            </a:r>
          </a:p>
        </p:txBody>
      </p:sp>
      <p:sp>
        <p:nvSpPr>
          <p:cNvPr id="14" name="rect 8"/>
          <p:cNvSpPr/>
          <p:nvPr/>
        </p:nvSpPr>
        <p:spPr>
          <a:xfrm>
            <a:off x="863600" y="3365500"/>
            <a:ext cx="30861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>
                <a:solidFill>
                  <a:srgbClr val="7FD7D2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《大前端与 AI 实战》第三次课</a:t>
            </a:r>
          </a:p>
        </p:txBody>
      </p:sp>
      <p:sp>
        <p:nvSpPr>
          <p:cNvPr id="15" name="rect 9"/>
          <p:cNvSpPr/>
          <p:nvPr/>
        </p:nvSpPr>
        <p:spPr>
          <a:xfrm>
            <a:off x="863600" y="3975100"/>
            <a:ext cx="3911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2000">
                <a:solidFill>
                  <a:srgbClr val="E8EEF5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把用户身份安全地传给每一个接口</a:t>
            </a:r>
          </a:p>
        </p:txBody>
      </p:sp>
      <p:sp>
        <p:nvSpPr>
          <p:cNvPr id="16" name="roundRect 3"/>
          <p:cNvSpPr/>
          <p:nvPr/>
        </p:nvSpPr>
        <p:spPr>
          <a:xfrm>
            <a:off x="812800" y="5207000"/>
            <a:ext cx="2133600" cy="685800"/>
          </a:xfrm>
          <a:prstGeom prst="roundRect">
            <a:avLst>
              <a:gd fmla="val 22222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 10"/>
          <p:cNvSpPr/>
          <p:nvPr/>
        </p:nvSpPr>
        <p:spPr>
          <a:xfrm>
            <a:off x="1092200" y="5461000"/>
            <a:ext cx="18923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3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AUTHENTICATION</a:t>
            </a:r>
          </a:p>
        </p:txBody>
      </p:sp>
      <p:sp>
        <p:nvSpPr>
          <p:cNvPr id="18" name="roundRect 4"/>
          <p:cNvSpPr/>
          <p:nvPr/>
        </p:nvSpPr>
        <p:spPr>
          <a:xfrm>
            <a:off x="3149600" y="5207000"/>
            <a:ext cx="1752600" cy="685800"/>
          </a:xfrm>
          <a:prstGeom prst="roundRect">
            <a:avLst>
              <a:gd fmla="val 22222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 11"/>
          <p:cNvSpPr/>
          <p:nvPr/>
        </p:nvSpPr>
        <p:spPr>
          <a:xfrm>
            <a:off x="3467100" y="5461000"/>
            <a:ext cx="14859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3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MIDDLEWARE</a:t>
            </a:r>
          </a:p>
        </p:txBody>
      </p:sp>
      <p:sp>
        <p:nvSpPr>
          <p:cNvPr id="20" name="roundRect 5"/>
          <p:cNvSpPr/>
          <p:nvPr/>
        </p:nvSpPr>
        <p:spPr>
          <a:xfrm>
            <a:off x="5105400" y="5207000"/>
            <a:ext cx="1168400" cy="685800"/>
          </a:xfrm>
          <a:prstGeom prst="roundRect">
            <a:avLst>
              <a:gd fmla="val 22222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 12"/>
          <p:cNvSpPr/>
          <p:nvPr/>
        </p:nvSpPr>
        <p:spPr>
          <a:xfrm>
            <a:off x="5410200" y="5461000"/>
            <a:ext cx="6858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3000"/>
              </a:lnSpc>
              <a:buNone/>
            </a:pPr>
            <a:r>
              <a:rPr lang="en-US" sz="1600">
                <a:solidFill>
                  <a:srgbClr val="0B1F3A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CRUD</a:t>
            </a:r>
          </a:p>
        </p:txBody>
      </p:sp>
      <p:cxnSp>
        <p:nvCxnSpPr>
          <p:cNvPr id="22" name="line 1"/>
          <p:cNvCxnSpPr/>
          <p:nvPr/>
        </p:nvCxnSpPr>
        <p:spPr>
          <a:xfrm>
            <a:off x="812800" y="6242050"/>
            <a:ext cx="10566400" cy="12700"/>
          </a:xfrm>
          <a:prstGeom prst="line">
            <a:avLst/>
          </a:prstGeom>
          <a:noFill/>
          <a:ln w="12700">
            <a:solidFill>
              <a:srgbClr val="2B587A"/>
            </a:solidFill>
          </a:ln>
        </p:spPr>
      </p:cxnSp>
      <p:sp>
        <p:nvSpPr>
          <p:cNvPr id="23" name="rect 13"/>
          <p:cNvSpPr/>
          <p:nvPr/>
        </p:nvSpPr>
        <p:spPr>
          <a:xfrm>
            <a:off x="812800" y="6362700"/>
            <a:ext cx="208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91A7BD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费曼学习平台 · 第三次课</a:t>
            </a:r>
          </a:p>
        </p:txBody>
      </p:sp>
      <p:sp>
        <p:nvSpPr>
          <p:cNvPr id="24" name="rect 14"/>
          <p:cNvSpPr/>
          <p:nvPr/>
        </p:nvSpPr>
        <p:spPr>
          <a:xfrm>
            <a:off x="105537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91A7BD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711200" y="330200"/>
            <a:ext cx="49784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这节课，交付一条后端闭环</a:t>
            </a:r>
          </a:p>
        </p:txBody>
      </p:sp>
      <p:sp>
        <p:nvSpPr>
          <p:cNvPr id="5" name="rect 4"/>
          <p:cNvSpPr/>
          <p:nvPr/>
        </p:nvSpPr>
        <p:spPr>
          <a:xfrm>
            <a:off x="711200" y="939800"/>
            <a:ext cx="5613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从“我是谁”到“我能操作什么”，把身份与权限落到业务接口。</a:t>
            </a:r>
          </a:p>
        </p:txBody>
      </p:sp>
      <p:sp>
        <p:nvSpPr>
          <p:cNvPr id="6" name="roundRect 1"/>
          <p:cNvSpPr/>
          <p:nvPr/>
        </p:nvSpPr>
        <p:spPr>
          <a:xfrm>
            <a:off x="711200" y="1600200"/>
            <a:ext cx="4953000" cy="4064000"/>
          </a:xfrm>
          <a:prstGeom prst="roundRect">
            <a:avLst>
              <a:gd fmla="val 5625" name="adj"/>
            </a:avLst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041400" y="1841500"/>
            <a:ext cx="14732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六项学习目标</a:t>
            </a:r>
          </a:p>
        </p:txBody>
      </p:sp>
      <p:sp>
        <p:nvSpPr>
          <p:cNvPr id="8" name="ellipse 1"/>
          <p:cNvSpPr/>
          <p:nvPr/>
        </p:nvSpPr>
        <p:spPr>
          <a:xfrm>
            <a:off x="990600" y="2413000"/>
            <a:ext cx="304800" cy="3048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9" name="rect 6"/>
          <p:cNvSpPr/>
          <p:nvPr/>
        </p:nvSpPr>
        <p:spPr>
          <a:xfrm>
            <a:off x="1092200" y="2451100"/>
            <a:ext cx="165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1</a:t>
            </a:r>
          </a:p>
        </p:txBody>
      </p:sp>
      <p:sp>
        <p:nvSpPr>
          <p:cNvPr id="10" name="rect 7"/>
          <p:cNvSpPr/>
          <p:nvPr/>
        </p:nvSpPr>
        <p:spPr>
          <a:xfrm>
            <a:off x="1473200" y="2425700"/>
            <a:ext cx="2628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理解 Token 与 JWT 认证流程</a:t>
            </a:r>
          </a:p>
        </p:txBody>
      </p:sp>
      <p:sp>
        <p:nvSpPr>
          <p:cNvPr id="11" name="ellipse 2"/>
          <p:cNvSpPr/>
          <p:nvPr/>
        </p:nvSpPr>
        <p:spPr>
          <a:xfrm>
            <a:off x="990600" y="2946400"/>
            <a:ext cx="304800" cy="3048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2" name="rect 8"/>
          <p:cNvSpPr/>
          <p:nvPr/>
        </p:nvSpPr>
        <p:spPr>
          <a:xfrm>
            <a:off x="1092200" y="2984500"/>
            <a:ext cx="20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2</a:t>
            </a:r>
          </a:p>
        </p:txBody>
      </p:sp>
      <p:sp>
        <p:nvSpPr>
          <p:cNvPr id="13" name="rect 9"/>
          <p:cNvSpPr/>
          <p:nvPr/>
        </p:nvSpPr>
        <p:spPr>
          <a:xfrm>
            <a:off x="1473200" y="2959100"/>
            <a:ext cx="2527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完成注册、登录与 JWT 签发</a:t>
            </a:r>
          </a:p>
        </p:txBody>
      </p:sp>
      <p:sp>
        <p:nvSpPr>
          <p:cNvPr id="14" name="ellipse 3"/>
          <p:cNvSpPr/>
          <p:nvPr/>
        </p:nvSpPr>
        <p:spPr>
          <a:xfrm>
            <a:off x="990600" y="3479800"/>
            <a:ext cx="304800" cy="3048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5" name="rect 10"/>
          <p:cNvSpPr/>
          <p:nvPr/>
        </p:nvSpPr>
        <p:spPr>
          <a:xfrm>
            <a:off x="1092200" y="3517900"/>
            <a:ext cx="20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3</a:t>
            </a:r>
          </a:p>
        </p:txBody>
      </p:sp>
      <p:sp>
        <p:nvSpPr>
          <p:cNvPr id="16" name="rect 11"/>
          <p:cNvSpPr/>
          <p:nvPr/>
        </p:nvSpPr>
        <p:spPr>
          <a:xfrm>
            <a:off x="1473200" y="3492500"/>
            <a:ext cx="2006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用中间件保护私有路由</a:t>
            </a:r>
          </a:p>
        </p:txBody>
      </p:sp>
      <p:sp>
        <p:nvSpPr>
          <p:cNvPr id="17" name="ellipse 4"/>
          <p:cNvSpPr/>
          <p:nvPr/>
        </p:nvSpPr>
        <p:spPr>
          <a:xfrm>
            <a:off x="990600" y="4013200"/>
            <a:ext cx="304800" cy="3048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8" name="rect 12"/>
          <p:cNvSpPr/>
          <p:nvPr/>
        </p:nvSpPr>
        <p:spPr>
          <a:xfrm>
            <a:off x="1092200" y="4051300"/>
            <a:ext cx="20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4</a:t>
            </a:r>
          </a:p>
        </p:txBody>
      </p:sp>
      <p:sp>
        <p:nvSpPr>
          <p:cNvPr id="19" name="rect 13"/>
          <p:cNvSpPr/>
          <p:nvPr/>
        </p:nvSpPr>
        <p:spPr>
          <a:xfrm>
            <a:off x="1473200" y="4025900"/>
            <a:ext cx="2425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设计 KnowledgePoint 模型</a:t>
            </a:r>
          </a:p>
        </p:txBody>
      </p:sp>
      <p:sp>
        <p:nvSpPr>
          <p:cNvPr id="20" name="ellipse 5"/>
          <p:cNvSpPr/>
          <p:nvPr/>
        </p:nvSpPr>
        <p:spPr>
          <a:xfrm>
            <a:off x="990600" y="4546600"/>
            <a:ext cx="304800" cy="3048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1" name="rect 14"/>
          <p:cNvSpPr/>
          <p:nvPr/>
        </p:nvSpPr>
        <p:spPr>
          <a:xfrm>
            <a:off x="1092200" y="4584700"/>
            <a:ext cx="20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5</a:t>
            </a:r>
          </a:p>
        </p:txBody>
      </p:sp>
      <p:sp>
        <p:nvSpPr>
          <p:cNvPr id="22" name="rect 15"/>
          <p:cNvSpPr/>
          <p:nvPr/>
        </p:nvSpPr>
        <p:spPr>
          <a:xfrm>
            <a:off x="1473200" y="4559300"/>
            <a:ext cx="2578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实现创建、查询、更新、删除</a:t>
            </a:r>
          </a:p>
        </p:txBody>
      </p:sp>
      <p:sp>
        <p:nvSpPr>
          <p:cNvPr id="23" name="ellipse 6"/>
          <p:cNvSpPr/>
          <p:nvPr/>
        </p:nvSpPr>
        <p:spPr>
          <a:xfrm>
            <a:off x="990600" y="5080000"/>
            <a:ext cx="304800" cy="3048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4" name="rect 16"/>
          <p:cNvSpPr/>
          <p:nvPr/>
        </p:nvSpPr>
        <p:spPr>
          <a:xfrm>
            <a:off x="1092200" y="5118100"/>
            <a:ext cx="20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6</a:t>
            </a:r>
          </a:p>
        </p:txBody>
      </p:sp>
      <p:sp>
        <p:nvSpPr>
          <p:cNvPr id="25" name="rect 17"/>
          <p:cNvSpPr/>
          <p:nvPr/>
        </p:nvSpPr>
        <p:spPr>
          <a:xfrm>
            <a:off x="1473200" y="5092700"/>
            <a:ext cx="2692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使用 Postman 验证受保护 API</a:t>
            </a:r>
          </a:p>
        </p:txBody>
      </p:sp>
      <p:sp>
        <p:nvSpPr>
          <p:cNvPr id="26" name="rect 18"/>
          <p:cNvSpPr/>
          <p:nvPr/>
        </p:nvSpPr>
        <p:spPr>
          <a:xfrm>
            <a:off x="6273800" y="1841500"/>
            <a:ext cx="14732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后端产出链路</a:t>
            </a:r>
          </a:p>
        </p:txBody>
      </p:sp>
      <p:sp>
        <p:nvSpPr>
          <p:cNvPr id="27" name="roundRect 2"/>
          <p:cNvSpPr/>
          <p:nvPr/>
        </p:nvSpPr>
        <p:spPr>
          <a:xfrm>
            <a:off x="6273800" y="2501900"/>
            <a:ext cx="1625600" cy="787400"/>
          </a:xfrm>
          <a:prstGeom prst="roundRect">
            <a:avLst>
              <a:gd fmla="val 22581" name="adj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 19"/>
          <p:cNvSpPr/>
          <p:nvPr/>
        </p:nvSpPr>
        <p:spPr>
          <a:xfrm>
            <a:off x="6572250" y="2654300"/>
            <a:ext cx="1028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sz="1500">
                <a:solidFill>
                  <a:srgbClr val="FFFFFF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注册 / 登录</a:t>
            </a:r>
          </a:p>
        </p:txBody>
      </p:sp>
      <p:sp>
        <p:nvSpPr>
          <p:cNvPr id="29" name="rect 20"/>
          <p:cNvSpPr/>
          <p:nvPr/>
        </p:nvSpPr>
        <p:spPr>
          <a:xfrm>
            <a:off x="6794500" y="2933700"/>
            <a:ext cx="5842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1200">
                <a:solidFill>
                  <a:srgbClr val="9EC0D2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identity</a:t>
            </a:r>
          </a:p>
        </p:txBody>
      </p:sp>
      <p:sp>
        <p:nvSpPr>
          <p:cNvPr id="30" name="rect 21"/>
          <p:cNvSpPr/>
          <p:nvPr/>
        </p:nvSpPr>
        <p:spPr>
          <a:xfrm>
            <a:off x="8001000" y="2895600"/>
            <a:ext cx="406400" cy="12700"/>
          </a:xfrm>
          <a:custGeom>
            <a:avLst/>
            <a:gdLst/>
            <a:ahLst/>
            <a:cxnLst/>
            <a:rect l="0" t="0" r="0" b="0"/>
            <a:pathLst>
              <a:path w="32" h="1">
                <a:moveTo>
                  <a:pt x="0" y="0"/>
                </a:moveTo>
                <a:lnTo>
                  <a:pt x="32" y="0"/>
                </a:lnTo>
              </a:path>
            </a:pathLst>
          </a:custGeom>
          <a:solidFill>
            <a:srgbClr val="000000"/>
          </a:solidFill>
          <a:ln w="381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1" name="rect 22"/>
          <p:cNvSpPr/>
          <p:nvPr/>
        </p:nvSpPr>
        <p:spPr>
          <a:xfrm>
            <a:off x="8343900" y="2794000"/>
            <a:ext cx="127000" cy="203200"/>
          </a:xfrm>
          <a:custGeom>
            <a:avLst/>
            <a:gdLst/>
            <a:ahLst/>
            <a:cxnLst/>
            <a:rect l="0" t="0" r="0" b="0"/>
            <a:pathLst>
              <a:path w="10" h="16">
                <a:moveTo>
                  <a:pt x="0" y="0"/>
                </a:moveTo>
                <a:lnTo>
                  <a:pt x="10" y="8"/>
                </a:lnTo>
                <a:lnTo>
                  <a:pt x="0" y="16"/>
                </a:lnTo>
              </a:path>
            </a:pathLst>
          </a:custGeom>
          <a:noFill/>
          <a:ln w="381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2" name="roundRect 3"/>
          <p:cNvSpPr/>
          <p:nvPr/>
        </p:nvSpPr>
        <p:spPr>
          <a:xfrm>
            <a:off x="8559800" y="2501900"/>
            <a:ext cx="1422400" cy="787400"/>
          </a:xfrm>
          <a:prstGeom prst="roundRect">
            <a:avLst>
              <a:gd fmla="val 22581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 23"/>
          <p:cNvSpPr/>
          <p:nvPr/>
        </p:nvSpPr>
        <p:spPr>
          <a:xfrm>
            <a:off x="9004300" y="2654300"/>
            <a:ext cx="533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13000"/>
              </a:lnSpc>
              <a:buNone/>
            </a:pPr>
            <a:r>
              <a:rPr lang="en-US" sz="1600" b="1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JWT</a:t>
            </a:r>
          </a:p>
        </p:txBody>
      </p:sp>
      <p:sp>
        <p:nvSpPr>
          <p:cNvPr id="34" name="rect 24"/>
          <p:cNvSpPr/>
          <p:nvPr/>
        </p:nvSpPr>
        <p:spPr>
          <a:xfrm>
            <a:off x="9036050" y="2933700"/>
            <a:ext cx="4699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1200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token</a:t>
            </a:r>
          </a:p>
        </p:txBody>
      </p:sp>
      <p:sp>
        <p:nvSpPr>
          <p:cNvPr id="35" name="rect 25"/>
          <p:cNvSpPr/>
          <p:nvPr/>
        </p:nvSpPr>
        <p:spPr>
          <a:xfrm>
            <a:off x="10083800" y="2895600"/>
            <a:ext cx="406400" cy="12700"/>
          </a:xfrm>
          <a:custGeom>
            <a:avLst/>
            <a:gdLst/>
            <a:ahLst/>
            <a:cxnLst/>
            <a:rect l="0" t="0" r="0" b="0"/>
            <a:pathLst>
              <a:path w="32" h="1">
                <a:moveTo>
                  <a:pt x="0" y="0"/>
                </a:moveTo>
                <a:lnTo>
                  <a:pt x="32" y="0"/>
                </a:lnTo>
              </a:path>
            </a:pathLst>
          </a:custGeom>
          <a:solidFill>
            <a:srgbClr val="000000"/>
          </a:solidFill>
          <a:ln w="381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6" name="rect 26"/>
          <p:cNvSpPr/>
          <p:nvPr/>
        </p:nvSpPr>
        <p:spPr>
          <a:xfrm>
            <a:off x="10426700" y="2794000"/>
            <a:ext cx="127000" cy="203200"/>
          </a:xfrm>
          <a:custGeom>
            <a:avLst/>
            <a:gdLst/>
            <a:ahLst/>
            <a:cxnLst/>
            <a:rect l="0" t="0" r="0" b="0"/>
            <a:pathLst>
              <a:path w="10" h="16">
                <a:moveTo>
                  <a:pt x="0" y="0"/>
                </a:moveTo>
                <a:lnTo>
                  <a:pt x="10" y="8"/>
                </a:lnTo>
                <a:lnTo>
                  <a:pt x="0" y="16"/>
                </a:lnTo>
              </a:path>
            </a:pathLst>
          </a:custGeom>
          <a:noFill/>
          <a:ln w="381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7" name="roundRect 4"/>
          <p:cNvSpPr/>
          <p:nvPr/>
        </p:nvSpPr>
        <p:spPr>
          <a:xfrm>
            <a:off x="6273800" y="3733800"/>
            <a:ext cx="1828800" cy="787400"/>
          </a:xfrm>
          <a:prstGeom prst="roundRect">
            <a:avLst>
              <a:gd fmla="val 22581" name="adj"/>
            </a:avLst>
          </a:prstGeom>
          <a:solidFill>
            <a:srgbClr val="FFFFFF"/>
          </a:solidFill>
          <a:ln w="12700">
            <a:solidFill>
              <a:srgbClr val="B9CBD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 27"/>
          <p:cNvSpPr/>
          <p:nvPr/>
        </p:nvSpPr>
        <p:spPr>
          <a:xfrm>
            <a:off x="6661150" y="3898900"/>
            <a:ext cx="1054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sz="1500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认证中间件</a:t>
            </a:r>
          </a:p>
        </p:txBody>
      </p:sp>
      <p:sp>
        <p:nvSpPr>
          <p:cNvPr id="39" name="rect 28"/>
          <p:cNvSpPr/>
          <p:nvPr/>
        </p:nvSpPr>
        <p:spPr>
          <a:xfrm>
            <a:off x="6591300" y="4178300"/>
            <a:ext cx="11938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1200">
                <a:solidFill>
                  <a:srgbClr val="5C7187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verify + req.user</a:t>
            </a:r>
          </a:p>
        </p:txBody>
      </p:sp>
      <p:sp>
        <p:nvSpPr>
          <p:cNvPr id="40" name="rect 29"/>
          <p:cNvSpPr/>
          <p:nvPr/>
        </p:nvSpPr>
        <p:spPr>
          <a:xfrm>
            <a:off x="8204200" y="4127500"/>
            <a:ext cx="406400" cy="12700"/>
          </a:xfrm>
          <a:custGeom>
            <a:avLst/>
            <a:gdLst/>
            <a:ahLst/>
            <a:cxnLst/>
            <a:rect l="0" t="0" r="0" b="0"/>
            <a:pathLst>
              <a:path w="32" h="1">
                <a:moveTo>
                  <a:pt x="0" y="0"/>
                </a:moveTo>
                <a:lnTo>
                  <a:pt x="32" y="0"/>
                </a:lnTo>
              </a:path>
            </a:pathLst>
          </a:custGeom>
          <a:solidFill>
            <a:srgbClr val="000000"/>
          </a:solidFill>
          <a:ln w="381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1" name="rect 30"/>
          <p:cNvSpPr/>
          <p:nvPr/>
        </p:nvSpPr>
        <p:spPr>
          <a:xfrm>
            <a:off x="8547100" y="4025900"/>
            <a:ext cx="127000" cy="203200"/>
          </a:xfrm>
          <a:custGeom>
            <a:avLst/>
            <a:gdLst/>
            <a:ahLst/>
            <a:cxnLst/>
            <a:rect l="0" t="0" r="0" b="0"/>
            <a:pathLst>
              <a:path w="10" h="16">
                <a:moveTo>
                  <a:pt x="0" y="0"/>
                </a:moveTo>
                <a:lnTo>
                  <a:pt x="10" y="8"/>
                </a:lnTo>
                <a:lnTo>
                  <a:pt x="0" y="16"/>
                </a:lnTo>
              </a:path>
            </a:pathLst>
          </a:custGeom>
          <a:noFill/>
          <a:ln w="381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2" name="roundRect 5"/>
          <p:cNvSpPr/>
          <p:nvPr/>
        </p:nvSpPr>
        <p:spPr>
          <a:xfrm>
            <a:off x="8763000" y="3733800"/>
            <a:ext cx="1676400" cy="787400"/>
          </a:xfrm>
          <a:prstGeom prst="roundRect">
            <a:avLst>
              <a:gd fmla="val 22581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 31"/>
          <p:cNvSpPr/>
          <p:nvPr/>
        </p:nvSpPr>
        <p:spPr>
          <a:xfrm>
            <a:off x="8959850" y="3898900"/>
            <a:ext cx="1282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zh-CN" sz="1500" b="1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知识点 CRUD</a:t>
            </a:r>
          </a:p>
        </p:txBody>
      </p:sp>
      <p:sp>
        <p:nvSpPr>
          <p:cNvPr id="44" name="rect 32"/>
          <p:cNvSpPr/>
          <p:nvPr/>
        </p:nvSpPr>
        <p:spPr>
          <a:xfrm>
            <a:off x="9251950" y="4178300"/>
            <a:ext cx="6985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zh-CN" sz="1200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业务 API</a:t>
            </a:r>
          </a:p>
        </p:txBody>
      </p:sp>
      <p:sp>
        <p:nvSpPr>
          <p:cNvPr id="45" name="rect 33"/>
          <p:cNvSpPr/>
          <p:nvPr/>
        </p:nvSpPr>
        <p:spPr>
          <a:xfrm>
            <a:off x="9601200" y="4521200"/>
            <a:ext cx="12700" cy="419100"/>
          </a:xfrm>
          <a:custGeom>
            <a:avLst/>
            <a:gdLst/>
            <a:ahLst/>
            <a:cxnLst/>
            <a:rect l="0" t="0" r="0" b="0"/>
            <a:pathLst>
              <a:path w="1" h="33">
                <a:moveTo>
                  <a:pt x="0" y="0"/>
                </a:moveTo>
                <a:lnTo>
                  <a:pt x="0" y="33"/>
                </a:lnTo>
              </a:path>
            </a:pathLst>
          </a:custGeom>
          <a:solidFill>
            <a:srgbClr val="000000"/>
          </a:solidFill>
          <a:ln w="381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6" name="rect 34"/>
          <p:cNvSpPr/>
          <p:nvPr/>
        </p:nvSpPr>
        <p:spPr>
          <a:xfrm>
            <a:off x="9499600" y="4876800"/>
            <a:ext cx="203200" cy="127000"/>
          </a:xfrm>
          <a:custGeom>
            <a:avLst/>
            <a:gdLst/>
            <a:ahLst/>
            <a:cxnLst/>
            <a:rect l="0" t="0" r="0" b="0"/>
            <a:pathLst>
              <a:path w="16" h="10">
                <a:moveTo>
                  <a:pt x="0" y="0"/>
                </a:moveTo>
                <a:lnTo>
                  <a:pt x="8" y="10"/>
                </a:lnTo>
                <a:lnTo>
                  <a:pt x="16" y="0"/>
                </a:lnTo>
              </a:path>
            </a:pathLst>
          </a:custGeom>
          <a:noFill/>
          <a:ln w="381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7" name="roundRect 6"/>
          <p:cNvSpPr/>
          <p:nvPr/>
        </p:nvSpPr>
        <p:spPr>
          <a:xfrm>
            <a:off x="7594600" y="5080000"/>
            <a:ext cx="2489200" cy="482600"/>
          </a:xfrm>
          <a:prstGeom prst="roundRect">
            <a:avLst>
              <a:gd fmla="val 50000" name="adj"/>
            </a:avLst>
          </a:prstGeom>
          <a:solidFill>
            <a:srgbClr val="E2F4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 35"/>
          <p:cNvSpPr/>
          <p:nvPr/>
        </p:nvSpPr>
        <p:spPr>
          <a:xfrm>
            <a:off x="8058150" y="5232400"/>
            <a:ext cx="1562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5000"/>
              </a:lnSpc>
              <a:buNone/>
            </a:pPr>
            <a:r>
              <a:rPr lang="zh-CN" sz="1400">
                <a:solidFill>
                  <a:srgbClr val="147A7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Postman 验证闭环</a:t>
            </a:r>
          </a:p>
        </p:txBody>
      </p:sp>
      <p:cxnSp>
        <p:nvCxnSpPr>
          <p:cNvPr id="49" name="line 1"/>
          <p:cNvCxnSpPr/>
          <p:nvPr/>
        </p:nvCxnSpPr>
        <p:spPr>
          <a:xfrm>
            <a:off x="711200" y="6242050"/>
            <a:ext cx="10769600" cy="12700"/>
          </a:xfrm>
          <a:prstGeom prst="line">
            <a:avLst/>
          </a:prstGeom>
          <a:noFill/>
          <a:ln w="12700">
            <a:solidFill>
              <a:srgbClr val="DCE5EF"/>
            </a:solidFill>
          </a:ln>
        </p:spPr>
      </p:cxnSp>
      <p:sp>
        <p:nvSpPr>
          <p:cNvPr id="50" name="rect 36"/>
          <p:cNvSpPr/>
          <p:nvPr/>
        </p:nvSpPr>
        <p:spPr>
          <a:xfrm>
            <a:off x="711200" y="6362700"/>
            <a:ext cx="208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71869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费曼学习平台 · 第三次课</a:t>
            </a:r>
          </a:p>
        </p:txBody>
      </p:sp>
      <p:sp>
        <p:nvSpPr>
          <p:cNvPr id="51" name="rect 37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71869A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711200" y="330200"/>
            <a:ext cx="58293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JWT：一张有时效的数字通行证</a:t>
            </a:r>
          </a:p>
        </p:txBody>
      </p:sp>
      <p:sp>
        <p:nvSpPr>
          <p:cNvPr id="4" name="rect 3"/>
          <p:cNvSpPr/>
          <p:nvPr/>
        </p:nvSpPr>
        <p:spPr>
          <a:xfrm>
            <a:off x="711200" y="952500"/>
            <a:ext cx="63881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HTTP 不记得上一次是谁，所以每次请求都要带上可验证的身份凭证。</a:t>
            </a:r>
          </a:p>
        </p:txBody>
      </p:sp>
      <p:sp>
        <p:nvSpPr>
          <p:cNvPr id="5" name="roundRect 1"/>
          <p:cNvSpPr/>
          <p:nvPr/>
        </p:nvSpPr>
        <p:spPr>
          <a:xfrm>
            <a:off x="711200" y="1701800"/>
            <a:ext cx="2286000" cy="1371600"/>
          </a:xfrm>
          <a:prstGeom prst="roundRect">
            <a:avLst>
              <a:gd fmla="val 16667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ellipse 1"/>
          <p:cNvSpPr/>
          <p:nvPr/>
        </p:nvSpPr>
        <p:spPr>
          <a:xfrm>
            <a:off x="914400" y="1930400"/>
            <a:ext cx="558800" cy="5588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7" name="rect 4"/>
          <p:cNvSpPr/>
          <p:nvPr/>
        </p:nvSpPr>
        <p:spPr>
          <a:xfrm>
            <a:off x="1054100" y="2006600"/>
            <a:ext cx="279400" cy="330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8000"/>
              </a:lnSpc>
              <a:buNone/>
            </a:pPr>
            <a:r>
              <a:rPr lang="en-US" sz="2200" b="1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1</a:t>
            </a:r>
          </a:p>
        </p:txBody>
      </p:sp>
      <p:sp>
        <p:nvSpPr>
          <p:cNvPr id="8" name="rect 5"/>
          <p:cNvSpPr/>
          <p:nvPr/>
        </p:nvSpPr>
        <p:spPr>
          <a:xfrm>
            <a:off x="1625600" y="1955800"/>
            <a:ext cx="5588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登录</a:t>
            </a:r>
          </a:p>
        </p:txBody>
      </p:sp>
      <p:sp>
        <p:nvSpPr>
          <p:cNvPr id="9" name="rect 6"/>
          <p:cNvSpPr/>
          <p:nvPr/>
        </p:nvSpPr>
        <p:spPr>
          <a:xfrm>
            <a:off x="1625600" y="2336800"/>
            <a:ext cx="1257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验证账号与密码</a:t>
            </a:r>
          </a:p>
        </p:txBody>
      </p:sp>
      <p:sp>
        <p:nvSpPr>
          <p:cNvPr id="10" name="rect 7"/>
          <p:cNvSpPr/>
          <p:nvPr/>
        </p:nvSpPr>
        <p:spPr>
          <a:xfrm>
            <a:off x="3124200" y="2387600"/>
            <a:ext cx="457200" cy="12700"/>
          </a:xfrm>
          <a:custGeom>
            <a:avLst/>
            <a:gdLst/>
            <a:ahLst/>
            <a:cxnLst/>
            <a:rect l="0" t="0" r="0" b="0"/>
            <a:pathLst>
              <a:path w="36" h="1">
                <a:moveTo>
                  <a:pt x="0" y="0"/>
                </a:moveTo>
                <a:lnTo>
                  <a:pt x="36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1" name="rect 8"/>
          <p:cNvSpPr/>
          <p:nvPr/>
        </p:nvSpPr>
        <p:spPr>
          <a:xfrm>
            <a:off x="3505200" y="22733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2" name="roundRect 2"/>
          <p:cNvSpPr/>
          <p:nvPr/>
        </p:nvSpPr>
        <p:spPr>
          <a:xfrm>
            <a:off x="3733800" y="1701800"/>
            <a:ext cx="2286000" cy="1371600"/>
          </a:xfrm>
          <a:prstGeom prst="roundRect">
            <a:avLst>
              <a:gd fmla="val 16667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ellipse 2"/>
          <p:cNvSpPr/>
          <p:nvPr/>
        </p:nvSpPr>
        <p:spPr>
          <a:xfrm>
            <a:off x="3937000" y="1930400"/>
            <a:ext cx="558800" cy="5588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4" name="rect 9"/>
          <p:cNvSpPr/>
          <p:nvPr/>
        </p:nvSpPr>
        <p:spPr>
          <a:xfrm>
            <a:off x="4076700" y="2006600"/>
            <a:ext cx="279400" cy="330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8000"/>
              </a:lnSpc>
              <a:buNone/>
            </a:pPr>
            <a:r>
              <a:rPr lang="en-US" sz="2200" b="1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2</a:t>
            </a:r>
          </a:p>
        </p:txBody>
      </p:sp>
      <p:sp>
        <p:nvSpPr>
          <p:cNvPr id="15" name="rect 10"/>
          <p:cNvSpPr/>
          <p:nvPr/>
        </p:nvSpPr>
        <p:spPr>
          <a:xfrm>
            <a:off x="4648200" y="1955800"/>
            <a:ext cx="5588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签发</a:t>
            </a:r>
          </a:p>
        </p:txBody>
      </p:sp>
      <p:sp>
        <p:nvSpPr>
          <p:cNvPr id="16" name="rect 11"/>
          <p:cNvSpPr/>
          <p:nvPr/>
        </p:nvSpPr>
        <p:spPr>
          <a:xfrm>
            <a:off x="4648200" y="2336800"/>
            <a:ext cx="1320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服务端生成 JWT</a:t>
            </a:r>
          </a:p>
        </p:txBody>
      </p:sp>
      <p:sp>
        <p:nvSpPr>
          <p:cNvPr id="17" name="rect 12"/>
          <p:cNvSpPr/>
          <p:nvPr/>
        </p:nvSpPr>
        <p:spPr>
          <a:xfrm>
            <a:off x="6146800" y="2387600"/>
            <a:ext cx="457200" cy="12700"/>
          </a:xfrm>
          <a:custGeom>
            <a:avLst/>
            <a:gdLst/>
            <a:ahLst/>
            <a:cxnLst/>
            <a:rect l="0" t="0" r="0" b="0"/>
            <a:pathLst>
              <a:path w="36" h="1">
                <a:moveTo>
                  <a:pt x="0" y="0"/>
                </a:moveTo>
                <a:lnTo>
                  <a:pt x="36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8" name="rect 13"/>
          <p:cNvSpPr/>
          <p:nvPr/>
        </p:nvSpPr>
        <p:spPr>
          <a:xfrm>
            <a:off x="6527800" y="22733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9" name="roundRect 3"/>
          <p:cNvSpPr/>
          <p:nvPr/>
        </p:nvSpPr>
        <p:spPr>
          <a:xfrm>
            <a:off x="6756400" y="1701800"/>
            <a:ext cx="2286000" cy="1371600"/>
          </a:xfrm>
          <a:prstGeom prst="roundRect">
            <a:avLst>
              <a:gd fmla="val 16667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ellipse 3"/>
          <p:cNvSpPr/>
          <p:nvPr/>
        </p:nvSpPr>
        <p:spPr>
          <a:xfrm>
            <a:off x="6959600" y="1930400"/>
            <a:ext cx="558800" cy="55880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1" name="rect 14"/>
          <p:cNvSpPr/>
          <p:nvPr/>
        </p:nvSpPr>
        <p:spPr>
          <a:xfrm>
            <a:off x="7099300" y="2006600"/>
            <a:ext cx="279400" cy="330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800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3</a:t>
            </a:r>
          </a:p>
        </p:txBody>
      </p:sp>
      <p:sp>
        <p:nvSpPr>
          <p:cNvPr id="22" name="rect 15"/>
          <p:cNvSpPr/>
          <p:nvPr/>
        </p:nvSpPr>
        <p:spPr>
          <a:xfrm>
            <a:off x="7670800" y="1955800"/>
            <a:ext cx="5588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携带</a:t>
            </a:r>
          </a:p>
        </p:txBody>
      </p:sp>
      <p:sp>
        <p:nvSpPr>
          <p:cNvPr id="23" name="rect 16"/>
          <p:cNvSpPr/>
          <p:nvPr/>
        </p:nvSpPr>
        <p:spPr>
          <a:xfrm>
            <a:off x="7670800" y="2336800"/>
            <a:ext cx="1282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请求携带 Token</a:t>
            </a:r>
          </a:p>
        </p:txBody>
      </p:sp>
      <p:sp>
        <p:nvSpPr>
          <p:cNvPr id="24" name="rect 17"/>
          <p:cNvSpPr/>
          <p:nvPr/>
        </p:nvSpPr>
        <p:spPr>
          <a:xfrm>
            <a:off x="9169400" y="2387600"/>
            <a:ext cx="457200" cy="12700"/>
          </a:xfrm>
          <a:custGeom>
            <a:avLst/>
            <a:gdLst/>
            <a:ahLst/>
            <a:cxnLst/>
            <a:rect l="0" t="0" r="0" b="0"/>
            <a:pathLst>
              <a:path w="36" h="1">
                <a:moveTo>
                  <a:pt x="0" y="0"/>
                </a:moveTo>
                <a:lnTo>
                  <a:pt x="36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5" name="rect 18"/>
          <p:cNvSpPr/>
          <p:nvPr/>
        </p:nvSpPr>
        <p:spPr>
          <a:xfrm>
            <a:off x="9550400" y="22733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6" name="roundRect 4"/>
          <p:cNvSpPr/>
          <p:nvPr/>
        </p:nvSpPr>
        <p:spPr>
          <a:xfrm>
            <a:off x="9779000" y="1701800"/>
            <a:ext cx="1701800" cy="1371600"/>
          </a:xfrm>
          <a:prstGeom prst="roundRect">
            <a:avLst>
              <a:gd fmla="val 16667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ellipse 4"/>
          <p:cNvSpPr/>
          <p:nvPr/>
        </p:nvSpPr>
        <p:spPr>
          <a:xfrm>
            <a:off x="9956800" y="1930400"/>
            <a:ext cx="558800" cy="55880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8" name="rect 19"/>
          <p:cNvSpPr/>
          <p:nvPr/>
        </p:nvSpPr>
        <p:spPr>
          <a:xfrm>
            <a:off x="10096500" y="2006600"/>
            <a:ext cx="279400" cy="330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8000"/>
              </a:lnSpc>
              <a:buNone/>
            </a:pPr>
            <a:r>
              <a:rPr lang="en-US" sz="2200" b="1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4</a:t>
            </a:r>
          </a:p>
        </p:txBody>
      </p:sp>
      <p:sp>
        <p:nvSpPr>
          <p:cNvPr id="29" name="rect 20"/>
          <p:cNvSpPr/>
          <p:nvPr/>
        </p:nvSpPr>
        <p:spPr>
          <a:xfrm>
            <a:off x="10642600" y="1955800"/>
            <a:ext cx="558800" cy="2794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8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验证</a:t>
            </a:r>
          </a:p>
        </p:txBody>
      </p:sp>
      <p:sp>
        <p:nvSpPr>
          <p:cNvPr id="30" name="rect 21"/>
          <p:cNvSpPr/>
          <p:nvPr/>
        </p:nvSpPr>
        <p:spPr>
          <a:xfrm>
            <a:off x="10642600" y="2336800"/>
            <a:ext cx="9525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通过 / 拒绝</a:t>
            </a:r>
          </a:p>
        </p:txBody>
      </p:sp>
      <p:sp>
        <p:nvSpPr>
          <p:cNvPr id="31" name="roundRect 5"/>
          <p:cNvSpPr/>
          <p:nvPr/>
        </p:nvSpPr>
        <p:spPr>
          <a:xfrm>
            <a:off x="711200" y="3657600"/>
            <a:ext cx="10769600" cy="2032000"/>
          </a:xfrm>
          <a:prstGeom prst="roundRect">
            <a:avLst>
              <a:gd fmla="val 12500" name="adj"/>
            </a:avLst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 22"/>
          <p:cNvSpPr/>
          <p:nvPr/>
        </p:nvSpPr>
        <p:spPr>
          <a:xfrm>
            <a:off x="1066800" y="3898900"/>
            <a:ext cx="43561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9000"/>
              </a:lnSpc>
              <a:buNone/>
            </a:pPr>
            <a:r>
              <a:rPr lang="en-US" sz="2000" b="1">
                <a:solidFill>
                  <a:srgbClr val="0B1F3A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JWT = Header . Payload . Signature</a:t>
            </a:r>
          </a:p>
        </p:txBody>
      </p:sp>
      <p:sp>
        <p:nvSpPr>
          <p:cNvPr id="33" name="roundRect 6"/>
          <p:cNvSpPr/>
          <p:nvPr/>
        </p:nvSpPr>
        <p:spPr>
          <a:xfrm>
            <a:off x="1066800" y="4445000"/>
            <a:ext cx="2870200" cy="889000"/>
          </a:xfrm>
          <a:prstGeom prst="roundRect">
            <a:avLst>
              <a:gd fmla="val 17143" name="adj"/>
            </a:avLst>
          </a:prstGeom>
          <a:solidFill>
            <a:srgbClr val="E5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 23"/>
          <p:cNvSpPr/>
          <p:nvPr/>
        </p:nvSpPr>
        <p:spPr>
          <a:xfrm>
            <a:off x="1333500" y="4572000"/>
            <a:ext cx="8001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600" b="1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Header</a:t>
            </a:r>
          </a:p>
        </p:txBody>
      </p:sp>
      <p:sp>
        <p:nvSpPr>
          <p:cNvPr id="35" name="rect 24"/>
          <p:cNvSpPr/>
          <p:nvPr/>
        </p:nvSpPr>
        <p:spPr>
          <a:xfrm>
            <a:off x="1333500" y="4902200"/>
            <a:ext cx="1257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类型与签名算法</a:t>
            </a:r>
          </a:p>
        </p:txBody>
      </p:sp>
      <p:sp>
        <p:nvSpPr>
          <p:cNvPr id="36" name="roundRect 7"/>
          <p:cNvSpPr/>
          <p:nvPr/>
        </p:nvSpPr>
        <p:spPr>
          <a:xfrm>
            <a:off x="4191000" y="4445000"/>
            <a:ext cx="2870200" cy="889000"/>
          </a:xfrm>
          <a:prstGeom prst="roundRect">
            <a:avLst>
              <a:gd fmla="val 17143" name="adj"/>
            </a:avLst>
          </a:prstGeom>
          <a:solidFill>
            <a:srgbClr val="DDF4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 25"/>
          <p:cNvSpPr/>
          <p:nvPr/>
        </p:nvSpPr>
        <p:spPr>
          <a:xfrm>
            <a:off x="4457700" y="4572000"/>
            <a:ext cx="8763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600" b="1">
                <a:solidFill>
                  <a:srgbClr val="147A7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Payload</a:t>
            </a:r>
          </a:p>
        </p:txBody>
      </p:sp>
      <p:sp>
        <p:nvSpPr>
          <p:cNvPr id="38" name="rect 26"/>
          <p:cNvSpPr/>
          <p:nvPr/>
        </p:nvSpPr>
        <p:spPr>
          <a:xfrm>
            <a:off x="4457700" y="4902200"/>
            <a:ext cx="2019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用户 ID 等声明；不是密文</a:t>
            </a:r>
          </a:p>
        </p:txBody>
      </p:sp>
      <p:sp>
        <p:nvSpPr>
          <p:cNvPr id="39" name="roundRect 8"/>
          <p:cNvSpPr/>
          <p:nvPr/>
        </p:nvSpPr>
        <p:spPr>
          <a:xfrm>
            <a:off x="7315200" y="4445000"/>
            <a:ext cx="3759200" cy="889000"/>
          </a:xfrm>
          <a:prstGeom prst="roundRect">
            <a:avLst>
              <a:gd fmla="val 17143" name="adj"/>
            </a:avLst>
          </a:prstGeom>
          <a:solidFill>
            <a:srgbClr val="FFF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 27"/>
          <p:cNvSpPr/>
          <p:nvPr/>
        </p:nvSpPr>
        <p:spPr>
          <a:xfrm>
            <a:off x="7581900" y="4572000"/>
            <a:ext cx="10287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600" b="1">
                <a:solidFill>
                  <a:srgbClr val="A26711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Signature</a:t>
            </a:r>
          </a:p>
        </p:txBody>
      </p:sp>
      <p:sp>
        <p:nvSpPr>
          <p:cNvPr id="41" name="rect 28"/>
          <p:cNvSpPr/>
          <p:nvPr/>
        </p:nvSpPr>
        <p:spPr>
          <a:xfrm>
            <a:off x="7581900" y="4902200"/>
            <a:ext cx="19177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服务端密钥签名，防篡改</a:t>
            </a:r>
          </a:p>
        </p:txBody>
      </p:sp>
      <p:sp>
        <p:nvSpPr>
          <p:cNvPr id="42" name="rect 29"/>
          <p:cNvSpPr/>
          <p:nvPr/>
        </p:nvSpPr>
        <p:spPr>
          <a:xfrm>
            <a:off x="711200" y="5930900"/>
            <a:ext cx="5854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示例有效期：expiresIn: '5h' · 密钥只放在服务端环境变量 JWT_SECRET</a:t>
            </a:r>
          </a:p>
        </p:txBody>
      </p:sp>
      <p:sp>
        <p:nvSpPr>
          <p:cNvPr id="43" name="rect 30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91A7BD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711200" y="330200"/>
            <a:ext cx="61976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安全不是附加项，而是认证的底座</a:t>
            </a:r>
          </a:p>
        </p:txBody>
      </p:sp>
      <p:sp>
        <p:nvSpPr>
          <p:cNvPr id="5" name="rect 4"/>
          <p:cNvSpPr/>
          <p:nvPr/>
        </p:nvSpPr>
        <p:spPr>
          <a:xfrm>
            <a:off x="711200" y="939800"/>
            <a:ext cx="57912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密码只保存哈希；路由按职责拆分；密钥留在服务端环境变量。</a:t>
            </a:r>
          </a:p>
        </p:txBody>
      </p:sp>
      <p:sp>
        <p:nvSpPr>
          <p:cNvPr id="6" name="roundRect 1"/>
          <p:cNvSpPr/>
          <p:nvPr/>
        </p:nvSpPr>
        <p:spPr>
          <a:xfrm>
            <a:off x="711200" y="1625600"/>
            <a:ext cx="5334000" cy="3860800"/>
          </a:xfrm>
          <a:prstGeom prst="roundRect">
            <a:avLst>
              <a:gd fmla="val 6579" name="adj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066800" y="1879600"/>
            <a:ext cx="23495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20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密码安全：bcryptjs</a:t>
            </a:r>
          </a:p>
        </p:txBody>
      </p:sp>
      <p:sp>
        <p:nvSpPr>
          <p:cNvPr id="8" name="rect 6"/>
          <p:cNvSpPr/>
          <p:nvPr/>
        </p:nvSpPr>
        <p:spPr>
          <a:xfrm>
            <a:off x="1066800" y="2349500"/>
            <a:ext cx="3073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A9BED1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注册与登录，走的是两条不同的安全路径</a:t>
            </a:r>
          </a:p>
        </p:txBody>
      </p:sp>
      <p:sp>
        <p:nvSpPr>
          <p:cNvPr id="9" name="roundRect 2"/>
          <p:cNvSpPr/>
          <p:nvPr/>
        </p:nvSpPr>
        <p:spPr>
          <a:xfrm>
            <a:off x="1066800" y="2857500"/>
            <a:ext cx="1968500" cy="939800"/>
          </a:xfrm>
          <a:prstGeom prst="roundRect">
            <a:avLst>
              <a:gd fmla="val 16216" name="adj"/>
            </a:avLst>
          </a:prstGeom>
          <a:solidFill>
            <a:srgbClr val="123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 7"/>
          <p:cNvSpPr/>
          <p:nvPr/>
        </p:nvSpPr>
        <p:spPr>
          <a:xfrm>
            <a:off x="1320800" y="3022600"/>
            <a:ext cx="482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zh-CN" sz="1500" b="1">
                <a:solidFill>
                  <a:srgbClr val="FFFFFF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注册</a:t>
            </a:r>
          </a:p>
        </p:txBody>
      </p:sp>
      <p:sp>
        <p:nvSpPr>
          <p:cNvPr id="11" name="rect 8"/>
          <p:cNvSpPr/>
          <p:nvPr/>
        </p:nvSpPr>
        <p:spPr>
          <a:xfrm>
            <a:off x="1320800" y="3340100"/>
            <a:ext cx="12065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A9BED1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明文密码 + salt</a:t>
            </a:r>
          </a:p>
        </p:txBody>
      </p:sp>
      <p:sp>
        <p:nvSpPr>
          <p:cNvPr id="12" name="rect 9"/>
          <p:cNvSpPr/>
          <p:nvPr/>
        </p:nvSpPr>
        <p:spPr>
          <a:xfrm>
            <a:off x="3149600" y="3327400"/>
            <a:ext cx="431800" cy="12700"/>
          </a:xfrm>
          <a:custGeom>
            <a:avLst/>
            <a:gdLst/>
            <a:ahLst/>
            <a:cxnLst/>
            <a:rect l="0" t="0" r="0" b="0"/>
            <a:pathLst>
              <a:path w="34" h="1">
                <a:moveTo>
                  <a:pt x="0" y="0"/>
                </a:moveTo>
                <a:lnTo>
                  <a:pt x="34" y="0"/>
                </a:lnTo>
              </a:path>
            </a:pathLst>
          </a:custGeom>
          <a:solidFill>
            <a:srgbClr val="000000"/>
          </a:solidFill>
          <a:ln w="381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3" name="rect 10"/>
          <p:cNvSpPr/>
          <p:nvPr/>
        </p:nvSpPr>
        <p:spPr>
          <a:xfrm>
            <a:off x="3505200" y="3225800"/>
            <a:ext cx="127000" cy="203200"/>
          </a:xfrm>
          <a:custGeom>
            <a:avLst/>
            <a:gdLst/>
            <a:ahLst/>
            <a:cxnLst/>
            <a:rect l="0" t="0" r="0" b="0"/>
            <a:pathLst>
              <a:path w="10" h="16">
                <a:moveTo>
                  <a:pt x="0" y="0"/>
                </a:moveTo>
                <a:lnTo>
                  <a:pt x="10" y="8"/>
                </a:lnTo>
                <a:lnTo>
                  <a:pt x="0" y="16"/>
                </a:lnTo>
              </a:path>
            </a:pathLst>
          </a:custGeom>
          <a:noFill/>
          <a:ln w="381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4" name="roundRect 3"/>
          <p:cNvSpPr/>
          <p:nvPr/>
        </p:nvSpPr>
        <p:spPr>
          <a:xfrm>
            <a:off x="3733800" y="2857500"/>
            <a:ext cx="1955800" cy="939800"/>
          </a:xfrm>
          <a:prstGeom prst="roundRect">
            <a:avLst>
              <a:gd fmla="val 16216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 11"/>
          <p:cNvSpPr/>
          <p:nvPr/>
        </p:nvSpPr>
        <p:spPr>
          <a:xfrm>
            <a:off x="3987800" y="3022600"/>
            <a:ext cx="673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 b="1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hash()</a:t>
            </a:r>
          </a:p>
        </p:txBody>
      </p:sp>
      <p:sp>
        <p:nvSpPr>
          <p:cNvPr id="16" name="rect 12"/>
          <p:cNvSpPr/>
          <p:nvPr/>
        </p:nvSpPr>
        <p:spPr>
          <a:xfrm>
            <a:off x="3987800" y="3340100"/>
            <a:ext cx="1257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数据库只存哈希</a:t>
            </a:r>
          </a:p>
        </p:txBody>
      </p:sp>
      <p:sp>
        <p:nvSpPr>
          <p:cNvPr id="17" name="roundRect 4"/>
          <p:cNvSpPr/>
          <p:nvPr/>
        </p:nvSpPr>
        <p:spPr>
          <a:xfrm>
            <a:off x="1066800" y="4140200"/>
            <a:ext cx="1968500" cy="939800"/>
          </a:xfrm>
          <a:prstGeom prst="roundRect">
            <a:avLst>
              <a:gd fmla="val 16216" name="adj"/>
            </a:avLst>
          </a:prstGeom>
          <a:solidFill>
            <a:srgbClr val="123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 13"/>
          <p:cNvSpPr/>
          <p:nvPr/>
        </p:nvSpPr>
        <p:spPr>
          <a:xfrm>
            <a:off x="1320800" y="4305300"/>
            <a:ext cx="482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zh-CN" sz="1500" b="1">
                <a:solidFill>
                  <a:srgbClr val="FFFFFF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登录</a:t>
            </a:r>
          </a:p>
        </p:txBody>
      </p:sp>
      <p:sp>
        <p:nvSpPr>
          <p:cNvPr id="19" name="rect 14"/>
          <p:cNvSpPr/>
          <p:nvPr/>
        </p:nvSpPr>
        <p:spPr>
          <a:xfrm>
            <a:off x="1320800" y="4622800"/>
            <a:ext cx="1778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A9BED1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输入密码 + 数据库哈希</a:t>
            </a:r>
          </a:p>
        </p:txBody>
      </p:sp>
      <p:sp>
        <p:nvSpPr>
          <p:cNvPr id="20" name="rect 15"/>
          <p:cNvSpPr/>
          <p:nvPr/>
        </p:nvSpPr>
        <p:spPr>
          <a:xfrm>
            <a:off x="3149600" y="4610100"/>
            <a:ext cx="431800" cy="12700"/>
          </a:xfrm>
          <a:custGeom>
            <a:avLst/>
            <a:gdLst/>
            <a:ahLst/>
            <a:cxnLst/>
            <a:rect l="0" t="0" r="0" b="0"/>
            <a:pathLst>
              <a:path w="34" h="1">
                <a:moveTo>
                  <a:pt x="0" y="0"/>
                </a:moveTo>
                <a:lnTo>
                  <a:pt x="34" y="0"/>
                </a:lnTo>
              </a:path>
            </a:pathLst>
          </a:custGeom>
          <a:solidFill>
            <a:srgbClr val="000000"/>
          </a:solidFill>
          <a:ln w="38100">
            <a:solidFill>
              <a:srgbClr val="FFB454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1" name="rect 16"/>
          <p:cNvSpPr/>
          <p:nvPr/>
        </p:nvSpPr>
        <p:spPr>
          <a:xfrm>
            <a:off x="3505200" y="4508500"/>
            <a:ext cx="127000" cy="203200"/>
          </a:xfrm>
          <a:custGeom>
            <a:avLst/>
            <a:gdLst/>
            <a:ahLst/>
            <a:cxnLst/>
            <a:rect l="0" t="0" r="0" b="0"/>
            <a:pathLst>
              <a:path w="10" h="16">
                <a:moveTo>
                  <a:pt x="0" y="0"/>
                </a:moveTo>
                <a:lnTo>
                  <a:pt x="10" y="8"/>
                </a:lnTo>
                <a:lnTo>
                  <a:pt x="0" y="16"/>
                </a:lnTo>
              </a:path>
            </a:pathLst>
          </a:custGeom>
          <a:noFill/>
          <a:ln w="38100">
            <a:solidFill>
              <a:srgbClr val="FFB454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2" name="roundRect 5"/>
          <p:cNvSpPr/>
          <p:nvPr/>
        </p:nvSpPr>
        <p:spPr>
          <a:xfrm>
            <a:off x="3733800" y="4140200"/>
            <a:ext cx="1955800" cy="939800"/>
          </a:xfrm>
          <a:prstGeom prst="roundRect">
            <a:avLst>
              <a:gd fmla="val 16216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 17"/>
          <p:cNvSpPr/>
          <p:nvPr/>
        </p:nvSpPr>
        <p:spPr>
          <a:xfrm>
            <a:off x="3987800" y="4305300"/>
            <a:ext cx="10287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 b="1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compare()</a:t>
            </a:r>
          </a:p>
        </p:txBody>
      </p:sp>
      <p:sp>
        <p:nvSpPr>
          <p:cNvPr id="24" name="rect 18"/>
          <p:cNvSpPr/>
          <p:nvPr/>
        </p:nvSpPr>
        <p:spPr>
          <a:xfrm>
            <a:off x="3987800" y="4622800"/>
            <a:ext cx="14732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匹配后才签发 JWT</a:t>
            </a:r>
          </a:p>
        </p:txBody>
      </p:sp>
      <p:sp>
        <p:nvSpPr>
          <p:cNvPr id="25" name="roundRect 6"/>
          <p:cNvSpPr/>
          <p:nvPr/>
        </p:nvSpPr>
        <p:spPr>
          <a:xfrm>
            <a:off x="6426200" y="1625600"/>
            <a:ext cx="5054600" cy="3860800"/>
          </a:xfrm>
          <a:prstGeom prst="roundRect">
            <a:avLst>
              <a:gd fmla="val 6579" name="adj"/>
            </a:avLst>
          </a:prstGeom>
          <a:solidFill>
            <a:srgbClr val="FFFFFF"/>
          </a:solidFill>
          <a:ln w="12700">
            <a:solidFill>
              <a:srgbClr val="DCE5E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 19"/>
          <p:cNvSpPr/>
          <p:nvPr/>
        </p:nvSpPr>
        <p:spPr>
          <a:xfrm>
            <a:off x="6781800" y="1879600"/>
            <a:ext cx="26416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20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路由模块化：各司其职</a:t>
            </a:r>
          </a:p>
        </p:txBody>
      </p:sp>
      <p:sp>
        <p:nvSpPr>
          <p:cNvPr id="27" name="roundRect 7"/>
          <p:cNvSpPr/>
          <p:nvPr/>
        </p:nvSpPr>
        <p:spPr>
          <a:xfrm>
            <a:off x="6781800" y="2527300"/>
            <a:ext cx="4318000" cy="660400"/>
          </a:xfrm>
          <a:prstGeom prst="roundRect">
            <a:avLst>
              <a:gd fmla="val 19231" name="adj"/>
            </a:avLst>
          </a:prstGeom>
          <a:solidFill>
            <a:srgbClr val="E7F4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 20"/>
          <p:cNvSpPr/>
          <p:nvPr/>
        </p:nvSpPr>
        <p:spPr>
          <a:xfrm>
            <a:off x="7061200" y="2641600"/>
            <a:ext cx="14605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 b="1">
                <a:solidFill>
                  <a:srgbClr val="147A7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routes/users.js</a:t>
            </a:r>
          </a:p>
        </p:txBody>
      </p:sp>
      <p:sp>
        <p:nvSpPr>
          <p:cNvPr id="29" name="rect 21"/>
          <p:cNvSpPr/>
          <p:nvPr/>
        </p:nvSpPr>
        <p:spPr>
          <a:xfrm>
            <a:off x="7061200" y="2895600"/>
            <a:ext cx="1143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en-US" sz="1300">
                <a:solidFill>
                  <a:srgbClr val="5C7187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register · login</a:t>
            </a:r>
          </a:p>
        </p:txBody>
      </p:sp>
      <p:sp>
        <p:nvSpPr>
          <p:cNvPr id="30" name="roundRect 8"/>
          <p:cNvSpPr/>
          <p:nvPr/>
        </p:nvSpPr>
        <p:spPr>
          <a:xfrm>
            <a:off x="6781800" y="3365500"/>
            <a:ext cx="4318000" cy="660400"/>
          </a:xfrm>
          <a:prstGeom prst="roundRect">
            <a:avLst>
              <a:gd fmla="val 19231" name="adj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 22"/>
          <p:cNvSpPr/>
          <p:nvPr/>
        </p:nvSpPr>
        <p:spPr>
          <a:xfrm>
            <a:off x="7061200" y="3479800"/>
            <a:ext cx="25146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 b="1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routes/knowledgePoints.js</a:t>
            </a:r>
          </a:p>
        </p:txBody>
      </p:sp>
      <p:sp>
        <p:nvSpPr>
          <p:cNvPr id="32" name="rect 23"/>
          <p:cNvSpPr/>
          <p:nvPr/>
        </p:nvSpPr>
        <p:spPr>
          <a:xfrm>
            <a:off x="7061200" y="3733800"/>
            <a:ext cx="19304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知识点 CRUD · 私有路由</a:t>
            </a:r>
          </a:p>
        </p:txBody>
      </p:sp>
      <p:sp>
        <p:nvSpPr>
          <p:cNvPr id="33" name="roundRect 9"/>
          <p:cNvSpPr/>
          <p:nvPr/>
        </p:nvSpPr>
        <p:spPr>
          <a:xfrm>
            <a:off x="6781800" y="4203700"/>
            <a:ext cx="4318000" cy="660400"/>
          </a:xfrm>
          <a:prstGeom prst="roundRect">
            <a:avLst>
              <a:gd fmla="val 19231" name="adj"/>
            </a:avLst>
          </a:prstGeom>
          <a:solidFill>
            <a:srgbClr val="FFF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 24"/>
          <p:cNvSpPr/>
          <p:nvPr/>
        </p:nvSpPr>
        <p:spPr>
          <a:xfrm>
            <a:off x="7061200" y="4318000"/>
            <a:ext cx="8128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buNone/>
            </a:pPr>
            <a:r>
              <a:rPr lang="en-US" sz="1500" b="1">
                <a:solidFill>
                  <a:srgbClr val="A26711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index.js</a:t>
            </a:r>
          </a:p>
        </p:txBody>
      </p:sp>
      <p:sp>
        <p:nvSpPr>
          <p:cNvPr id="35" name="rect 25"/>
          <p:cNvSpPr/>
          <p:nvPr/>
        </p:nvSpPr>
        <p:spPr>
          <a:xfrm>
            <a:off x="7061200" y="4572000"/>
            <a:ext cx="1511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app.use() 统一挂载</a:t>
            </a:r>
          </a:p>
        </p:txBody>
      </p:sp>
      <p:sp>
        <p:nvSpPr>
          <p:cNvPr id="36" name="rect 26"/>
          <p:cNvSpPr/>
          <p:nvPr/>
        </p:nvSpPr>
        <p:spPr>
          <a:xfrm>
            <a:off x="711200" y="5930900"/>
            <a:ext cx="6400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安全检查清单：bcrypt 哈希 · JWT_SECRET 不入库 · 业务逻辑不堆在入口文件</a:t>
            </a:r>
          </a:p>
        </p:txBody>
      </p:sp>
      <p:sp>
        <p:nvSpPr>
          <p:cNvPr id="37" name="rect 27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71869A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711200" y="330200"/>
            <a:ext cx="70993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认证中间件：把“验票”从业务里抽出来</a:t>
            </a:r>
          </a:p>
        </p:txBody>
      </p:sp>
      <p:sp>
        <p:nvSpPr>
          <p:cNvPr id="4" name="rect 3"/>
          <p:cNvSpPr/>
          <p:nvPr/>
        </p:nvSpPr>
        <p:spPr>
          <a:xfrm>
            <a:off x="711200" y="952500"/>
            <a:ext cx="46482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每个私有接口先过 auth，再进入自己的业务处理。</a:t>
            </a:r>
          </a:p>
        </p:txBody>
      </p:sp>
      <p:sp>
        <p:nvSpPr>
          <p:cNvPr id="5" name="roundRect 1"/>
          <p:cNvSpPr/>
          <p:nvPr/>
        </p:nvSpPr>
        <p:spPr>
          <a:xfrm>
            <a:off x="711200" y="1841500"/>
            <a:ext cx="1803400" cy="1600200"/>
          </a:xfrm>
          <a:prstGeom prst="roundRect">
            <a:avLst>
              <a:gd fmla="val 14286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ellipse 1"/>
          <p:cNvSpPr/>
          <p:nvPr/>
        </p:nvSpPr>
        <p:spPr>
          <a:xfrm>
            <a:off x="965200" y="2057400"/>
            <a:ext cx="558800" cy="5588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7" name="rect 4"/>
          <p:cNvSpPr/>
          <p:nvPr/>
        </p:nvSpPr>
        <p:spPr>
          <a:xfrm>
            <a:off x="1111250" y="2146300"/>
            <a:ext cx="2667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  <a:buNone/>
            </a:pPr>
            <a:r>
              <a:rPr lang="en-US" sz="2100" b="1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1</a:t>
            </a:r>
          </a:p>
        </p:txBody>
      </p:sp>
      <p:sp>
        <p:nvSpPr>
          <p:cNvPr id="8" name="rect 5"/>
          <p:cNvSpPr/>
          <p:nvPr/>
        </p:nvSpPr>
        <p:spPr>
          <a:xfrm>
            <a:off x="939800" y="2641600"/>
            <a:ext cx="12319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7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读取 Token</a:t>
            </a:r>
          </a:p>
        </p:txBody>
      </p:sp>
      <p:sp>
        <p:nvSpPr>
          <p:cNvPr id="9" name="rect 6"/>
          <p:cNvSpPr/>
          <p:nvPr/>
        </p:nvSpPr>
        <p:spPr>
          <a:xfrm>
            <a:off x="939800" y="2997200"/>
            <a:ext cx="1143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A9BED1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x-auth-token</a:t>
            </a:r>
          </a:p>
        </p:txBody>
      </p:sp>
      <p:sp>
        <p:nvSpPr>
          <p:cNvPr id="10" name="rect 7"/>
          <p:cNvSpPr/>
          <p:nvPr/>
        </p:nvSpPr>
        <p:spPr>
          <a:xfrm>
            <a:off x="2641600" y="2641600"/>
            <a:ext cx="431800" cy="12700"/>
          </a:xfrm>
          <a:custGeom>
            <a:avLst/>
            <a:gdLst/>
            <a:ahLst/>
            <a:cxnLst/>
            <a:rect l="0" t="0" r="0" b="0"/>
            <a:pathLst>
              <a:path w="34" h="1">
                <a:moveTo>
                  <a:pt x="0" y="0"/>
                </a:moveTo>
                <a:lnTo>
                  <a:pt x="34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1" name="rect 8"/>
          <p:cNvSpPr/>
          <p:nvPr/>
        </p:nvSpPr>
        <p:spPr>
          <a:xfrm>
            <a:off x="2997200" y="25273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2" name="roundRect 2"/>
          <p:cNvSpPr/>
          <p:nvPr/>
        </p:nvSpPr>
        <p:spPr>
          <a:xfrm>
            <a:off x="3225800" y="1841500"/>
            <a:ext cx="1803400" cy="1600200"/>
          </a:xfrm>
          <a:prstGeom prst="roundRect">
            <a:avLst>
              <a:gd fmla="val 14286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ellipse 2"/>
          <p:cNvSpPr/>
          <p:nvPr/>
        </p:nvSpPr>
        <p:spPr>
          <a:xfrm>
            <a:off x="3479800" y="2057400"/>
            <a:ext cx="558800" cy="5588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4" name="rect 9"/>
          <p:cNvSpPr/>
          <p:nvPr/>
        </p:nvSpPr>
        <p:spPr>
          <a:xfrm>
            <a:off x="3625850" y="2146300"/>
            <a:ext cx="2667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  <a:buNone/>
            </a:pPr>
            <a:r>
              <a:rPr lang="en-US" sz="2100" b="1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2</a:t>
            </a:r>
          </a:p>
        </p:txBody>
      </p:sp>
      <p:sp>
        <p:nvSpPr>
          <p:cNvPr id="15" name="rect 10"/>
          <p:cNvSpPr/>
          <p:nvPr/>
        </p:nvSpPr>
        <p:spPr>
          <a:xfrm>
            <a:off x="3454400" y="2641600"/>
            <a:ext cx="9652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7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检查存在</a:t>
            </a:r>
          </a:p>
        </p:txBody>
      </p:sp>
      <p:sp>
        <p:nvSpPr>
          <p:cNvPr id="16" name="rect 11"/>
          <p:cNvSpPr/>
          <p:nvPr/>
        </p:nvSpPr>
        <p:spPr>
          <a:xfrm>
            <a:off x="3454400" y="2997200"/>
            <a:ext cx="9779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缺失 → 401</a:t>
            </a:r>
          </a:p>
        </p:txBody>
      </p:sp>
      <p:sp>
        <p:nvSpPr>
          <p:cNvPr id="17" name="rect 12"/>
          <p:cNvSpPr/>
          <p:nvPr/>
        </p:nvSpPr>
        <p:spPr>
          <a:xfrm>
            <a:off x="5156200" y="2641600"/>
            <a:ext cx="431800" cy="12700"/>
          </a:xfrm>
          <a:custGeom>
            <a:avLst/>
            <a:gdLst/>
            <a:ahLst/>
            <a:cxnLst/>
            <a:rect l="0" t="0" r="0" b="0"/>
            <a:pathLst>
              <a:path w="34" h="1">
                <a:moveTo>
                  <a:pt x="0" y="0"/>
                </a:moveTo>
                <a:lnTo>
                  <a:pt x="34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8" name="rect 13"/>
          <p:cNvSpPr/>
          <p:nvPr/>
        </p:nvSpPr>
        <p:spPr>
          <a:xfrm>
            <a:off x="5511800" y="25273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9" name="roundRect 3"/>
          <p:cNvSpPr/>
          <p:nvPr/>
        </p:nvSpPr>
        <p:spPr>
          <a:xfrm>
            <a:off x="5740400" y="1841500"/>
            <a:ext cx="1803400" cy="1600200"/>
          </a:xfrm>
          <a:prstGeom prst="roundRect">
            <a:avLst>
              <a:gd fmla="val 14286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ellipse 3"/>
          <p:cNvSpPr/>
          <p:nvPr/>
        </p:nvSpPr>
        <p:spPr>
          <a:xfrm>
            <a:off x="5994400" y="2057400"/>
            <a:ext cx="558800" cy="55880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1" name="rect 14"/>
          <p:cNvSpPr/>
          <p:nvPr/>
        </p:nvSpPr>
        <p:spPr>
          <a:xfrm>
            <a:off x="6140450" y="2146300"/>
            <a:ext cx="2667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  <a:buNone/>
            </a:pPr>
            <a:r>
              <a:rPr lang="en-US" sz="2100" b="1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3</a:t>
            </a:r>
          </a:p>
        </p:txBody>
      </p:sp>
      <p:sp>
        <p:nvSpPr>
          <p:cNvPr id="22" name="rect 15"/>
          <p:cNvSpPr/>
          <p:nvPr/>
        </p:nvSpPr>
        <p:spPr>
          <a:xfrm>
            <a:off x="5969000" y="2641600"/>
            <a:ext cx="10287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en-US" sz="1700" b="1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jwt.verify</a:t>
            </a:r>
          </a:p>
        </p:txBody>
      </p:sp>
      <p:sp>
        <p:nvSpPr>
          <p:cNvPr id="23" name="rect 16"/>
          <p:cNvSpPr/>
          <p:nvPr/>
        </p:nvSpPr>
        <p:spPr>
          <a:xfrm>
            <a:off x="5969000" y="2997200"/>
            <a:ext cx="11430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签名 + 有效期</a:t>
            </a:r>
          </a:p>
        </p:txBody>
      </p:sp>
      <p:sp>
        <p:nvSpPr>
          <p:cNvPr id="24" name="rect 17"/>
          <p:cNvSpPr/>
          <p:nvPr/>
        </p:nvSpPr>
        <p:spPr>
          <a:xfrm>
            <a:off x="7670800" y="2641600"/>
            <a:ext cx="431800" cy="12700"/>
          </a:xfrm>
          <a:custGeom>
            <a:avLst/>
            <a:gdLst/>
            <a:ahLst/>
            <a:cxnLst/>
            <a:rect l="0" t="0" r="0" b="0"/>
            <a:pathLst>
              <a:path w="34" h="1">
                <a:moveTo>
                  <a:pt x="0" y="0"/>
                </a:moveTo>
                <a:lnTo>
                  <a:pt x="34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5" name="rect 18"/>
          <p:cNvSpPr/>
          <p:nvPr/>
        </p:nvSpPr>
        <p:spPr>
          <a:xfrm>
            <a:off x="8026400" y="25273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6" name="roundRect 4"/>
          <p:cNvSpPr/>
          <p:nvPr/>
        </p:nvSpPr>
        <p:spPr>
          <a:xfrm>
            <a:off x="8255000" y="1841500"/>
            <a:ext cx="1803400" cy="1600200"/>
          </a:xfrm>
          <a:prstGeom prst="roundRect">
            <a:avLst>
              <a:gd fmla="val 14286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ellipse 4"/>
          <p:cNvSpPr/>
          <p:nvPr/>
        </p:nvSpPr>
        <p:spPr>
          <a:xfrm>
            <a:off x="8509000" y="2057400"/>
            <a:ext cx="558800" cy="5588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8" name="rect 19"/>
          <p:cNvSpPr/>
          <p:nvPr/>
        </p:nvSpPr>
        <p:spPr>
          <a:xfrm>
            <a:off x="8655050" y="2146300"/>
            <a:ext cx="266700" cy="3175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7000"/>
              </a:lnSpc>
              <a:buNone/>
            </a:pPr>
            <a:r>
              <a:rPr lang="en-US" sz="2100" b="1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4</a:t>
            </a:r>
          </a:p>
        </p:txBody>
      </p:sp>
      <p:sp>
        <p:nvSpPr>
          <p:cNvPr id="29" name="rect 20"/>
          <p:cNvSpPr/>
          <p:nvPr/>
        </p:nvSpPr>
        <p:spPr>
          <a:xfrm>
            <a:off x="8483600" y="2641600"/>
            <a:ext cx="14351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17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写入 req.user</a:t>
            </a:r>
          </a:p>
        </p:txBody>
      </p:sp>
      <p:sp>
        <p:nvSpPr>
          <p:cNvPr id="30" name="rect 21"/>
          <p:cNvSpPr/>
          <p:nvPr/>
        </p:nvSpPr>
        <p:spPr>
          <a:xfrm>
            <a:off x="8483600" y="2997200"/>
            <a:ext cx="12573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3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把身份传给业务</a:t>
            </a:r>
          </a:p>
        </p:txBody>
      </p:sp>
      <p:sp>
        <p:nvSpPr>
          <p:cNvPr id="31" name="rect 22"/>
          <p:cNvSpPr/>
          <p:nvPr/>
        </p:nvSpPr>
        <p:spPr>
          <a:xfrm>
            <a:off x="10185400" y="2641600"/>
            <a:ext cx="431800" cy="12700"/>
          </a:xfrm>
          <a:custGeom>
            <a:avLst/>
            <a:gdLst/>
            <a:ahLst/>
            <a:cxnLst/>
            <a:rect l="0" t="0" r="0" b="0"/>
            <a:pathLst>
              <a:path w="34" h="1">
                <a:moveTo>
                  <a:pt x="0" y="0"/>
                </a:moveTo>
                <a:lnTo>
                  <a:pt x="34" y="0"/>
                </a:lnTo>
              </a:path>
            </a:pathLst>
          </a:custGeom>
          <a:solidFill>
            <a:srgbClr val="000000"/>
          </a:solidFill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2" name="rect 23"/>
          <p:cNvSpPr/>
          <p:nvPr/>
        </p:nvSpPr>
        <p:spPr>
          <a:xfrm>
            <a:off x="10541000" y="2527300"/>
            <a:ext cx="152400" cy="228600"/>
          </a:xfrm>
          <a:custGeom>
            <a:avLst/>
            <a:gdLst/>
            <a:ahLst/>
            <a:cxnLst/>
            <a:rect l="0" t="0" r="0" b="0"/>
            <a:pathLst>
              <a:path w="12" h="18">
                <a:moveTo>
                  <a:pt x="0" y="0"/>
                </a:moveTo>
                <a:lnTo>
                  <a:pt x="12" y="9"/>
                </a:lnTo>
                <a:lnTo>
                  <a:pt x="0" y="18"/>
                </a:lnTo>
              </a:path>
            </a:pathLst>
          </a:custGeom>
          <a:noFill/>
          <a:ln w="50800">
            <a:solidFill>
              <a:srgbClr val="1BA6A6"/>
            </a:solidFill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3" name="roundRect 5"/>
          <p:cNvSpPr/>
          <p:nvPr/>
        </p:nvSpPr>
        <p:spPr>
          <a:xfrm>
            <a:off x="10769600" y="1841500"/>
            <a:ext cx="914400" cy="1600200"/>
          </a:xfrm>
          <a:prstGeom prst="roundRect">
            <a:avLst>
              <a:gd fmla="val 25000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 24"/>
          <p:cNvSpPr/>
          <p:nvPr/>
        </p:nvSpPr>
        <p:spPr>
          <a:xfrm>
            <a:off x="10883900" y="2286000"/>
            <a:ext cx="685800" cy="2540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en-US" sz="1700" b="1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next()</a:t>
            </a:r>
          </a:p>
        </p:txBody>
      </p:sp>
      <p:sp>
        <p:nvSpPr>
          <p:cNvPr id="35" name="rect 25"/>
          <p:cNvSpPr/>
          <p:nvPr/>
        </p:nvSpPr>
        <p:spPr>
          <a:xfrm>
            <a:off x="11023600" y="2730500"/>
            <a:ext cx="406400" cy="177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5000"/>
              </a:lnSpc>
              <a:buNone/>
            </a:pPr>
            <a:r>
              <a:rPr lang="zh-CN" sz="1200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放行</a:t>
            </a:r>
          </a:p>
        </p:txBody>
      </p:sp>
      <p:sp>
        <p:nvSpPr>
          <p:cNvPr id="36" name="roundRect 6"/>
          <p:cNvSpPr/>
          <p:nvPr/>
        </p:nvSpPr>
        <p:spPr>
          <a:xfrm>
            <a:off x="711200" y="3987800"/>
            <a:ext cx="10972800" cy="1549400"/>
          </a:xfrm>
          <a:prstGeom prst="roundRect">
            <a:avLst>
              <a:gd fmla="val 14754" name="adj"/>
            </a:avLst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 26"/>
          <p:cNvSpPr/>
          <p:nvPr/>
        </p:nvSpPr>
        <p:spPr>
          <a:xfrm>
            <a:off x="1066800" y="4229100"/>
            <a:ext cx="20320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9000"/>
              </a:lnSpc>
              <a:buNone/>
            </a:pPr>
            <a:r>
              <a:rPr lang="zh-CN" sz="1900" b="1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失败路径也要清晰</a:t>
            </a:r>
          </a:p>
        </p:txBody>
      </p:sp>
      <p:sp>
        <p:nvSpPr>
          <p:cNvPr id="38" name="roundRect 7"/>
          <p:cNvSpPr/>
          <p:nvPr/>
        </p:nvSpPr>
        <p:spPr>
          <a:xfrm>
            <a:off x="1066800" y="4724400"/>
            <a:ext cx="3048000" cy="508000"/>
          </a:xfrm>
          <a:prstGeom prst="roundRect">
            <a:avLst>
              <a:gd fmla="val 50000" name="adj"/>
            </a:avLst>
          </a:prstGeom>
          <a:solidFill>
            <a:srgbClr val="FFE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 27"/>
          <p:cNvSpPr/>
          <p:nvPr/>
        </p:nvSpPr>
        <p:spPr>
          <a:xfrm>
            <a:off x="1581150" y="4851400"/>
            <a:ext cx="20193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>
                <a:solidFill>
                  <a:srgbClr val="A43F39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无 Token → 401 未授权</a:t>
            </a:r>
          </a:p>
        </p:txBody>
      </p:sp>
      <p:sp>
        <p:nvSpPr>
          <p:cNvPr id="40" name="roundRect 8"/>
          <p:cNvSpPr/>
          <p:nvPr/>
        </p:nvSpPr>
        <p:spPr>
          <a:xfrm>
            <a:off x="4445000" y="4724400"/>
            <a:ext cx="3048000" cy="508000"/>
          </a:xfrm>
          <a:prstGeom prst="roundRect">
            <a:avLst>
              <a:gd fmla="val 50000" name="adj"/>
            </a:avLst>
          </a:prstGeom>
          <a:solidFill>
            <a:srgbClr val="FFE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 28"/>
          <p:cNvSpPr/>
          <p:nvPr/>
        </p:nvSpPr>
        <p:spPr>
          <a:xfrm>
            <a:off x="4883150" y="4851400"/>
            <a:ext cx="2171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>
                <a:solidFill>
                  <a:srgbClr val="A43F39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Token 无效 / 过期 → 401</a:t>
            </a:r>
          </a:p>
        </p:txBody>
      </p:sp>
      <p:sp>
        <p:nvSpPr>
          <p:cNvPr id="42" name="roundRect 9"/>
          <p:cNvSpPr/>
          <p:nvPr/>
        </p:nvSpPr>
        <p:spPr>
          <a:xfrm>
            <a:off x="7823200" y="4724400"/>
            <a:ext cx="3505200" cy="508000"/>
          </a:xfrm>
          <a:prstGeom prst="roundRect">
            <a:avLst>
              <a:gd fmla="val 50000" name="adj"/>
            </a:avLst>
          </a:prstGeom>
          <a:solidFill>
            <a:srgbClr val="DDF4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 29"/>
          <p:cNvSpPr/>
          <p:nvPr/>
        </p:nvSpPr>
        <p:spPr>
          <a:xfrm>
            <a:off x="8382000" y="4851400"/>
            <a:ext cx="2387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>
                <a:solidFill>
                  <a:srgbClr val="147A7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验证成功 → req.user.id 可用</a:t>
            </a:r>
          </a:p>
        </p:txBody>
      </p:sp>
      <p:sp>
        <p:nvSpPr>
          <p:cNvPr id="44" name="rect 30"/>
          <p:cNvSpPr/>
          <p:nvPr/>
        </p:nvSpPr>
        <p:spPr>
          <a:xfrm>
            <a:off x="711200" y="5930900"/>
            <a:ext cx="5283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核心原则：认证中间件负责“你是谁”，业务路由负责“你能做什么”</a:t>
            </a:r>
          </a:p>
        </p:txBody>
      </p:sp>
      <p:sp>
        <p:nvSpPr>
          <p:cNvPr id="45" name="rect 31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91A7BD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4" name="rect 3"/>
          <p:cNvSpPr/>
          <p:nvPr/>
        </p:nvSpPr>
        <p:spPr>
          <a:xfrm>
            <a:off x="711200" y="330200"/>
            <a:ext cx="9436100" cy="482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2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KnowledgePoint：CRUD 只是表面，归属才是核心</a:t>
            </a:r>
          </a:p>
        </p:txBody>
      </p:sp>
      <p:sp>
        <p:nvSpPr>
          <p:cNvPr id="5" name="rect 4"/>
          <p:cNvSpPr/>
          <p:nvPr/>
        </p:nvSpPr>
        <p:spPr>
          <a:xfrm>
            <a:off x="711200" y="939800"/>
            <a:ext cx="58547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5C7187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每条知识点都绑定 user；查询、更新、删除都要尊重数据边界。</a:t>
            </a:r>
          </a:p>
        </p:txBody>
      </p:sp>
      <p:sp>
        <p:nvSpPr>
          <p:cNvPr id="6" name="roundRect 1"/>
          <p:cNvSpPr/>
          <p:nvPr/>
        </p:nvSpPr>
        <p:spPr>
          <a:xfrm>
            <a:off x="711200" y="1625600"/>
            <a:ext cx="4495800" cy="3810000"/>
          </a:xfrm>
          <a:prstGeom prst="roundRect">
            <a:avLst>
              <a:gd fmla="val 6667" name="adj"/>
            </a:avLst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 5"/>
          <p:cNvSpPr/>
          <p:nvPr/>
        </p:nvSpPr>
        <p:spPr>
          <a:xfrm>
            <a:off x="1066800" y="1905000"/>
            <a:ext cx="16510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9000"/>
              </a:lnSpc>
              <a:buNone/>
            </a:pPr>
            <a:r>
              <a:rPr lang="zh-CN" sz="2000" b="1">
                <a:solidFill>
                  <a:srgbClr val="FFFFFF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Schema 设计</a:t>
            </a:r>
          </a:p>
        </p:txBody>
      </p:sp>
      <p:sp>
        <p:nvSpPr>
          <p:cNvPr id="8" name="roundRect 2"/>
          <p:cNvSpPr/>
          <p:nvPr/>
        </p:nvSpPr>
        <p:spPr>
          <a:xfrm>
            <a:off x="1066800" y="2451100"/>
            <a:ext cx="3784600" cy="482600"/>
          </a:xfrm>
          <a:prstGeom prst="roundRect">
            <a:avLst>
              <a:gd fmla="val 23684" name="adj"/>
            </a:avLst>
          </a:prstGeom>
          <a:solidFill>
            <a:srgbClr val="123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 6"/>
          <p:cNvSpPr/>
          <p:nvPr/>
        </p:nvSpPr>
        <p:spPr>
          <a:xfrm>
            <a:off x="1320800" y="2590800"/>
            <a:ext cx="444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user</a:t>
            </a:r>
          </a:p>
        </p:txBody>
      </p:sp>
      <p:sp>
        <p:nvSpPr>
          <p:cNvPr id="10" name="rect 7"/>
          <p:cNvSpPr/>
          <p:nvPr/>
        </p:nvSpPr>
        <p:spPr>
          <a:xfrm>
            <a:off x="2819400" y="2590800"/>
            <a:ext cx="1422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A9BED1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ObjectId → User</a:t>
            </a:r>
          </a:p>
        </p:txBody>
      </p:sp>
      <p:sp>
        <p:nvSpPr>
          <p:cNvPr id="11" name="roundRect 3"/>
          <p:cNvSpPr/>
          <p:nvPr/>
        </p:nvSpPr>
        <p:spPr>
          <a:xfrm>
            <a:off x="1066800" y="3060700"/>
            <a:ext cx="3784600" cy="482600"/>
          </a:xfrm>
          <a:prstGeom prst="roundRect">
            <a:avLst>
              <a:gd fmla="val 23684" name="adj"/>
            </a:avLst>
          </a:prstGeom>
          <a:solidFill>
            <a:srgbClr val="12365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 8"/>
          <p:cNvSpPr/>
          <p:nvPr/>
        </p:nvSpPr>
        <p:spPr>
          <a:xfrm>
            <a:off x="1320800" y="3200400"/>
            <a:ext cx="11049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title / content</a:t>
            </a:r>
          </a:p>
        </p:txBody>
      </p:sp>
      <p:sp>
        <p:nvSpPr>
          <p:cNvPr id="13" name="rect 9"/>
          <p:cNvSpPr/>
          <p:nvPr/>
        </p:nvSpPr>
        <p:spPr>
          <a:xfrm>
            <a:off x="2819400" y="3200400"/>
            <a:ext cx="812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zh-CN" sz="1400">
                <a:solidFill>
                  <a:srgbClr val="A9BED1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必填文本</a:t>
            </a:r>
          </a:p>
        </p:txBody>
      </p:sp>
      <p:sp>
        <p:nvSpPr>
          <p:cNvPr id="14" name="roundRect 4"/>
          <p:cNvSpPr/>
          <p:nvPr/>
        </p:nvSpPr>
        <p:spPr>
          <a:xfrm>
            <a:off x="1066800" y="3670300"/>
            <a:ext cx="3784600" cy="482600"/>
          </a:xfrm>
          <a:prstGeom prst="roundRect">
            <a:avLst>
              <a:gd fmla="val 23684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 10"/>
          <p:cNvSpPr/>
          <p:nvPr/>
        </p:nvSpPr>
        <p:spPr>
          <a:xfrm>
            <a:off x="1320800" y="3810000"/>
            <a:ext cx="5715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status</a:t>
            </a:r>
          </a:p>
        </p:txBody>
      </p:sp>
      <p:sp>
        <p:nvSpPr>
          <p:cNvPr id="16" name="rect 11"/>
          <p:cNvSpPr/>
          <p:nvPr/>
        </p:nvSpPr>
        <p:spPr>
          <a:xfrm>
            <a:off x="2819400" y="3810000"/>
            <a:ext cx="1143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3-state enum</a:t>
            </a:r>
          </a:p>
        </p:txBody>
      </p:sp>
      <p:sp>
        <p:nvSpPr>
          <p:cNvPr id="17" name="roundRect 5"/>
          <p:cNvSpPr/>
          <p:nvPr/>
        </p:nvSpPr>
        <p:spPr>
          <a:xfrm>
            <a:off x="1066800" y="4279900"/>
            <a:ext cx="3784600" cy="482600"/>
          </a:xfrm>
          <a:prstGeom prst="roundRect">
            <a:avLst>
              <a:gd fmla="val 23684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 12"/>
          <p:cNvSpPr/>
          <p:nvPr/>
        </p:nvSpPr>
        <p:spPr>
          <a:xfrm>
            <a:off x="1320800" y="4419600"/>
            <a:ext cx="889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reviewList</a:t>
            </a:r>
          </a:p>
        </p:txBody>
      </p:sp>
      <p:sp>
        <p:nvSpPr>
          <p:cNvPr id="19" name="rect 13"/>
          <p:cNvSpPr/>
          <p:nvPr/>
        </p:nvSpPr>
        <p:spPr>
          <a:xfrm>
            <a:off x="2819400" y="4419600"/>
            <a:ext cx="18669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Boolean · default false</a:t>
            </a:r>
          </a:p>
        </p:txBody>
      </p:sp>
      <p:sp>
        <p:nvSpPr>
          <p:cNvPr id="20" name="rect 14"/>
          <p:cNvSpPr/>
          <p:nvPr/>
        </p:nvSpPr>
        <p:spPr>
          <a:xfrm>
            <a:off x="1066800" y="4965700"/>
            <a:ext cx="2921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zh-CN" sz="1400">
                <a:solidFill>
                  <a:srgbClr val="A9BED1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timestamps：createdAt · updatedAt</a:t>
            </a:r>
          </a:p>
        </p:txBody>
      </p:sp>
      <p:sp>
        <p:nvSpPr>
          <p:cNvPr id="21" name="rect 15"/>
          <p:cNvSpPr/>
          <p:nvPr/>
        </p:nvSpPr>
        <p:spPr>
          <a:xfrm>
            <a:off x="5715000" y="1866900"/>
            <a:ext cx="1104900" cy="3048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20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API 矩阵</a:t>
            </a:r>
          </a:p>
        </p:txBody>
      </p:sp>
      <p:sp>
        <p:nvSpPr>
          <p:cNvPr id="22" name="roundRect 6"/>
          <p:cNvSpPr/>
          <p:nvPr/>
        </p:nvSpPr>
        <p:spPr>
          <a:xfrm>
            <a:off x="5715000" y="2451100"/>
            <a:ext cx="5765800" cy="533400"/>
          </a:xfrm>
          <a:prstGeom prst="roundRect">
            <a:avLst>
              <a:gd fmla="val 21429" name="adj"/>
            </a:avLst>
          </a:prstGeom>
          <a:solidFill>
            <a:srgbClr val="E7F4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 16"/>
          <p:cNvSpPr/>
          <p:nvPr/>
        </p:nvSpPr>
        <p:spPr>
          <a:xfrm>
            <a:off x="6019800" y="2616200"/>
            <a:ext cx="6604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3000"/>
              </a:lnSpc>
              <a:buNone/>
            </a:pPr>
            <a:r>
              <a:rPr lang="en-US" sz="1600" b="1">
                <a:solidFill>
                  <a:srgbClr val="147A7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POST</a:t>
            </a:r>
          </a:p>
        </p:txBody>
      </p:sp>
      <p:sp>
        <p:nvSpPr>
          <p:cNvPr id="24" name="rect 17"/>
          <p:cNvSpPr/>
          <p:nvPr/>
        </p:nvSpPr>
        <p:spPr>
          <a:xfrm>
            <a:off x="7366000" y="2628900"/>
            <a:ext cx="1816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/api/knowledge-points</a:t>
            </a:r>
          </a:p>
        </p:txBody>
      </p:sp>
      <p:sp>
        <p:nvSpPr>
          <p:cNvPr id="25" name="rect 18"/>
          <p:cNvSpPr/>
          <p:nvPr/>
        </p:nvSpPr>
        <p:spPr>
          <a:xfrm>
            <a:off x="10439400" y="26289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创建</a:t>
            </a:r>
          </a:p>
        </p:txBody>
      </p:sp>
      <p:sp>
        <p:nvSpPr>
          <p:cNvPr id="26" name="roundRect 7"/>
          <p:cNvSpPr/>
          <p:nvPr/>
        </p:nvSpPr>
        <p:spPr>
          <a:xfrm>
            <a:off x="5715000" y="3086100"/>
            <a:ext cx="5765800" cy="533400"/>
          </a:xfrm>
          <a:prstGeom prst="roundRect">
            <a:avLst>
              <a:gd fmla="val 21429" name="adj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 19"/>
          <p:cNvSpPr/>
          <p:nvPr/>
        </p:nvSpPr>
        <p:spPr>
          <a:xfrm>
            <a:off x="6019800" y="3251200"/>
            <a:ext cx="5207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3000"/>
              </a:lnSpc>
              <a:buNone/>
            </a:pPr>
            <a:r>
              <a:rPr lang="en-US" sz="1600" b="1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GET</a:t>
            </a:r>
          </a:p>
        </p:txBody>
      </p:sp>
      <p:sp>
        <p:nvSpPr>
          <p:cNvPr id="28" name="rect 20"/>
          <p:cNvSpPr/>
          <p:nvPr/>
        </p:nvSpPr>
        <p:spPr>
          <a:xfrm>
            <a:off x="7366000" y="3263900"/>
            <a:ext cx="1816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/api/knowledge-points</a:t>
            </a:r>
          </a:p>
        </p:txBody>
      </p:sp>
      <p:sp>
        <p:nvSpPr>
          <p:cNvPr id="29" name="rect 21"/>
          <p:cNvSpPr/>
          <p:nvPr/>
        </p:nvSpPr>
        <p:spPr>
          <a:xfrm>
            <a:off x="10439400" y="32639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列表</a:t>
            </a:r>
          </a:p>
        </p:txBody>
      </p:sp>
      <p:sp>
        <p:nvSpPr>
          <p:cNvPr id="30" name="roundRect 8"/>
          <p:cNvSpPr/>
          <p:nvPr/>
        </p:nvSpPr>
        <p:spPr>
          <a:xfrm>
            <a:off x="5715000" y="3721100"/>
            <a:ext cx="5765800" cy="533400"/>
          </a:xfrm>
          <a:prstGeom prst="roundRect">
            <a:avLst>
              <a:gd fmla="val 21429" name="adj"/>
            </a:avLst>
          </a:prstGeom>
          <a:solidFill>
            <a:srgbClr val="E8EE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 22"/>
          <p:cNvSpPr/>
          <p:nvPr/>
        </p:nvSpPr>
        <p:spPr>
          <a:xfrm>
            <a:off x="6019800" y="3886200"/>
            <a:ext cx="5207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3000"/>
              </a:lnSpc>
              <a:buNone/>
            </a:pPr>
            <a:r>
              <a:rPr lang="en-US" sz="1600" b="1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GET</a:t>
            </a:r>
          </a:p>
        </p:txBody>
      </p:sp>
      <p:sp>
        <p:nvSpPr>
          <p:cNvPr id="32" name="rect 23"/>
          <p:cNvSpPr/>
          <p:nvPr/>
        </p:nvSpPr>
        <p:spPr>
          <a:xfrm>
            <a:off x="7366000" y="3898900"/>
            <a:ext cx="205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/api/knowledge-points/:id</a:t>
            </a:r>
          </a:p>
        </p:txBody>
      </p:sp>
      <p:sp>
        <p:nvSpPr>
          <p:cNvPr id="33" name="rect 24"/>
          <p:cNvSpPr/>
          <p:nvPr/>
        </p:nvSpPr>
        <p:spPr>
          <a:xfrm>
            <a:off x="10439400" y="38989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详情</a:t>
            </a:r>
          </a:p>
        </p:txBody>
      </p:sp>
      <p:sp>
        <p:nvSpPr>
          <p:cNvPr id="34" name="roundRect 9"/>
          <p:cNvSpPr/>
          <p:nvPr/>
        </p:nvSpPr>
        <p:spPr>
          <a:xfrm>
            <a:off x="5715000" y="4356100"/>
            <a:ext cx="5765800" cy="533400"/>
          </a:xfrm>
          <a:prstGeom prst="roundRect">
            <a:avLst>
              <a:gd fmla="val 21429" name="adj"/>
            </a:avLst>
          </a:prstGeom>
          <a:solidFill>
            <a:srgbClr val="FFF0D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 25"/>
          <p:cNvSpPr/>
          <p:nvPr/>
        </p:nvSpPr>
        <p:spPr>
          <a:xfrm>
            <a:off x="6019800" y="4521200"/>
            <a:ext cx="5080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3000"/>
              </a:lnSpc>
              <a:buNone/>
            </a:pPr>
            <a:r>
              <a:rPr lang="en-US" sz="1600" b="1">
                <a:solidFill>
                  <a:srgbClr val="A26711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PUT</a:t>
            </a:r>
          </a:p>
        </p:txBody>
      </p:sp>
      <p:sp>
        <p:nvSpPr>
          <p:cNvPr id="36" name="rect 26"/>
          <p:cNvSpPr/>
          <p:nvPr/>
        </p:nvSpPr>
        <p:spPr>
          <a:xfrm>
            <a:off x="7366000" y="4533900"/>
            <a:ext cx="205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/api/knowledge-points/:id</a:t>
            </a:r>
          </a:p>
        </p:txBody>
      </p:sp>
      <p:sp>
        <p:nvSpPr>
          <p:cNvPr id="37" name="rect 27"/>
          <p:cNvSpPr/>
          <p:nvPr/>
        </p:nvSpPr>
        <p:spPr>
          <a:xfrm>
            <a:off x="10439400" y="45339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更新</a:t>
            </a:r>
          </a:p>
        </p:txBody>
      </p:sp>
      <p:sp>
        <p:nvSpPr>
          <p:cNvPr id="38" name="roundRect 10"/>
          <p:cNvSpPr/>
          <p:nvPr/>
        </p:nvSpPr>
        <p:spPr>
          <a:xfrm>
            <a:off x="5715000" y="4991100"/>
            <a:ext cx="5765800" cy="533400"/>
          </a:xfrm>
          <a:prstGeom prst="roundRect">
            <a:avLst>
              <a:gd fmla="val 21429" name="adj"/>
            </a:avLst>
          </a:prstGeom>
          <a:solidFill>
            <a:srgbClr val="FFE2D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 28"/>
          <p:cNvSpPr/>
          <p:nvPr/>
        </p:nvSpPr>
        <p:spPr>
          <a:xfrm>
            <a:off x="6019800" y="5156200"/>
            <a:ext cx="9017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13000"/>
              </a:lnSpc>
              <a:buNone/>
            </a:pPr>
            <a:r>
              <a:rPr lang="en-US" sz="1600" b="1">
                <a:solidFill>
                  <a:srgbClr val="A43F39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DELETE</a:t>
            </a:r>
          </a:p>
        </p:txBody>
      </p:sp>
      <p:sp>
        <p:nvSpPr>
          <p:cNvPr id="40" name="rect 29"/>
          <p:cNvSpPr/>
          <p:nvPr/>
        </p:nvSpPr>
        <p:spPr>
          <a:xfrm>
            <a:off x="7366000" y="5168900"/>
            <a:ext cx="20574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26364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/api/knowledge-points/:id</a:t>
            </a:r>
          </a:p>
        </p:txBody>
      </p:sp>
      <p:sp>
        <p:nvSpPr>
          <p:cNvPr id="41" name="rect 30"/>
          <p:cNvSpPr/>
          <p:nvPr/>
        </p:nvSpPr>
        <p:spPr>
          <a:xfrm>
            <a:off x="10439400" y="5168900"/>
            <a:ext cx="4318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8000"/>
              </a:lnSpc>
              <a:buNone/>
            </a:pPr>
            <a:r>
              <a:rPr lang="zh-CN" sz="1300">
                <a:solidFill>
                  <a:srgbClr val="5C7187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删除</a:t>
            </a:r>
          </a:p>
        </p:txBody>
      </p:sp>
      <p:sp>
        <p:nvSpPr>
          <p:cNvPr id="42" name="roundRect 11"/>
          <p:cNvSpPr/>
          <p:nvPr/>
        </p:nvSpPr>
        <p:spPr>
          <a:xfrm>
            <a:off x="711200" y="5816600"/>
            <a:ext cx="10769600" cy="431800"/>
          </a:xfrm>
          <a:prstGeom prst="roundRect">
            <a:avLst>
              <a:gd fmla="val 50000" name="adj"/>
            </a:avLst>
          </a:prstGeom>
          <a:solidFill>
            <a:srgbClr val="DDF4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 31"/>
          <p:cNvSpPr/>
          <p:nvPr/>
        </p:nvSpPr>
        <p:spPr>
          <a:xfrm>
            <a:off x="3244850" y="5918200"/>
            <a:ext cx="57023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84000"/>
              </a:lnSpc>
              <a:buNone/>
            </a:pPr>
            <a:r>
              <a:rPr lang="zh-CN" sz="1400">
                <a:solidFill>
                  <a:srgbClr val="147A7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权限规则：列表按 req.user.id 过滤；单条操作先查找，再校验资源归属</a:t>
            </a:r>
          </a:p>
        </p:txBody>
      </p:sp>
      <p:sp>
        <p:nvSpPr>
          <p:cNvPr id="44" name="rect 32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71869A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ect 2"/>
          <p:cNvSpPr/>
          <p:nvPr/>
        </p:nvSpPr>
        <p:spPr>
          <a:xfrm>
            <a:off x="711200" y="317500"/>
            <a:ext cx="7835900" cy="469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5000"/>
              </a:lnSpc>
              <a:buNone/>
            </a:pPr>
            <a:r>
              <a:rPr lang="zh-CN" sz="31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Postman 自测：验证闭环，而不是只看 200</a:t>
            </a:r>
          </a:p>
        </p:txBody>
      </p:sp>
      <p:sp>
        <p:nvSpPr>
          <p:cNvPr id="4" name="rect 3"/>
          <p:cNvSpPr/>
          <p:nvPr/>
        </p:nvSpPr>
        <p:spPr>
          <a:xfrm>
            <a:off x="711200" y="914400"/>
            <a:ext cx="6413500" cy="2413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zh-CN" sz="16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先拿到 Token，再用正确的请求头访问私有 API；同时验证拒绝路径。</a:t>
            </a:r>
          </a:p>
        </p:txBody>
      </p:sp>
      <p:sp>
        <p:nvSpPr>
          <p:cNvPr id="5" name="roundRect 1"/>
          <p:cNvSpPr/>
          <p:nvPr/>
        </p:nvSpPr>
        <p:spPr>
          <a:xfrm>
            <a:off x="711200" y="1574800"/>
            <a:ext cx="6477000" cy="3606800"/>
          </a:xfrm>
          <a:prstGeom prst="roundRect">
            <a:avLst>
              <a:gd fmla="val 6338" name="adj"/>
            </a:avLst>
          </a:prstGeom>
          <a:solidFill>
            <a:srgbClr val="F6F8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 4"/>
          <p:cNvSpPr/>
          <p:nvPr/>
        </p:nvSpPr>
        <p:spPr>
          <a:xfrm>
            <a:off x="1066800" y="1816100"/>
            <a:ext cx="10668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900" b="1">
                <a:solidFill>
                  <a:srgbClr val="0B1F3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自测清单</a:t>
            </a:r>
          </a:p>
        </p:txBody>
      </p:sp>
      <p:sp>
        <p:nvSpPr>
          <p:cNvPr id="7" name="ellipse 1"/>
          <p:cNvSpPr/>
          <p:nvPr/>
        </p:nvSpPr>
        <p:spPr>
          <a:xfrm>
            <a:off x="1028700" y="2400300"/>
            <a:ext cx="279400" cy="2794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8" name="rect 5"/>
          <p:cNvSpPr/>
          <p:nvPr/>
        </p:nvSpPr>
        <p:spPr>
          <a:xfrm>
            <a:off x="1117600" y="2425700"/>
            <a:ext cx="228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9" name="rect 6"/>
          <p:cNvSpPr/>
          <p:nvPr/>
        </p:nvSpPr>
        <p:spPr>
          <a:xfrm>
            <a:off x="1473200" y="2413000"/>
            <a:ext cx="2578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静态检查：node --check 通过</a:t>
            </a:r>
          </a:p>
        </p:txBody>
      </p:sp>
      <p:sp>
        <p:nvSpPr>
          <p:cNvPr id="10" name="ellipse 2"/>
          <p:cNvSpPr/>
          <p:nvPr/>
        </p:nvSpPr>
        <p:spPr>
          <a:xfrm>
            <a:off x="1028700" y="2908300"/>
            <a:ext cx="279400" cy="2794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1" name="rect 7"/>
          <p:cNvSpPr/>
          <p:nvPr/>
        </p:nvSpPr>
        <p:spPr>
          <a:xfrm>
            <a:off x="1117600" y="2933700"/>
            <a:ext cx="228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12" name="rect 8"/>
          <p:cNvSpPr/>
          <p:nvPr/>
        </p:nvSpPr>
        <p:spPr>
          <a:xfrm>
            <a:off x="1473200" y="2921000"/>
            <a:ext cx="2032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GET / 返回 Hello World</a:t>
            </a:r>
          </a:p>
        </p:txBody>
      </p:sp>
      <p:sp>
        <p:nvSpPr>
          <p:cNvPr id="13" name="ellipse 3"/>
          <p:cNvSpPr/>
          <p:nvPr/>
        </p:nvSpPr>
        <p:spPr>
          <a:xfrm>
            <a:off x="1028700" y="3416300"/>
            <a:ext cx="279400" cy="2794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4" name="rect 9"/>
          <p:cNvSpPr/>
          <p:nvPr/>
        </p:nvSpPr>
        <p:spPr>
          <a:xfrm>
            <a:off x="1117600" y="3441700"/>
            <a:ext cx="228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15" name="rect 10"/>
          <p:cNvSpPr/>
          <p:nvPr/>
        </p:nvSpPr>
        <p:spPr>
          <a:xfrm>
            <a:off x="1473200" y="3429000"/>
            <a:ext cx="2552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缺 Token / 伪造 Token → 401</a:t>
            </a:r>
          </a:p>
        </p:txBody>
      </p:sp>
      <p:sp>
        <p:nvSpPr>
          <p:cNvPr id="16" name="ellipse 4"/>
          <p:cNvSpPr/>
          <p:nvPr/>
        </p:nvSpPr>
        <p:spPr>
          <a:xfrm>
            <a:off x="1028700" y="3924300"/>
            <a:ext cx="279400" cy="279400"/>
          </a:xfrm>
          <a:prstGeom prst="ellipse">
            <a:avLst/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7" name="rect 11"/>
          <p:cNvSpPr/>
          <p:nvPr/>
        </p:nvSpPr>
        <p:spPr>
          <a:xfrm>
            <a:off x="1117600" y="3949700"/>
            <a:ext cx="2286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✓</a:t>
            </a:r>
          </a:p>
        </p:txBody>
      </p:sp>
      <p:sp>
        <p:nvSpPr>
          <p:cNvPr id="18" name="rect 12"/>
          <p:cNvSpPr/>
          <p:nvPr/>
        </p:nvSpPr>
        <p:spPr>
          <a:xfrm>
            <a:off x="1473200" y="3937000"/>
            <a:ext cx="27559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未知路由 → 404；空参数 → 400</a:t>
            </a:r>
          </a:p>
        </p:txBody>
      </p:sp>
      <p:sp>
        <p:nvSpPr>
          <p:cNvPr id="19" name="ellipse 5"/>
          <p:cNvSpPr/>
          <p:nvPr/>
        </p:nvSpPr>
        <p:spPr>
          <a:xfrm>
            <a:off x="1028700" y="4432300"/>
            <a:ext cx="279400" cy="2794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0" name="rect 13"/>
          <p:cNvSpPr/>
          <p:nvPr/>
        </p:nvSpPr>
        <p:spPr>
          <a:xfrm>
            <a:off x="1117600" y="4457700"/>
            <a:ext cx="165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!</a:t>
            </a:r>
          </a:p>
        </p:txBody>
      </p:sp>
      <p:sp>
        <p:nvSpPr>
          <p:cNvPr id="21" name="rect 14"/>
          <p:cNvSpPr/>
          <p:nvPr/>
        </p:nvSpPr>
        <p:spPr>
          <a:xfrm>
            <a:off x="1473200" y="4445000"/>
            <a:ext cx="32766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待 MongoDB：注册/登录 + 全量 CRUD</a:t>
            </a:r>
          </a:p>
        </p:txBody>
      </p:sp>
      <p:sp>
        <p:nvSpPr>
          <p:cNvPr id="22" name="ellipse 6"/>
          <p:cNvSpPr/>
          <p:nvPr/>
        </p:nvSpPr>
        <p:spPr>
          <a:xfrm>
            <a:off x="1028700" y="4940300"/>
            <a:ext cx="279400" cy="279400"/>
          </a:xfrm>
          <a:prstGeom prst="ellipse">
            <a:avLst/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23" name="rect 15"/>
          <p:cNvSpPr/>
          <p:nvPr/>
        </p:nvSpPr>
        <p:spPr>
          <a:xfrm>
            <a:off x="1117600" y="4965700"/>
            <a:ext cx="165100" cy="2032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7000"/>
              </a:lnSpc>
              <a:buNone/>
            </a:pPr>
            <a:r>
              <a:rPr lang="en-US" sz="1300">
                <a:solidFill>
                  <a:srgbClr val="0B1F3A"/>
                </a:solidFill>
                <a:latin typeface="'PingFang SC'"/>
                <a:ea typeface="'Microsoft YaHei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Microsoft YaHei'" sym=""/>
                  </a:ext>
                </a:extLst>
              </a:rPr>
              <a:t>!</a:t>
            </a:r>
          </a:p>
        </p:txBody>
      </p:sp>
      <p:sp>
        <p:nvSpPr>
          <p:cNvPr id="24" name="rect 16"/>
          <p:cNvSpPr/>
          <p:nvPr/>
        </p:nvSpPr>
        <p:spPr>
          <a:xfrm>
            <a:off x="1473200" y="4953000"/>
            <a:ext cx="23749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26364A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未配置 npm test 自动化脚本</a:t>
            </a:r>
          </a:p>
        </p:txBody>
      </p:sp>
      <p:sp>
        <p:nvSpPr>
          <p:cNvPr id="25" name="roundRect 2"/>
          <p:cNvSpPr/>
          <p:nvPr/>
        </p:nvSpPr>
        <p:spPr>
          <a:xfrm>
            <a:off x="7569200" y="1574800"/>
            <a:ext cx="3911600" cy="3606800"/>
          </a:xfrm>
          <a:prstGeom prst="roundRect">
            <a:avLst>
              <a:gd fmla="val 6338" name="adj"/>
            </a:avLst>
          </a:prstGeom>
          <a:solidFill>
            <a:srgbClr val="12365A"/>
          </a:solidFill>
          <a:ln w="12700">
            <a:solidFill>
              <a:srgbClr val="2B587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 17"/>
          <p:cNvSpPr/>
          <p:nvPr/>
        </p:nvSpPr>
        <p:spPr>
          <a:xfrm>
            <a:off x="7924800" y="1816100"/>
            <a:ext cx="1066800" cy="2921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8000"/>
              </a:lnSpc>
              <a:buNone/>
            </a:pPr>
            <a:r>
              <a:rPr lang="zh-CN" sz="1900" b="1">
                <a:solidFill>
                  <a:srgbClr val="FFFFFF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验收顺序</a:t>
            </a:r>
          </a:p>
        </p:txBody>
      </p:sp>
      <p:sp>
        <p:nvSpPr>
          <p:cNvPr id="27" name="roundRect 3"/>
          <p:cNvSpPr/>
          <p:nvPr/>
        </p:nvSpPr>
        <p:spPr>
          <a:xfrm>
            <a:off x="7924800" y="2413000"/>
            <a:ext cx="3200400" cy="508000"/>
          </a:xfrm>
          <a:prstGeom prst="roundRect">
            <a:avLst>
              <a:gd fmla="val 22500" name="adj"/>
            </a:avLst>
          </a:prstGeom>
          <a:solidFill>
            <a:srgbClr val="1BA6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 18"/>
          <p:cNvSpPr/>
          <p:nvPr/>
        </p:nvSpPr>
        <p:spPr>
          <a:xfrm>
            <a:off x="8204200" y="2578100"/>
            <a:ext cx="304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 b="1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01</a:t>
            </a:r>
          </a:p>
        </p:txBody>
      </p:sp>
      <p:sp>
        <p:nvSpPr>
          <p:cNvPr id="29" name="rect 19"/>
          <p:cNvSpPr/>
          <p:nvPr/>
        </p:nvSpPr>
        <p:spPr>
          <a:xfrm>
            <a:off x="8686800" y="2578100"/>
            <a:ext cx="1473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zh-CN" sz="1400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login → 拿 Token</a:t>
            </a:r>
          </a:p>
        </p:txBody>
      </p:sp>
      <p:sp>
        <p:nvSpPr>
          <p:cNvPr id="30" name="roundRect 4"/>
          <p:cNvSpPr/>
          <p:nvPr/>
        </p:nvSpPr>
        <p:spPr>
          <a:xfrm>
            <a:off x="7924800" y="3048000"/>
            <a:ext cx="3200400" cy="508000"/>
          </a:xfrm>
          <a:prstGeom prst="roundRect">
            <a:avLst>
              <a:gd fmla="val 22500" name="adj"/>
            </a:avLst>
          </a:prstGeom>
          <a:solidFill>
            <a:srgbClr val="1B49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 20"/>
          <p:cNvSpPr/>
          <p:nvPr/>
        </p:nvSpPr>
        <p:spPr>
          <a:xfrm>
            <a:off x="8204200" y="3213100"/>
            <a:ext cx="304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 b="1">
                <a:solidFill>
                  <a:srgbClr val="FFB454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02</a:t>
            </a:r>
          </a:p>
        </p:txBody>
      </p:sp>
      <p:sp>
        <p:nvSpPr>
          <p:cNvPr id="32" name="rect 21"/>
          <p:cNvSpPr/>
          <p:nvPr/>
        </p:nvSpPr>
        <p:spPr>
          <a:xfrm>
            <a:off x="8686800" y="3213100"/>
            <a:ext cx="17272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zh-CN" sz="1400">
                <a:solidFill>
                  <a:srgbClr val="FFFFFF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x-auth-token → 创建</a:t>
            </a:r>
          </a:p>
        </p:txBody>
      </p:sp>
      <p:sp>
        <p:nvSpPr>
          <p:cNvPr id="33" name="roundRect 5"/>
          <p:cNvSpPr/>
          <p:nvPr/>
        </p:nvSpPr>
        <p:spPr>
          <a:xfrm>
            <a:off x="7924800" y="3683000"/>
            <a:ext cx="3200400" cy="508000"/>
          </a:xfrm>
          <a:prstGeom prst="roundRect">
            <a:avLst>
              <a:gd fmla="val 22500" name="adj"/>
            </a:avLst>
          </a:prstGeom>
          <a:solidFill>
            <a:srgbClr val="1B496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 22"/>
          <p:cNvSpPr/>
          <p:nvPr/>
        </p:nvSpPr>
        <p:spPr>
          <a:xfrm>
            <a:off x="8204200" y="3848100"/>
            <a:ext cx="304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 b="1">
                <a:solidFill>
                  <a:srgbClr val="FFB454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03</a:t>
            </a:r>
          </a:p>
        </p:txBody>
      </p:sp>
      <p:sp>
        <p:nvSpPr>
          <p:cNvPr id="35" name="rect 23"/>
          <p:cNvSpPr/>
          <p:nvPr/>
        </p:nvSpPr>
        <p:spPr>
          <a:xfrm>
            <a:off x="8686800" y="3848100"/>
            <a:ext cx="18161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GET / PUT / DELETE</a:t>
            </a:r>
          </a:p>
        </p:txBody>
      </p:sp>
      <p:sp>
        <p:nvSpPr>
          <p:cNvPr id="36" name="roundRect 6"/>
          <p:cNvSpPr/>
          <p:nvPr/>
        </p:nvSpPr>
        <p:spPr>
          <a:xfrm>
            <a:off x="7924800" y="4318000"/>
            <a:ext cx="3200400" cy="508000"/>
          </a:xfrm>
          <a:prstGeom prst="roundRect">
            <a:avLst>
              <a:gd fmla="val 22500" name="adj"/>
            </a:avLst>
          </a:prstGeom>
          <a:solidFill>
            <a:srgbClr val="FFB45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 24"/>
          <p:cNvSpPr/>
          <p:nvPr/>
        </p:nvSpPr>
        <p:spPr>
          <a:xfrm>
            <a:off x="8204200" y="4483100"/>
            <a:ext cx="304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en-US" sz="1400" b="1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04</a:t>
            </a:r>
          </a:p>
        </p:txBody>
      </p:sp>
      <p:sp>
        <p:nvSpPr>
          <p:cNvPr id="38" name="rect 25"/>
          <p:cNvSpPr/>
          <p:nvPr/>
        </p:nvSpPr>
        <p:spPr>
          <a:xfrm>
            <a:off x="8686800" y="4483100"/>
            <a:ext cx="13970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5000"/>
              </a:lnSpc>
              <a:buNone/>
            </a:pPr>
            <a:r>
              <a:rPr lang="zh-CN" sz="1400">
                <a:solidFill>
                  <a:srgbClr val="0B1F3A"/>
                </a:solidFill>
                <a:latin typeface="Arial"/>
                <a:ea typeface="'PingFang SC'"/>
                <a:extLst>
                  <a:ext uri="https://univer.ai/xml/pptx/font-fallback/2026/main">
                    <uf:fontFallback xmlns:uf="https://univer.ai/xml/pptx/font-fallback/2026/main" family="Arial,'PingFang SC','Microsoft YaHei',sans-serif" latin="Arial" ea="'PingFang SC'" sym=""/>
                  </a:ext>
                </a:extLst>
              </a:rPr>
              <a:t>无 Token → 401</a:t>
            </a:r>
          </a:p>
        </p:txBody>
      </p:sp>
      <p:sp>
        <p:nvSpPr>
          <p:cNvPr id="39" name="rect 26"/>
          <p:cNvSpPr/>
          <p:nvPr/>
        </p:nvSpPr>
        <p:spPr>
          <a:xfrm>
            <a:off x="711200" y="5562600"/>
            <a:ext cx="48895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6000"/>
              </a:lnSpc>
              <a:buNone/>
            </a:pPr>
            <a:r>
              <a:rPr lang="zh-CN" sz="1500">
                <a:solidFill>
                  <a:srgbClr val="7FD7D2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课堂结论：认证、权限、CRUD 已形成可读的后端骨架。</a:t>
            </a:r>
          </a:p>
        </p:txBody>
      </p:sp>
      <p:sp>
        <p:nvSpPr>
          <p:cNvPr id="40" name="rect 27"/>
          <p:cNvSpPr/>
          <p:nvPr/>
        </p:nvSpPr>
        <p:spPr>
          <a:xfrm>
            <a:off x="711200" y="5930900"/>
            <a:ext cx="64008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84000"/>
              </a:lnSpc>
              <a:buNone/>
            </a:pPr>
            <a:r>
              <a:rPr lang="zh-CN" sz="1400">
                <a:solidFill>
                  <a:srgbClr val="A9BED1"/>
                </a:solidFill>
                <a:latin typeface="'PingFang SC'"/>
                <a:ea typeface="'PingFang SC'"/>
                <a:extLst>
                  <a:ext uri="https://univer.ai/xml/pptx/font-fallback/2026/main">
                    <uf:fontFallback xmlns:uf="https://univer.ai/xml/pptx/font-fallback/2026/main" family="'PingFang SC','Microsoft YaHei',Arial,sans-serif" latin="'PingFang SC'" ea="'PingFang SC'" sym=""/>
                  </a:ext>
                </a:extLst>
              </a:rPr>
              <a:t>课后：接入测试 MongoDB 完成全链路验收；预习 React Component 与 JSX。</a:t>
            </a:r>
          </a:p>
        </p:txBody>
      </p:sp>
      <p:sp>
        <p:nvSpPr>
          <p:cNvPr id="41" name="rect 28"/>
          <p:cNvSpPr/>
          <p:nvPr/>
        </p:nvSpPr>
        <p:spPr>
          <a:xfrm>
            <a:off x="10833100" y="6388100"/>
            <a:ext cx="6477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5000"/>
              </a:lnSpc>
              <a:buNone/>
            </a:pPr>
            <a:r>
              <a:rPr lang="en-US" sz="1400">
                <a:solidFill>
                  <a:srgbClr val="91A7BD"/>
                </a:solidFill>
                <a:latin typeface="Arial"/>
                <a:ea typeface="sans-serif"/>
                <a:extLst>
                  <a:ext uri="https://univer.ai/xml/pptx/font-fallback/2026/main">
                    <uf:fontFallback xmlns:uf="https://univer.ai/xml/pptx/font-fallback/2026/main" family="Arial,sans-serif" latin="Arial" ea="sans-serif" sym=""/>
                  </a:ext>
                </a:extLst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12700">
          <a:solidFill>
            <a:srgbClr val="4472C4">
              <a:alpha val="100000"/>
            </a:srgbClr>
          </a:solidFill>
        </a:ln>
        <a:ln w="19050">
          <a:solidFill>
            <a:srgbClr val="44546A">
              <a:alpha val="100000"/>
            </a:srgbClr>
          </a:solidFill>
        </a:ln>
        <a:ln w="28575">
          <a:solidFill>
            <a:srgbClr val="000000">
              <a:alpha val="100000"/>
            </a:srgbClr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7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认证与核心业务API</vt:lpstr>
    </vt:vector>
  </TitlesOfParts>
  <Company>Univer.ai</Company>
  <LinksUpToDate>false</LinksUpToDate>
  <SharedDoc>false</SharedDoc>
  <HyperlinksChanged>false</HyperlinksChanged>
  <AppVersion>16.0300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认证与核心业务API</dc:title>
  <dc:creator>Univer.ai</dc:creator>
  <cp:lastModifiedBy>Univer.ai</cp:lastModifiedBy>
  <dcterms:created xsi:type="dcterms:W3CDTF">2026-01-01T00:00:00Z</dcterms:created>
  <dcterms:modified xsi:type="dcterms:W3CDTF">2026-01-01T00:00:00Z</dcterms:modified>
</cp:coreProperties>
</file>