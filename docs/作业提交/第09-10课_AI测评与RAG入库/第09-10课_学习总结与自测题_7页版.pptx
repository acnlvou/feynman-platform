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_tf1.xml" ContentType="application/vnd.openxmlformats-officedocument.presentationml.notesSlide+xml"/>
  <Override PartName="/ppt/notesSlides/notesSlide2_tf1.xml" ContentType="application/vnd.openxmlformats-officedocument.presentationml.notesSlide+xml"/>
  <Override PartName="/ppt/notesSlides/notesSlide3_tf1.xml" ContentType="application/vnd.openxmlformats-officedocument.presentationml.notesSlide+xml"/>
  <Override PartName="/ppt/notesSlides/notesSlide4_tf1.xml" ContentType="application/vnd.openxmlformats-officedocument.presentationml.notesSlide+xml"/>
  <Override PartName="/ppt/notesSlides/notesSlide5_tf1.xml" ContentType="application/vnd.openxmlformats-officedocument.presentationml.notesSlide+xml"/>
  <Override PartName="/ppt/notesSlides/notesSlide6_tf1.xml" ContentType="application/vnd.openxmlformats-officedocument.presentationml.notesSlide+xml"/>
  <Override PartName="/ppt/notesSlides/notesSlide7_tf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15" Type="http://schemas.openxmlformats.org/officeDocument/2006/relationships/notesMaster" Target="notesMasters/notesMaster1.xml" />
<Relationship Id="rId16" Type="http://schemas.openxmlformats.org/officeDocument/2006/relationships/slide" Target="slides/slide1.xml" /><Relationship Id="rId17" Type="http://schemas.openxmlformats.org/officeDocument/2006/relationships/slide" Target="slides/slide2.xml" /><Relationship Id="rId18" Type="http://schemas.openxmlformats.org/officeDocument/2006/relationships/slide" Target="slides/slide3.xml" /><Relationship Id="rId19" Type="http://schemas.openxmlformats.org/officeDocument/2006/relationships/slide" Target="slides/slide4.xml" /><Relationship Id="rId20" Type="http://schemas.openxmlformats.org/officeDocument/2006/relationships/slide" Target="slides/slide5.xml" /><Relationship Id="rId21" Type="http://schemas.openxmlformats.org/officeDocument/2006/relationships/slide" Target="slides/slide6.xml" /><Relationship Id="rId22" Type="http://schemas.openxmlformats.org/officeDocument/2006/relationships/slide" Target="slides/slide7.xml" />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.xml" />
</Relationships>
</file>

<file path=ppt/notesSlides/_rels/notesSlide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.xml" />
</Relationships>
</file>

<file path=ppt/notesSlides/_rels/notesSlide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5.xml" />
</Relationships>
</file>

<file path=ppt/notesSlides/_rels/notesSlide6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6.xml" />
</Relationships>
</file>

<file path=ppt/notesSlides/_rels/notesSlide7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本次总结费曼学习平台最近两次提交，分别对应第九课的AI出题与智能测评，以及第十课的RAG私有知识库后端入库基础。先说明已完成的功能和实现思路，再给出五道自测题。</a:t>
            </a:r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上次提交为68b0f11，接入DeepSeek出题、单选与简答评分、测评历史以及错题复习流程。第九课变更记录记载，用户在二〇二六年十月二十六日手动验收通过。上次提交为1d2aaf2，接入文本分块、Embedding和本地向量索引，并增加自动更新与重建；提交说明明确写着尚未测试，因此第十课仍待真实验收。本次未运行项目测试，自测题只用于检查概念理解，不能替代实际功能验收。</a:t>
            </a:r>
          </a:p>
          <a:p>
            <a:pPr/>
            <a:r>
              <a:rPr lang="zh-CN" dirty="0"/>
              <a:t>资料依据：Git提交68b0f11、1d2aaf2；仓库docs/变更记录/2026-10-26-第9课出题与智能测评.md、2026-10-26-第10课RAG知识入库.md、2026-10-28-第10课切换硅基流动Embedding.md。</a:t>
            </a:r>
          </a:p>
        </p:txBody>
      </p:sp>
    </p:spTree>
  </p:cSld>
  <p:clrMapOvr>
    <a:masterClrMapping/>
  </p:clrMapOvr>
</p:notes>
</file>

<file path=ppt/notesSlides/notesSlide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九课从知识点详情进入测评，支持基础、中等、困难三种难度，以及单选和简答两种题型，每次生成一道题。DeepSeek根据知识点内容生成题目，正式提交前不会向前端返回标准答案或要点。单选由服务端比较答案，得到零分或一百分；简答由DeepSeek给出零至一百分和解释，六十分及以上视为正确。错误答案会尝试把知识点加入复习列表，但不改变学习状态；答对也不会清除之前已有的复习标记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资料依据：front/src/pages/QuizPage.jsx；backend/services/quizzes.js、quizSchemas.js。</a:t>
            </a:r>
          </a:p>
        </p:txBody>
      </p:sp>
    </p:spTree>
  </p:cSld>
  <p:clrMapOvr>
    <a:masterClrMapping/>
  </p:clrMapOvr>
</p:notes>
</file>

<file path=ppt/notesSlides/notesSlide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评分结果应由后端控制。服务端校验知识点与测评记录归属，并在提交前隐藏答案。feynman_quizzes记录知识点来源快照、题目、一次正式答案和评分信息，前端历史展示最近二十条测评。相同请求或相同答案重试时复用已有记录，异答案冲突。模型输出按JSON规则校验，请求有超时、取消和并发限制，结果暂存可在部分保存失败后补存。不过，这些机制不能证明外部模型严格只调用一次，或绝不会重复计费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资料依据：backend/models/FeynmanQuiz.js；backend/services/quizzes.js、quizSchemas.js、llmRuntime.js。</a:t>
            </a:r>
          </a:p>
        </p:txBody>
      </p:sp>
    </p:spTree>
  </p:cSld>
  <p:clrMapOvr>
    <a:masterClrMapping/>
  </p:clrMapOvr>
</p:notes>
</file>

<file path=ppt/notesSlides/notesSlide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十课完成的是入库基础。标题与正文先组合，再按Unicode字符分块，每块最多五百字，相邻块重叠五十字，并优先在标点处切分。分块控制输入规模，重叠有助于保留边界语义。后端调用硅基流动Embedding接口，模型配置方案为BAAI/bge-m3，取得向量后使用hnswlib-node建立cosine HNSW索引。索引按用户和知识点分目录保存在backend/.data/vector_store，文件包括index.bin、chunks.json和manifest.json。CloudBase里的知识点正文仍然是权威来源，本地索引可以重建。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资料依据：backend/services/vectorStoreService.js、siliconflowEmbeddings.js；第十课变更记录。</a:t>
            </a:r>
          </a:p>
        </p:txBody>
      </p:sp>
    </p:spTree>
  </p:cSld>
  <p:clrMapOvr>
    <a:masterClrMapping/>
  </p:clrMapOvr>
</p:notes>
</file>

<file path=ppt/notesSlides/notesSlide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新建知识点、修改标题正文、导入和恢复历史版本会触发索引更新；只修改学习状态、分类或标签则不调用Embedding。contentRevision表示正文版本。索引状态pending表示等待或处理中，ready表示已经建立，failed表示生成失败。索引失败不会撤销笔记保存，可用本人单条接口检查或重建，也可以强制重建本人全部索引。真实Embedding调用、文件读取和重启后的持久化仍需验收。ready只说明入库阶段准备好，第十一课的相似度检索、Prompt组合和聊天问答尚未实现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资料依据：backend/services/knowledgePoints.js；backend/routes/knowledgePoints.js；第十课实现与硅基流动切换记录。</a:t>
            </a:r>
          </a:p>
        </p:txBody>
      </p:sp>
    </p:spTree>
  </p:cSld>
  <p:clrMapOvr>
    <a:masterClrMapping/>
  </p:clrMapOvr>
</p:notes>
</file>

<file path=ppt/notesSlides/notesSlide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自测共五题，每题二十分。第一题考查为什么由后端判单选，需要考虑答案保密、成绩可信和归属校验。第二题考查五十九分与六十分的边界，以及复习标记和学习状态。第三题考查分块、重叠的目的与参数。第四题考查正文与标签更新对Embedding和内容版本的区别。第五题考查索引准备好与完整RAG问答之间的差别。评分按规则准确性、关键要点覆盖和边界说明进行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eynman_lessons_9_1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eynman_lessons_9_1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<Relationship Id="rId2" Type="http://schemas.openxmlformats.org/officeDocument/2006/relationships/notesSlide" Target="../notesSlides/notesSlide1_tf1.xml"/>
</Relationships>
</file>

<file path=ppt/slides/_rels/slide2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<Relationship Id="rId2" Type="http://schemas.openxmlformats.org/officeDocument/2006/relationships/notesSlide" Target="../notesSlides/notesSlide2_tf1.xml"/>
</Relationships>
</file>

<file path=ppt/slides/_rels/slide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3_tf1.xml" />
</Relationships>
</file>

<file path=ppt/slides/_rels/slide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4_tf1.xml" />
</Relationships>
</file>

<file path=ppt/slides/_rels/slide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5_tf1.xml" />
</Relationships>
</file>

<file path=ppt/slides/_rels/slide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6_tf1.xml" />
</Relationships>
</file>

<file path=ppt/slides/_rels/slide7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<Relationship Id="rId2" Type="http://schemas.openxmlformats.org/officeDocument/2006/relationships/notesSlide" Target="../notesSlides/notesSlide7_tf1.xml"/>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rule"/>
          <p:cNvSpPr/>
          <p:nvPr/>
        </p:nvSpPr>
        <p:spPr>
          <a:xfrm>
            <a:off x="609600" y="647700"/>
            <a:ext cx="1143000" cy="57150"/>
          </a:xfrm>
          <a:prstGeom prst="rect">
            <a:avLst/>
          </a:prstGeom>
          <a:solidFill>
            <a:srgbClr val="31B7B8"/>
          </a:solidFill>
          <a:ln>
            <a:noFill/>
          </a:ln>
        </p:spPr>
      </p:sp>
      <p:grpSp>
        <p:nvGrpSpPr>
          <p:cNvPr id="5" name="cover-title"/>
          <p:cNvGrpSpPr/>
          <p:nvPr/>
        </p:nvGrpSpPr>
        <p:grpSpPr>
          <a:xfrm>
            <a:off x="590550" y="1313498"/>
            <a:ext cx="3915156" cy="1749742"/>
            <a:chOff x="590550" y="1313498"/>
            <a:chExt cx="3915156" cy="1749742"/>
          </a:xfrm>
        </p:grpSpPr>
        <p:sp>
          <p:nvSpPr>
            <p:cNvPr id="3" name="TextBox 3"/>
            <p:cNvSpPr txBox="1"/>
            <p:nvPr/>
          </p:nvSpPr>
          <p:spPr>
            <a:xfrm>
              <a:off x="599694" y="1313498"/>
              <a:ext cx="36818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A8D9DD"/>
                  </a:solidFill>
                  <a:latin typeface="+mn-lt"/>
                  <a:ea typeface="+mn-ea"/>
                  <a:cs typeface="+mn-cs"/>
                </a:rPr>
                <a:t>课程学习总结 · 第9课 / 第10课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2129790"/>
              <a:ext cx="391515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费曼学习平台</a:t>
              </a:r>
            </a:p>
          </p:txBody>
        </p:sp>
      </p:grpSp>
      <p:grpSp>
        <p:nvGrpSpPr>
          <p:cNvPr id="8" name="cover-subject"/>
          <p:cNvGrpSpPr/>
          <p:nvPr/>
        </p:nvGrpSpPr>
        <p:grpSpPr>
          <a:xfrm>
            <a:off x="593598" y="3374708"/>
            <a:ext cx="5892736" cy="1749171"/>
            <a:chOff x="593598" y="3374708"/>
            <a:chExt cx="5892736" cy="1749171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3374708"/>
              <a:ext cx="5892736" cy="1225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1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AI出题与智能测评</a:t>
              </a:r>
              <a:br/>
              <a:r>
                <a:rPr lang="zh-CN" sz="31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RAG与私有知识库：后端入库基础</a:t>
              </a:r>
            </a:p>
          </p:txBody>
        </p:sp>
        <p:sp>
          <p:nvSpPr>
            <p:cNvPr id="7" name="TextBox 7"/>
            <p:cNvSpPr/>
            <p:nvPr/>
          </p:nvSpPr>
          <p:spPr>
            <a:xfrm>
              <a:off x="599694" y="4742498"/>
              <a:ext cx="50594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A8D9DD"/>
                  </a:solidFill>
                  <a:latin typeface="Arial"/>
                  <a:ea typeface="Microsoft YaHei"/>
                  <a:cs typeface="Arial"/>
                </a:rPr>
                <a:t>学习总结 / 自测题</a:t>
              </a:r>
            </a:p>
          </p:txBody>
        </p:sp>
      </p:grpSp>
      <p:grpSp>
        <p:nvGrpSpPr>
          <p:cNvPr id="11" name="cover-footer"/>
          <p:cNvGrpSpPr/>
          <p:nvPr/>
        </p:nvGrpSpPr>
        <p:grpSpPr>
          <a:xfrm>
            <a:off x="602742" y="6245542"/>
            <a:ext cx="10871454" cy="264033"/>
            <a:chOff x="602742" y="6245542"/>
            <a:chExt cx="10871454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602742" y="6245542"/>
              <a:ext cx="32988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9E4"/>
                  </a:solidFill>
                  <a:latin typeface="+mn-lt"/>
                  <a:ea typeface="+mn-ea"/>
                  <a:cs typeface="+mn-cs"/>
                </a:rPr>
                <a:t>依据最近两次Git提交整理 · 2026-10-30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10851642" y="6245542"/>
              <a:ext cx="622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dirty="0">
                  <a:solidFill>
                    <a:srgbClr val="CBD9E4"/>
                  </a:solidFill>
                  <a:latin typeface="Arial"/>
                  <a:ea typeface="Arial"/>
                  <a:cs typeface="Arial"/>
                </a:rPr>
                <a:t>01 / 07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3598" y="692468"/>
            <a:ext cx="2576322" cy="936117"/>
            <a:chOff x="593598" y="692468"/>
            <a:chExt cx="257632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9246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提交范围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最近两次提交</a:t>
              </a:r>
            </a:p>
          </p:txBody>
        </p:sp>
      </p:grpSp>
      <p:grpSp>
        <p:nvGrpSpPr>
          <p:cNvPr id="11" name="lesson-nine-commit"/>
          <p:cNvGrpSpPr/>
          <p:nvPr/>
        </p:nvGrpSpPr>
        <p:grpSpPr>
          <a:xfrm>
            <a:off x="598170" y="2045018"/>
            <a:ext cx="5116830" cy="2892933"/>
            <a:chOff x="598170" y="2045018"/>
            <a:chExt cx="5116830" cy="2892933"/>
          </a:xfrm>
        </p:grpSpPr>
        <p:sp>
          <p:nvSpPr>
            <p:cNvPr id="5" name="TextBox 5"/>
            <p:cNvSpPr txBox="1"/>
            <p:nvPr/>
          </p:nvSpPr>
          <p:spPr>
            <a:xfrm>
              <a:off x="602742" y="2045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上上次提交 · 68b0f11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170" y="2528888"/>
              <a:ext cx="290657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第9课：AI出题与测评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30480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694" y="3285172"/>
              <a:ext cx="383362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DeepSeek出题、单选与简答评分，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保存测评历史，并加入复习流程。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4256722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已有用户手动验收通过记录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4673918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记录日期：2026-10-26</a:t>
              </a:r>
            </a:p>
          </p:txBody>
        </p:sp>
      </p:grpSp>
      <p:grpSp>
        <p:nvGrpSpPr>
          <p:cNvPr id="18" name="lesson-ten-commit"/>
          <p:cNvGrpSpPr/>
          <p:nvPr/>
        </p:nvGrpSpPr>
        <p:grpSpPr>
          <a:xfrm>
            <a:off x="6313170" y="2045018"/>
            <a:ext cx="5116830" cy="2892933"/>
            <a:chOff x="6313170" y="2045018"/>
            <a:chExt cx="5116830" cy="2892933"/>
          </a:xfrm>
        </p:grpSpPr>
        <p:sp>
          <p:nvSpPr>
            <p:cNvPr id="12" name="TextBox 12"/>
            <p:cNvSpPr txBox="1"/>
            <p:nvPr/>
          </p:nvSpPr>
          <p:spPr>
            <a:xfrm>
              <a:off x="6317742" y="2045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上次提交 · 1d2aaf2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13170" y="2528888"/>
              <a:ext cx="30474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第10课：RAG知识入库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324600" y="30480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14694" y="3285172"/>
              <a:ext cx="34869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文本分块、向量化、本地索引，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接入知识点自动更新与重建。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14694" y="4256722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代码已接入，待真实验收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7742" y="4673918"/>
              <a:ext cx="3303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提交说明：“完成第十课内容，还未测试”</a:t>
              </a:r>
            </a:p>
          </p:txBody>
        </p:sp>
      </p:grpSp>
      <p:grpSp>
        <p:nvGrpSpPr>
          <p:cNvPr id="20" name="scope"/>
          <p:cNvGrpSpPr/>
          <p:nvPr/>
        </p:nvGrpSpPr>
        <p:grpSpPr>
          <a:xfrm>
            <a:off x="599694" y="5523548"/>
            <a:ext cx="7107555" cy="381381"/>
            <a:chOff x="599694" y="5523548"/>
            <a:chExt cx="7107555" cy="381381"/>
          </a:xfrm>
        </p:grpSpPr>
        <p:sp>
          <p:nvSpPr>
            <p:cNvPr id="19" name="TextBox 19"/>
            <p:cNvSpPr/>
            <p:nvPr/>
          </p:nvSpPr>
          <p:spPr>
            <a:xfrm>
              <a:off x="599694" y="5523548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7334D"/>
                  </a:solidFill>
                  <a:latin typeface="Arial"/>
                  <a:ea typeface="Microsoft YaHei"/>
                  <a:cs typeface="Arial"/>
                </a:rPr>
                <a:t>本次整理学习内容；</a:t>
              </a:r>
              <a:r>
                <a:rPr lang="zh-CN" sz="1950" b="1" dirty="0">
                  <a:solidFill>
                    <a:srgbClr val="007C83"/>
                  </a:solidFill>
                  <a:latin typeface="Arial"/>
                  <a:ea typeface="Microsoft YaHei"/>
                  <a:cs typeface="Arial"/>
                </a:rPr>
                <a:t>自测题</a:t>
              </a:r>
              <a:r>
                <a:rPr lang="zh-CN" sz="1950" dirty="0">
                  <a:solidFill>
                    <a:srgbClr val="17334D"/>
                  </a:solidFill>
                  <a:latin typeface="Arial"/>
                  <a:ea typeface="Microsoft YaHei"/>
                  <a:cs typeface="Arial"/>
                </a:rPr>
                <a:t>与真实功能验收分别说明。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2742" y="6397942"/>
            <a:ext cx="10871454" cy="264033"/>
            <a:chOff x="602742" y="6397942"/>
            <a:chExt cx="10871454" cy="264033"/>
          </a:xfrm>
        </p:grpSpPr>
        <p:sp>
          <p:nvSpPr>
            <p:cNvPr id="21" name="TextBox 21"/>
            <p:cNvSpPr txBox="1"/>
            <p:nvPr/>
          </p:nvSpPr>
          <p:spPr>
            <a:xfrm>
              <a:off x="602742" y="6397942"/>
              <a:ext cx="4752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依据：Git提交与第9、10课变更记录；本次未运行项目测试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10851642" y="6397942"/>
              <a:ext cx="622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dirty="0">
                  <a:solidFill>
                    <a:srgbClr val="536A7B"/>
                  </a:solidFill>
                  <a:latin typeface="Arial"/>
                  <a:ea typeface="Arial"/>
                  <a:cs typeface="Arial"/>
                </a:rPr>
                <a:t>02 / 07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3598" y="692468"/>
            <a:ext cx="3400265" cy="936117"/>
            <a:chOff x="593598" y="692468"/>
            <a:chExt cx="3400265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92468"/>
              <a:ext cx="1821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第9课 · 功能流程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340026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AI出题与智能测评</a:t>
              </a:r>
            </a:p>
          </p:txBody>
        </p:sp>
      </p:grpSp>
      <p:grpSp>
        <p:nvGrpSpPr>
          <p:cNvPr id="7" name="quiz-entry"/>
          <p:cNvGrpSpPr/>
          <p:nvPr/>
        </p:nvGrpSpPr>
        <p:grpSpPr>
          <a:xfrm>
            <a:off x="598170" y="1928812"/>
            <a:ext cx="6920122" cy="794767"/>
            <a:chOff x="598170" y="1928812"/>
            <a:chExt cx="6920122" cy="794767"/>
          </a:xfrm>
        </p:grpSpPr>
        <p:sp>
          <p:nvSpPr>
            <p:cNvPr id="5" name="TextBox 5"/>
            <p:cNvSpPr txBox="1"/>
            <p:nvPr/>
          </p:nvSpPr>
          <p:spPr>
            <a:xfrm>
              <a:off x="598170" y="1928812"/>
              <a:ext cx="39907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选择知识点、题型与难度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42644" y="2342198"/>
              <a:ext cx="61756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 / 中等 / 困难；单选 / 简答；每次生成一道题。</a:t>
              </a:r>
            </a:p>
          </p:txBody>
        </p:sp>
      </p:grpSp>
      <p:grpSp>
        <p:nvGrpSpPr>
          <p:cNvPr id="10" name="quiz-generation"/>
          <p:cNvGrpSpPr/>
          <p:nvPr/>
        </p:nvGrpSpPr>
        <p:grpSpPr>
          <a:xfrm>
            <a:off x="598170" y="2976562"/>
            <a:ext cx="7327011" cy="794767"/>
            <a:chOff x="598170" y="2976562"/>
            <a:chExt cx="7327011" cy="794767"/>
          </a:xfrm>
        </p:grpSpPr>
        <p:sp>
          <p:nvSpPr>
            <p:cNvPr id="8" name="TextBox 8"/>
            <p:cNvSpPr txBox="1"/>
            <p:nvPr/>
          </p:nvSpPr>
          <p:spPr>
            <a:xfrm>
              <a:off x="598170" y="2976562"/>
              <a:ext cx="47365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DeepSeek出题，学生提交答案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2644" y="3389948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依据知识点内容生成题目，提交前隐藏标准答案或要点。</a:t>
              </a:r>
            </a:p>
          </p:txBody>
        </p:sp>
      </p:grpSp>
      <p:grpSp>
        <p:nvGrpSpPr>
          <p:cNvPr id="13" name="quiz-grading"/>
          <p:cNvGrpSpPr/>
          <p:nvPr/>
        </p:nvGrpSpPr>
        <p:grpSpPr>
          <a:xfrm>
            <a:off x="598170" y="4024312"/>
            <a:ext cx="8127663" cy="794767"/>
            <a:chOff x="598170" y="4024312"/>
            <a:chExt cx="8127663" cy="794767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4024312"/>
              <a:ext cx="39599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　服务端判单选，AI判简答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42644" y="4437698"/>
              <a:ext cx="73831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单选0或100分；简答0—100分并给解释，60分及以上视为正确。</a:t>
              </a:r>
            </a:p>
          </p:txBody>
        </p:sp>
      </p:grpSp>
      <p:grpSp>
        <p:nvGrpSpPr>
          <p:cNvPr id="16" name="quiz-review"/>
          <p:cNvGrpSpPr/>
          <p:nvPr/>
        </p:nvGrpSpPr>
        <p:grpSpPr>
          <a:xfrm>
            <a:off x="598170" y="5072062"/>
            <a:ext cx="8114538" cy="794767"/>
            <a:chOff x="598170" y="5072062"/>
            <a:chExt cx="8114538" cy="794767"/>
          </a:xfrm>
        </p:grpSpPr>
        <p:sp>
          <p:nvSpPr>
            <p:cNvPr id="14" name="TextBox 14"/>
            <p:cNvSpPr txBox="1"/>
            <p:nvPr/>
          </p:nvSpPr>
          <p:spPr>
            <a:xfrm>
              <a:off x="598170" y="5072062"/>
              <a:ext cx="39907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　保存结果，处理复习标记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42644" y="5485448"/>
              <a:ext cx="73700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答错尝试加入复习；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不改学习状态</a:t>
              </a: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，答对不清除已有复习标记。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602742" y="6397942"/>
            <a:ext cx="10871454" cy="264033"/>
            <a:chOff x="602742" y="6397942"/>
            <a:chExt cx="10871454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602742" y="6397942"/>
              <a:ext cx="6087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依据：front/src/pages/QuizPage.jsx · backend/services/quizzes.js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10851642" y="6397942"/>
              <a:ext cx="622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dirty="0">
                  <a:solidFill>
                    <a:srgbClr val="536A7B"/>
                  </a:solidFill>
                  <a:latin typeface="Arial"/>
                  <a:ea typeface="Arial"/>
                  <a:cs typeface="Arial"/>
                </a:rPr>
                <a:t>03 / 07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3598" y="692468"/>
            <a:ext cx="3424428" cy="936117"/>
            <a:chOff x="593598" y="692468"/>
            <a:chExt cx="342442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92468"/>
              <a:ext cx="1821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第9课 · 实现要点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3424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后端处理与可靠性</a:t>
              </a:r>
            </a:p>
          </p:txBody>
        </p:sp>
      </p:grpSp>
      <p:grpSp>
        <p:nvGrpSpPr>
          <p:cNvPr id="8" name="ownership-and-storage"/>
          <p:cNvGrpSpPr/>
          <p:nvPr/>
        </p:nvGrpSpPr>
        <p:grpSpPr>
          <a:xfrm>
            <a:off x="598170" y="2005012"/>
            <a:ext cx="3859911" cy="2890267"/>
            <a:chOff x="598170" y="2005012"/>
            <a:chExt cx="3859911" cy="2890267"/>
          </a:xfrm>
        </p:grpSpPr>
        <p:sp>
          <p:nvSpPr>
            <p:cNvPr id="5" name="TextBox 5"/>
            <p:cNvSpPr txBox="1"/>
            <p:nvPr/>
          </p:nvSpPr>
          <p:spPr>
            <a:xfrm>
              <a:off x="598170" y="2005012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权限与数据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2646998"/>
              <a:ext cx="34869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提交前不向前端返回标准答案。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服务端校验知识点和测评归属。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3713798"/>
              <a:ext cx="3858387" cy="1181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feynman_quizzes 保存来源快照、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题目、正式答案和评分信息。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历史入口展示最近20条测评。</a:t>
              </a:r>
            </a:p>
          </p:txBody>
        </p:sp>
      </p:grpSp>
      <p:grpSp>
        <p:nvGrpSpPr>
          <p:cNvPr id="12" name="retries-and-failures"/>
          <p:cNvGrpSpPr/>
          <p:nvPr/>
        </p:nvGrpSpPr>
        <p:grpSpPr>
          <a:xfrm>
            <a:off x="6313170" y="2005012"/>
            <a:ext cx="3736086" cy="2890267"/>
            <a:chOff x="6313170" y="2005012"/>
            <a:chExt cx="3736086" cy="2890267"/>
          </a:xfrm>
        </p:grpSpPr>
        <p:sp>
          <p:nvSpPr>
            <p:cNvPr id="9" name="TextBox 9"/>
            <p:cNvSpPr txBox="1"/>
            <p:nvPr/>
          </p:nvSpPr>
          <p:spPr>
            <a:xfrm>
              <a:off x="6313170" y="2005012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重试与故障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14694" y="2646998"/>
              <a:ext cx="34869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同请求或同答案重试复用记录；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同一测评提交不同答案会冲突。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14694" y="3713798"/>
              <a:ext cx="3734562" cy="1181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模型输出严格按JSON校验，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并设置超时、取消及并发限制。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结果暂存支持部分失败后的补存。</a:t>
              </a:r>
            </a:p>
          </p:txBody>
        </p:sp>
      </p:grpSp>
      <p:grpSp>
        <p:nvGrpSpPr>
          <p:cNvPr id="15" name="limitation"/>
          <p:cNvGrpSpPr/>
          <p:nvPr/>
        </p:nvGrpSpPr>
        <p:grpSpPr>
          <a:xfrm>
            <a:off x="599694" y="5429250"/>
            <a:ext cx="10982706" cy="580453"/>
            <a:chOff x="599694" y="5429250"/>
            <a:chExt cx="10982706" cy="580453"/>
          </a:xfrm>
        </p:grpSpPr>
        <p:sp>
          <p:nvSpPr>
            <p:cNvPr id="13" name="Line 13"/>
            <p:cNvSpPr/>
            <p:nvPr/>
          </p:nvSpPr>
          <p:spPr>
            <a:xfrm>
              <a:off x="609600" y="5429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9694" y="5628322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重试复用与结果暂存，不保证外部模型严格只调用一次。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602742" y="6397942"/>
            <a:ext cx="10871454" cy="264033"/>
            <a:chOff x="602742" y="6397942"/>
            <a:chExt cx="10871454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602742" y="6397942"/>
              <a:ext cx="6948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依据：backend/services/quizzes.js、quizSchemas.js · models/FeynmanQuiz.js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10851642" y="6397942"/>
              <a:ext cx="622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dirty="0">
                  <a:solidFill>
                    <a:srgbClr val="536A7B"/>
                  </a:solidFill>
                  <a:latin typeface="Arial"/>
                  <a:ea typeface="Arial"/>
                  <a:cs typeface="Arial"/>
                </a:rPr>
                <a:t>04 / 07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3598" y="692468"/>
            <a:ext cx="2504473" cy="936117"/>
            <a:chOff x="593598" y="692468"/>
            <a:chExt cx="2504473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92468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第10课 · 入库流程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250447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RAG知识入库</a:t>
              </a:r>
            </a:p>
          </p:txBody>
        </p:sp>
      </p:grpSp>
      <p:grpSp>
        <p:nvGrpSpPr>
          <p:cNvPr id="7" name="splitting"/>
          <p:cNvGrpSpPr/>
          <p:nvPr/>
        </p:nvGrpSpPr>
        <p:grpSpPr>
          <a:xfrm>
            <a:off x="598170" y="1938338"/>
            <a:ext cx="5241984" cy="880491"/>
            <a:chOff x="598170" y="1938338"/>
            <a:chExt cx="5241984" cy="880491"/>
          </a:xfrm>
        </p:grpSpPr>
        <p:sp>
          <p:nvSpPr>
            <p:cNvPr id="5" name="TextBox 5"/>
            <p:cNvSpPr txBox="1"/>
            <p:nvPr/>
          </p:nvSpPr>
          <p:spPr>
            <a:xfrm>
              <a:off x="598170" y="1938338"/>
              <a:ext cx="27792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标题与正文分块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2437448"/>
              <a:ext cx="52404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每块最多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500字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，相邻重叠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50字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，优先标点。</a:t>
              </a:r>
            </a:p>
          </p:txBody>
        </p:sp>
      </p:grpSp>
      <p:grpSp>
        <p:nvGrpSpPr>
          <p:cNvPr id="10" name="embedding"/>
          <p:cNvGrpSpPr/>
          <p:nvPr/>
        </p:nvGrpSpPr>
        <p:grpSpPr>
          <a:xfrm>
            <a:off x="598170" y="3243262"/>
            <a:ext cx="5053584" cy="880491"/>
            <a:chOff x="598170" y="3243262"/>
            <a:chExt cx="5053584" cy="880491"/>
          </a:xfrm>
        </p:grpSpPr>
        <p:sp>
          <p:nvSpPr>
            <p:cNvPr id="8" name="TextBox 8"/>
            <p:cNvSpPr txBox="1"/>
            <p:nvPr/>
          </p:nvSpPr>
          <p:spPr>
            <a:xfrm>
              <a:off x="598170" y="3243262"/>
              <a:ext cx="39698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调用Embedding生成向量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3742372"/>
              <a:ext cx="50520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硅基流动适配；配置模型为BAAI/bge-m3。</a:t>
              </a:r>
            </a:p>
          </p:txBody>
        </p:sp>
      </p:grpSp>
      <p:grpSp>
        <p:nvGrpSpPr>
          <p:cNvPr id="13" name="hnsw"/>
          <p:cNvGrpSpPr/>
          <p:nvPr/>
        </p:nvGrpSpPr>
        <p:grpSpPr>
          <a:xfrm>
            <a:off x="598170" y="4548188"/>
            <a:ext cx="3822764" cy="1280541"/>
            <a:chOff x="598170" y="4548188"/>
            <a:chExt cx="3822764" cy="1280541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4548188"/>
              <a:ext cx="32444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　建立本地HNSW索引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047298"/>
              <a:ext cx="3821240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hnswlib-node，使用cosine距离；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按用户与知识点分目录保存。</a:t>
              </a:r>
            </a:p>
          </p:txBody>
        </p:sp>
      </p:grpSp>
      <p:grpSp>
        <p:nvGrpSpPr>
          <p:cNvPr id="18" name="index-files"/>
          <p:cNvGrpSpPr/>
          <p:nvPr/>
        </p:nvGrpSpPr>
        <p:grpSpPr>
          <a:xfrm>
            <a:off x="7924800" y="1838325"/>
            <a:ext cx="3657600" cy="3971925"/>
            <a:chOff x="7924800" y="1838325"/>
            <a:chExt cx="3657600" cy="3971925"/>
          </a:xfrm>
        </p:grpSpPr>
        <p:sp>
          <p:nvSpPr>
            <p:cNvPr id="14" name="Rectangle 14"/>
            <p:cNvSpPr/>
            <p:nvPr/>
          </p:nvSpPr>
          <p:spPr>
            <a:xfrm>
              <a:off x="7924800" y="1838325"/>
              <a:ext cx="3657600" cy="39719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80070" y="2100262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本地索引文件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1594" y="2847022"/>
              <a:ext cx="1716214" cy="13338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en-US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index.bin</a:t>
              </a:r>
              <a:br/>
              <a:r>
                <a:rPr lang="en-US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chunks.json</a:t>
              </a:r>
              <a:br/>
              <a:r>
                <a:rPr lang="en-US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manifest.json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1594" y="4609148"/>
              <a:ext cx="24963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正文仍以CloudBase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数据库中的记录为准。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602742" y="6397942"/>
            <a:ext cx="10871454" cy="264033"/>
            <a:chOff x="602742" y="6397942"/>
            <a:chExt cx="10871454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02742" y="6397942"/>
              <a:ext cx="8628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依据：vectorStoreService.js · siliconflowEmbeddings.js · 本地路径backend/.data/vector_store/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10851642" y="6397942"/>
              <a:ext cx="622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dirty="0">
                  <a:solidFill>
                    <a:srgbClr val="536A7B"/>
                  </a:solidFill>
                  <a:latin typeface="Arial"/>
                  <a:ea typeface="Arial"/>
                  <a:cs typeface="Arial"/>
                </a:rPr>
                <a:t>05 / 07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3598" y="692468"/>
            <a:ext cx="3848481" cy="936117"/>
            <a:chOff x="593598" y="692468"/>
            <a:chExt cx="3848481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92468"/>
              <a:ext cx="2103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/ 第10课 · 更新与边界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索引更新与失败处理</a:t>
              </a:r>
            </a:p>
          </p:txBody>
        </p:sp>
      </p:grpSp>
      <p:grpSp>
        <p:nvGrpSpPr>
          <p:cNvPr id="8" name="trigger-rules"/>
          <p:cNvGrpSpPr/>
          <p:nvPr/>
        </p:nvGrpSpPr>
        <p:grpSpPr>
          <a:xfrm>
            <a:off x="598170" y="1947862"/>
            <a:ext cx="3736086" cy="2375917"/>
            <a:chOff x="598170" y="1947862"/>
            <a:chExt cx="3736086" cy="2375917"/>
          </a:xfrm>
        </p:grpSpPr>
        <p:sp>
          <p:nvSpPr>
            <p:cNvPr id="5" name="TextBox 5"/>
            <p:cNvSpPr txBox="1"/>
            <p:nvPr/>
          </p:nvSpPr>
          <p:spPr>
            <a:xfrm>
              <a:off x="598170" y="194786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哪些操作触发入库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2542222"/>
              <a:ext cx="34869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新建、编辑标题或正文、导入、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恢复历史版本会触发索引更新。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3542348"/>
              <a:ext cx="373456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仅修改状态、分类、标签不触发。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contentRevision记录正文版本。</a:t>
              </a:r>
            </a:p>
          </p:txBody>
        </p:sp>
      </p:grpSp>
      <p:grpSp>
        <p:nvGrpSpPr>
          <p:cNvPr id="12" name="status-handling"/>
          <p:cNvGrpSpPr/>
          <p:nvPr/>
        </p:nvGrpSpPr>
        <p:grpSpPr>
          <a:xfrm>
            <a:off x="6313170" y="1947862"/>
            <a:ext cx="4746498" cy="2375917"/>
            <a:chOff x="6313170" y="1947862"/>
            <a:chExt cx="4746498" cy="2375917"/>
          </a:xfrm>
        </p:grpSpPr>
        <p:sp>
          <p:nvSpPr>
            <p:cNvPr id="9" name="TextBox 9"/>
            <p:cNvSpPr txBox="1"/>
            <p:nvPr/>
          </p:nvSpPr>
          <p:spPr>
            <a:xfrm>
              <a:off x="6313170" y="1947862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怎样观察和恢复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14694" y="2542222"/>
              <a:ext cx="3685032" cy="1181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pending：等待或正在建立索引。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ready：索引已建立。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failed：索引失败，笔记仍保存。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14694" y="3942398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可检查重建单条，或强制重建本人全部。</a:t>
              </a:r>
            </a:p>
          </p:txBody>
        </p:sp>
      </p:grpSp>
      <p:grpSp>
        <p:nvGrpSpPr>
          <p:cNvPr id="16" name="acceptance-boundary"/>
          <p:cNvGrpSpPr/>
          <p:nvPr/>
        </p:nvGrpSpPr>
        <p:grpSpPr>
          <a:xfrm>
            <a:off x="599694" y="4857750"/>
            <a:ext cx="10982706" cy="1066229"/>
            <a:chOff x="599694" y="4857750"/>
            <a:chExt cx="10982706" cy="1066229"/>
          </a:xfrm>
        </p:grpSpPr>
        <p:sp>
          <p:nvSpPr>
            <p:cNvPr id="13" name="Line 13"/>
            <p:cNvSpPr/>
            <p:nvPr/>
          </p:nvSpPr>
          <p:spPr>
            <a:xfrm>
              <a:off x="609600" y="4857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9694" y="5075872"/>
              <a:ext cx="78769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待验收：真实Embedding调用、索引文件可读取、重启后仍能使用。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9694" y="5542598"/>
              <a:ext cx="78918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ready只代表入库阶段</a:t>
              </a:r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；第11课的相似度检索和聊天问答尚未实现。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602742" y="6397942"/>
            <a:ext cx="10871454" cy="264033"/>
            <a:chOff x="602742" y="6397942"/>
            <a:chExt cx="10871454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602742" y="6397942"/>
              <a:ext cx="5962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依据：backend/services/knowledgePoints.js · 第10课实现与切换记录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10851642" y="6397942"/>
              <a:ext cx="622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dirty="0">
                  <a:solidFill>
                    <a:srgbClr val="536A7B"/>
                  </a:solidFill>
                  <a:latin typeface="Arial"/>
                  <a:ea typeface="Arial"/>
                  <a:cs typeface="Arial"/>
                </a:rPr>
                <a:t>06 / 07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3598" y="692468"/>
            <a:ext cx="4272534" cy="936117"/>
            <a:chOff x="593598" y="692468"/>
            <a:chExt cx="4272534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92468"/>
              <a:ext cx="2567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/ 自测题 · 共5题，每题20分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理解功能，也理解边界</a:t>
              </a:r>
            </a:p>
          </p:txBody>
        </p:sp>
      </p:grpSp>
      <p:grpSp>
        <p:nvGrpSpPr>
          <p:cNvPr id="6" name="q1"/>
          <p:cNvGrpSpPr/>
          <p:nvPr/>
        </p:nvGrpSpPr>
        <p:grpSpPr>
          <a:xfrm>
            <a:off x="599694" y="1999298"/>
            <a:ext cx="7410753" cy="381381"/>
            <a:chOff x="599694" y="1999298"/>
            <a:chExt cx="7410753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999298"/>
              <a:ext cx="74107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01　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为什么单选题应由后端判分，而不是让前端决定最终成绩？</a:t>
              </a:r>
            </a:p>
          </p:txBody>
        </p:sp>
      </p:grpSp>
      <p:grpSp>
        <p:nvGrpSpPr>
          <p:cNvPr id="8" name="q2"/>
          <p:cNvGrpSpPr/>
          <p:nvPr/>
        </p:nvGrpSpPr>
        <p:grpSpPr>
          <a:xfrm>
            <a:off x="599694" y="2885122"/>
            <a:ext cx="7725764" cy="381381"/>
            <a:chOff x="599694" y="2885122"/>
            <a:chExt cx="7725764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2885122"/>
              <a:ext cx="77257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02　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简答题59分和60分如何处理？复习标记、学习状态如何变化？</a:t>
              </a:r>
            </a:p>
          </p:txBody>
        </p:sp>
      </p:grpSp>
      <p:grpSp>
        <p:nvGrpSpPr>
          <p:cNvPr id="10" name="q3"/>
          <p:cNvGrpSpPr/>
          <p:nvPr/>
        </p:nvGrpSpPr>
        <p:grpSpPr>
          <a:xfrm>
            <a:off x="599694" y="3770948"/>
            <a:ext cx="7148244" cy="381381"/>
            <a:chOff x="599694" y="3770948"/>
            <a:chExt cx="7148244" cy="381381"/>
          </a:xfrm>
        </p:grpSpPr>
        <p:sp>
          <p:nvSpPr>
            <p:cNvPr id="9" name="TextBox 9"/>
            <p:cNvSpPr txBox="1"/>
            <p:nvPr/>
          </p:nvSpPr>
          <p:spPr>
            <a:xfrm>
              <a:off x="599694" y="3770948"/>
              <a:ext cx="714824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03　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为什么向量化前需要分块和重叠？本项目采用什么参数？</a:t>
              </a:r>
            </a:p>
          </p:txBody>
        </p:sp>
      </p:grpSp>
      <p:grpSp>
        <p:nvGrpSpPr>
          <p:cNvPr id="12" name="q4"/>
          <p:cNvGrpSpPr/>
          <p:nvPr/>
        </p:nvGrpSpPr>
        <p:grpSpPr>
          <a:xfrm>
            <a:off x="599694" y="4656772"/>
            <a:ext cx="8180119" cy="381381"/>
            <a:chOff x="599694" y="4656772"/>
            <a:chExt cx="8180119" cy="381381"/>
          </a:xfrm>
        </p:grpSpPr>
        <p:sp>
          <p:nvSpPr>
            <p:cNvPr id="11" name="TextBox 11"/>
            <p:cNvSpPr txBox="1"/>
            <p:nvPr/>
          </p:nvSpPr>
          <p:spPr>
            <a:xfrm>
              <a:off x="599694" y="4656772"/>
              <a:ext cx="81801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04　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修改正文和只改标签，对Embedding调用及内容版本有什么区别？</a:t>
              </a:r>
            </a:p>
          </p:txBody>
        </p:sp>
      </p:grpSp>
      <p:grpSp>
        <p:nvGrpSpPr>
          <p:cNvPr id="14" name="q5"/>
          <p:cNvGrpSpPr/>
          <p:nvPr/>
        </p:nvGrpSpPr>
        <p:grpSpPr>
          <a:xfrm>
            <a:off x="599694" y="5542598"/>
            <a:ext cx="8132653" cy="381381"/>
            <a:chOff x="599694" y="5542598"/>
            <a:chExt cx="8132653" cy="381381"/>
          </a:xfrm>
        </p:grpSpPr>
        <p:sp>
          <p:nvSpPr>
            <p:cNvPr id="13" name="TextBox 13"/>
            <p:cNvSpPr txBox="1"/>
            <p:nvPr/>
          </p:nvSpPr>
          <p:spPr>
            <a:xfrm>
              <a:off x="599694" y="5542598"/>
              <a:ext cx="81326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05　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索引状态为ready，是否说明私有知识库聊天已经完成？为什么？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602742" y="6397942"/>
            <a:ext cx="10871454" cy="264033"/>
            <a:chOff x="602742" y="6397942"/>
            <a:chExt cx="10871454" cy="264033"/>
          </a:xfrm>
        </p:grpSpPr>
        <p:sp>
          <p:nvSpPr>
            <p:cNvPr id="15" name="TextBox 15"/>
            <p:cNvSpPr/>
            <p:nvPr/>
          </p:nvSpPr>
          <p:spPr>
            <a:xfrm>
              <a:off x="602742" y="6397942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36A7B"/>
                  </a:solidFill>
                  <a:latin typeface="Arial"/>
                  <a:ea typeface="Microsoft YaHei"/>
                  <a:cs typeface="Arial"/>
                </a:rPr>
                <a:t>评分依据：规则准确性、关键要点覆盖、是否说明适用边界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10851642" y="6397942"/>
              <a:ext cx="622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350" dirty="0">
                  <a:solidFill>
                    <a:srgbClr val="536A7B"/>
                  </a:solidFill>
                  <a:latin typeface="Arial"/>
                  <a:ea typeface="Arial"/>
                  <a:cs typeface="Arial"/>
                </a:rPr>
                <a:t>07 / 07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feynman_lessons_9_10">
  <a:themeElements>
    <a:clrScheme name="feynman_lessons_9_10">
      <a:dk1>
        <a:srgbClr val="253E52"/>
      </a:dk1>
      <a:lt1>
        <a:srgbClr val="F7F9FC"/>
      </a:lt1>
      <a:dk2>
        <a:srgbClr val="1F497D"/>
      </a:dk2>
      <a:lt2>
        <a:srgbClr val="EAF1F7"/>
      </a:lt2>
      <a:accent1>
        <a:srgbClr val="17334D"/>
      </a:accent1>
      <a:accent2>
        <a:srgbClr val="007C83"/>
      </a:accent2>
      <a:accent3>
        <a:srgbClr val="B56924"/>
      </a:accent3>
      <a:accent4>
        <a:srgbClr val="17334D"/>
      </a:accent4>
      <a:accent5>
        <a:srgbClr val="536A7B"/>
      </a:accent5>
      <a:accent6>
        <a:srgbClr val="CAD6DF"/>
      </a:accent6>
      <a:hlink>
        <a:srgbClr val="007C83"/>
      </a:hlink>
      <a:folHlink>
        <a:srgbClr val="B56924"/>
      </a:folHlink>
    </a:clrScheme>
    <a:fontScheme name="feynman_lessons_9_10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ynman_lessons_9_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eynman_lessons_9_10">
  <a:themeElements>
    <a:clrScheme name="feynman_lessons_9_10">
      <a:dk1>
        <a:srgbClr val="253E52"/>
      </a:dk1>
      <a:lt1>
        <a:srgbClr val="F7F9FC"/>
      </a:lt1>
      <a:dk2>
        <a:srgbClr val="1F497D"/>
      </a:dk2>
      <a:lt2>
        <a:srgbClr val="EAF1F7"/>
      </a:lt2>
      <a:accent1>
        <a:srgbClr val="17334D"/>
      </a:accent1>
      <a:accent2>
        <a:srgbClr val="007C83"/>
      </a:accent2>
      <a:accent3>
        <a:srgbClr val="B56924"/>
      </a:accent3>
      <a:accent4>
        <a:srgbClr val="17334D"/>
      </a:accent4>
      <a:accent5>
        <a:srgbClr val="536A7B"/>
      </a:accent5>
      <a:accent6>
        <a:srgbClr val="CAD6DF"/>
      </a:accent6>
      <a:hlink>
        <a:srgbClr val="007C83"/>
      </a:hlink>
      <a:folHlink>
        <a:srgbClr val="B56924"/>
      </a:folHlink>
    </a:clrScheme>
    <a:fontScheme name="feynman_lessons_9_10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ynman_lessons_9_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7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2026-10-30T02:55:48Z</dcterms:created>
  <dcterms:modified xsi:type="dcterms:W3CDTF">2026-10-30T02:55:48Z</dcterms:modified>
  <cp:category/>
  <cp:contentStatus/>
</cp:coreProperties>
</file>