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9144000" y="0"/>
            <a:ext cx="3048000" cy="6858000"/>
          </a:xfrm>
          <a:custGeom>
            <a:avLst/>
            <a:gdLst/>
            <a:ahLst/>
            <a:cxnLst/>
            <a:rect l="0" t="0" r="0" b="0"/>
            <a:pathLst>
              <a:path w="240" h="540">
                <a:moveTo>
                  <a:pt x="0" y="0"/>
                </a:moveTo>
                <a:lnTo>
                  <a:pt x="240" y="0"/>
                </a:lnTo>
                <a:lnTo>
                  <a:pt x="240" y="540"/>
                </a:lnTo>
                <a:lnTo>
                  <a:pt x="120" y="540"/>
                </a:lnTo>
                <a:cubicBezTo>
                  <a:pt x="120" y="320"/>
                  <a:pt x="50" y="180"/>
                  <a:pt x="0" y="0"/>
                </a:cubicBezTo>
                <a:close/>
              </a:path>
            </a:pathLst>
          </a:custGeom>
          <a:solidFill>
            <a:srgbClr val="12365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9982200" y="0"/>
            <a:ext cx="939800" cy="3810000"/>
          </a:xfrm>
          <a:custGeom>
            <a:avLst/>
            <a:gdLst/>
            <a:ahLst/>
            <a:cxnLst/>
            <a:rect l="0" t="0" r="0" b="0"/>
            <a:pathLst>
              <a:path w="74" h="300">
                <a:moveTo>
                  <a:pt x="0" y="0"/>
                </a:moveTo>
                <a:cubicBezTo>
                  <a:pt x="64" y="110"/>
                  <a:pt x="74" y="210"/>
                  <a:pt x="64" y="300"/>
                </a:cubicBezTo>
              </a:path>
            </a:pathLst>
          </a:custGeom>
          <a:noFill/>
          <a:ln w="25400">
            <a:solidFill>
              <a:srgbClr val="1BA6A6">
                <a:alpha val="80000"/>
              </a:srgbClr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 4"/>
          <p:cNvSpPr/>
          <p:nvPr/>
        </p:nvSpPr>
        <p:spPr>
          <a:xfrm>
            <a:off x="10566400" y="0"/>
            <a:ext cx="965708" cy="4318000"/>
          </a:xfrm>
          <a:custGeom>
            <a:avLst/>
            <a:gdLst/>
            <a:ahLst/>
            <a:cxnLst/>
            <a:rect l="0" t="0" r="0" b="0"/>
            <a:pathLst>
              <a:path w="76" h="340">
                <a:moveTo>
                  <a:pt x="0" y="0"/>
                </a:moveTo>
                <a:lnTo>
                  <a:pt x="3" y="4"/>
                </a:lnTo>
                <a:moveTo>
                  <a:pt x="7" y="11"/>
                </a:moveTo>
                <a:lnTo>
                  <a:pt x="7" y="11"/>
                </a:lnTo>
                <a:lnTo>
                  <a:pt x="10" y="15"/>
                </a:lnTo>
                <a:moveTo>
                  <a:pt x="14" y="22"/>
                </a:moveTo>
                <a:lnTo>
                  <a:pt x="14" y="22"/>
                </a:lnTo>
                <a:lnTo>
                  <a:pt x="16" y="26"/>
                </a:lnTo>
                <a:moveTo>
                  <a:pt x="20" y="33"/>
                </a:moveTo>
                <a:lnTo>
                  <a:pt x="20" y="33"/>
                </a:lnTo>
                <a:lnTo>
                  <a:pt x="23" y="38"/>
                </a:lnTo>
                <a:moveTo>
                  <a:pt x="26" y="45"/>
                </a:moveTo>
                <a:lnTo>
                  <a:pt x="29" y="49"/>
                </a:lnTo>
                <a:moveTo>
                  <a:pt x="32" y="56"/>
                </a:moveTo>
                <a:lnTo>
                  <a:pt x="34" y="61"/>
                </a:lnTo>
                <a:lnTo>
                  <a:pt x="34" y="61"/>
                </a:lnTo>
                <a:moveTo>
                  <a:pt x="38" y="68"/>
                </a:moveTo>
                <a:lnTo>
                  <a:pt x="39" y="72"/>
                </a:lnTo>
                <a:lnTo>
                  <a:pt x="40" y="73"/>
                </a:lnTo>
                <a:moveTo>
                  <a:pt x="43" y="80"/>
                </a:moveTo>
                <a:lnTo>
                  <a:pt x="44" y="82"/>
                </a:lnTo>
                <a:lnTo>
                  <a:pt x="45" y="85"/>
                </a:lnTo>
                <a:moveTo>
                  <a:pt x="48" y="92"/>
                </a:moveTo>
                <a:lnTo>
                  <a:pt x="48" y="93"/>
                </a:lnTo>
                <a:lnTo>
                  <a:pt x="50" y="97"/>
                </a:lnTo>
                <a:moveTo>
                  <a:pt x="52" y="104"/>
                </a:moveTo>
                <a:lnTo>
                  <a:pt x="54" y="109"/>
                </a:lnTo>
                <a:moveTo>
                  <a:pt x="56" y="117"/>
                </a:moveTo>
                <a:lnTo>
                  <a:pt x="57" y="120"/>
                </a:lnTo>
                <a:lnTo>
                  <a:pt x="58" y="121"/>
                </a:lnTo>
                <a:moveTo>
                  <a:pt x="60" y="129"/>
                </a:moveTo>
                <a:lnTo>
                  <a:pt x="61" y="130"/>
                </a:lnTo>
                <a:lnTo>
                  <a:pt x="62" y="134"/>
                </a:lnTo>
                <a:moveTo>
                  <a:pt x="64" y="142"/>
                </a:moveTo>
                <a:lnTo>
                  <a:pt x="65" y="146"/>
                </a:lnTo>
                <a:lnTo>
                  <a:pt x="65" y="147"/>
                </a:lnTo>
                <a:moveTo>
                  <a:pt x="67" y="154"/>
                </a:moveTo>
                <a:lnTo>
                  <a:pt x="67" y="157"/>
                </a:lnTo>
                <a:lnTo>
                  <a:pt x="68" y="159"/>
                </a:lnTo>
                <a:moveTo>
                  <a:pt x="69" y="167"/>
                </a:moveTo>
                <a:lnTo>
                  <a:pt x="70" y="172"/>
                </a:lnTo>
                <a:moveTo>
                  <a:pt x="71" y="180"/>
                </a:moveTo>
                <a:lnTo>
                  <a:pt x="72" y="183"/>
                </a:lnTo>
                <a:lnTo>
                  <a:pt x="72" y="185"/>
                </a:lnTo>
                <a:moveTo>
                  <a:pt x="73" y="193"/>
                </a:moveTo>
                <a:lnTo>
                  <a:pt x="73" y="193"/>
                </a:lnTo>
                <a:lnTo>
                  <a:pt x="74" y="198"/>
                </a:lnTo>
                <a:moveTo>
                  <a:pt x="74" y="206"/>
                </a:moveTo>
                <a:lnTo>
                  <a:pt x="75" y="209"/>
                </a:lnTo>
                <a:lnTo>
                  <a:pt x="75" y="211"/>
                </a:lnTo>
                <a:moveTo>
                  <a:pt x="75" y="219"/>
                </a:moveTo>
                <a:lnTo>
                  <a:pt x="75" y="219"/>
                </a:lnTo>
                <a:lnTo>
                  <a:pt x="76" y="224"/>
                </a:lnTo>
                <a:moveTo>
                  <a:pt x="76" y="232"/>
                </a:moveTo>
                <a:lnTo>
                  <a:pt x="76" y="235"/>
                </a:lnTo>
                <a:lnTo>
                  <a:pt x="76" y="237"/>
                </a:lnTo>
                <a:moveTo>
                  <a:pt x="76" y="245"/>
                </a:moveTo>
                <a:lnTo>
                  <a:pt x="76" y="245"/>
                </a:lnTo>
                <a:lnTo>
                  <a:pt x="76" y="250"/>
                </a:lnTo>
                <a:moveTo>
                  <a:pt x="76" y="258"/>
                </a:moveTo>
                <a:lnTo>
                  <a:pt x="76" y="261"/>
                </a:lnTo>
                <a:lnTo>
                  <a:pt x="76" y="263"/>
                </a:lnTo>
                <a:moveTo>
                  <a:pt x="75" y="271"/>
                </a:moveTo>
                <a:lnTo>
                  <a:pt x="75" y="271"/>
                </a:lnTo>
                <a:lnTo>
                  <a:pt x="75" y="276"/>
                </a:lnTo>
                <a:moveTo>
                  <a:pt x="75" y="284"/>
                </a:moveTo>
                <a:lnTo>
                  <a:pt x="74" y="287"/>
                </a:lnTo>
                <a:lnTo>
                  <a:pt x="74" y="289"/>
                </a:lnTo>
                <a:moveTo>
                  <a:pt x="74" y="297"/>
                </a:moveTo>
                <a:lnTo>
                  <a:pt x="73" y="298"/>
                </a:lnTo>
                <a:lnTo>
                  <a:pt x="73" y="302"/>
                </a:lnTo>
                <a:moveTo>
                  <a:pt x="72" y="310"/>
                </a:moveTo>
                <a:lnTo>
                  <a:pt x="72" y="313"/>
                </a:lnTo>
                <a:lnTo>
                  <a:pt x="72" y="314"/>
                </a:lnTo>
                <a:moveTo>
                  <a:pt x="71" y="322"/>
                </a:moveTo>
                <a:lnTo>
                  <a:pt x="70" y="324"/>
                </a:lnTo>
                <a:lnTo>
                  <a:pt x="70" y="327"/>
                </a:lnTo>
                <a:moveTo>
                  <a:pt x="69" y="335"/>
                </a:moveTo>
                <a:lnTo>
                  <a:pt x="68" y="340"/>
                </a:lnTo>
              </a:path>
            </a:pathLst>
          </a:custGeom>
          <a:noFill/>
          <a:ln w="25400">
            <a:solidFill>
              <a:srgbClr val="FFB454">
                <a:alpha val="80000"/>
              </a:srgbClr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6" name="roundRect 1"/>
          <p:cNvSpPr/>
          <p:nvPr/>
        </p:nvSpPr>
        <p:spPr>
          <a:xfrm>
            <a:off x="9842500" y="1536700"/>
            <a:ext cx="787400" cy="736600"/>
          </a:xfrm>
          <a:prstGeom prst="roundRect">
            <a:avLst>
              <a:gd fmla="val 20690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9982200" y="1003300"/>
            <a:ext cx="508000" cy="533400"/>
          </a:xfrm>
          <a:custGeom>
            <a:avLst/>
            <a:gdLst/>
            <a:ahLst/>
            <a:cxnLst/>
            <a:rect l="0" t="0" r="0" b="0"/>
            <a:pathLst>
              <a:path w="40" h="42">
                <a:moveTo>
                  <a:pt x="0" y="42"/>
                </a:moveTo>
                <a:lnTo>
                  <a:pt x="0" y="20"/>
                </a:ln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0" y="9"/>
                  <a:pt x="40" y="20"/>
                </a:cubicBezTo>
                <a:lnTo>
                  <a:pt x="40" y="42"/>
                </a:lnTo>
              </a:path>
            </a:pathLst>
          </a:custGeom>
          <a:noFill/>
          <a:ln cap="rnd" w="101600">
            <a:solidFill>
              <a:srgbClr val="F6F8FC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ellipse 1"/>
          <p:cNvSpPr/>
          <p:nvPr/>
        </p:nvSpPr>
        <p:spPr>
          <a:xfrm>
            <a:off x="10147300" y="1790700"/>
            <a:ext cx="177800" cy="1778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ect 6"/>
          <p:cNvSpPr/>
          <p:nvPr/>
        </p:nvSpPr>
        <p:spPr>
          <a:xfrm>
            <a:off x="10236200" y="1968500"/>
            <a:ext cx="12700" cy="127000"/>
          </a:xfrm>
          <a:custGeom>
            <a:avLst/>
            <a:gdLst/>
            <a:ahLst/>
            <a:cxnLst/>
            <a:rect l="0" t="0" r="0" b="0"/>
            <a:pathLst>
              <a:path w="1" h="10">
                <a:moveTo>
                  <a:pt x="0" y="0"/>
                </a:moveTo>
                <a:lnTo>
                  <a:pt x="0" y="10"/>
                </a:lnTo>
              </a:path>
            </a:pathLst>
          </a:custGeom>
          <a:solidFill>
            <a:srgbClr val="000000"/>
          </a:solidFill>
          <a:ln cap="rnd" w="63500">
            <a:solidFill>
              <a:srgbClr val="0B1F3A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0" name="rect 7"/>
          <p:cNvSpPr/>
          <p:nvPr/>
        </p:nvSpPr>
        <p:spPr>
          <a:xfrm>
            <a:off x="812800" y="736600"/>
            <a:ext cx="2705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>
                <a:solidFill>
                  <a:srgbClr val="7FD7D2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03 / BACKEND FOUNDATION</a:t>
            </a:r>
          </a:p>
        </p:txBody>
      </p:sp>
      <p:sp>
        <p:nvSpPr>
          <p:cNvPr id="11" name="roundRect 2"/>
          <p:cNvSpPr/>
          <p:nvPr/>
        </p:nvSpPr>
        <p:spPr>
          <a:xfrm>
            <a:off x="812800" y="1193800"/>
            <a:ext cx="609600" cy="63500"/>
          </a:xfrm>
          <a:prstGeom prst="roundRect">
            <a:avLst>
              <a:gd fmla="val 50000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8"/>
          <p:cNvSpPr/>
          <p:nvPr/>
        </p:nvSpPr>
        <p:spPr>
          <a:xfrm>
            <a:off x="812800" y="1663700"/>
            <a:ext cx="3784600" cy="889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5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颁发通行证</a:t>
            </a:r>
          </a:p>
        </p:txBody>
      </p:sp>
      <p:sp>
        <p:nvSpPr>
          <p:cNvPr id="13" name="rect 9"/>
          <p:cNvSpPr/>
          <p:nvPr/>
        </p:nvSpPr>
        <p:spPr>
          <a:xfrm>
            <a:off x="863600" y="2730500"/>
            <a:ext cx="4508500" cy="381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3000"/>
              </a:lnSpc>
              <a:buNone/>
            </a:pPr>
            <a:r>
              <a:rPr lang="zh-CN" sz="2500">
                <a:solidFill>
                  <a:srgbClr val="B9C9D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JWT 认证与知识点 CRUD 实战</a:t>
            </a:r>
          </a:p>
        </p:txBody>
      </p:sp>
      <p:sp>
        <p:nvSpPr>
          <p:cNvPr id="14" name="rect 10"/>
          <p:cNvSpPr/>
          <p:nvPr/>
        </p:nvSpPr>
        <p:spPr>
          <a:xfrm>
            <a:off x="863600" y="3390900"/>
            <a:ext cx="30861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>
                <a:solidFill>
                  <a:srgbClr val="7FD7D2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《大前端与 AI 实战》第三次课</a:t>
            </a:r>
          </a:p>
        </p:txBody>
      </p:sp>
      <p:sp>
        <p:nvSpPr>
          <p:cNvPr id="15" name="rect 11"/>
          <p:cNvSpPr/>
          <p:nvPr/>
        </p:nvSpPr>
        <p:spPr>
          <a:xfrm>
            <a:off x="863600" y="4051300"/>
            <a:ext cx="43815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>
                <a:solidFill>
                  <a:srgbClr val="E8EEF5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完成后端认证闭环，打通核心业务 API</a:t>
            </a:r>
          </a:p>
        </p:txBody>
      </p:sp>
      <p:sp>
        <p:nvSpPr>
          <p:cNvPr id="16" name="roundRect 3"/>
          <p:cNvSpPr/>
          <p:nvPr/>
        </p:nvSpPr>
        <p:spPr>
          <a:xfrm>
            <a:off x="812800" y="5257800"/>
            <a:ext cx="1879600" cy="609600"/>
          </a:xfrm>
          <a:prstGeom prst="roundRect">
            <a:avLst>
              <a:gd fmla="val 25000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2"/>
          <p:cNvSpPr/>
          <p:nvPr/>
        </p:nvSpPr>
        <p:spPr>
          <a:xfrm>
            <a:off x="1219200" y="5461000"/>
            <a:ext cx="10668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JWT AUTH</a:t>
            </a:r>
          </a:p>
        </p:txBody>
      </p:sp>
      <p:sp>
        <p:nvSpPr>
          <p:cNvPr id="18" name="roundRect 4"/>
          <p:cNvSpPr/>
          <p:nvPr/>
        </p:nvSpPr>
        <p:spPr>
          <a:xfrm>
            <a:off x="2895600" y="5257800"/>
            <a:ext cx="1828800" cy="609600"/>
          </a:xfrm>
          <a:prstGeom prst="roundRect">
            <a:avLst>
              <a:gd fmla="val 25000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3"/>
          <p:cNvSpPr/>
          <p:nvPr/>
        </p:nvSpPr>
        <p:spPr>
          <a:xfrm>
            <a:off x="3111500" y="5461000"/>
            <a:ext cx="13970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MIDDLEWARE</a:t>
            </a:r>
          </a:p>
        </p:txBody>
      </p:sp>
      <p:sp>
        <p:nvSpPr>
          <p:cNvPr id="20" name="roundRect 5"/>
          <p:cNvSpPr/>
          <p:nvPr/>
        </p:nvSpPr>
        <p:spPr>
          <a:xfrm>
            <a:off x="4927600" y="5257800"/>
            <a:ext cx="1092200" cy="609600"/>
          </a:xfrm>
          <a:prstGeom prst="roundRect">
            <a:avLst>
              <a:gd fmla="val 25000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4"/>
          <p:cNvSpPr/>
          <p:nvPr/>
        </p:nvSpPr>
        <p:spPr>
          <a:xfrm>
            <a:off x="5149850" y="5461000"/>
            <a:ext cx="647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US" sz="1500">
                <a:solidFill>
                  <a:srgbClr val="0B1F3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CRUD</a:t>
            </a:r>
          </a:p>
        </p:txBody>
      </p:sp>
      <p:cxnSp>
        <p:nvCxnSpPr>
          <p:cNvPr id="22" name="line 1"/>
          <p:cNvCxnSpPr/>
          <p:nvPr/>
        </p:nvCxnSpPr>
        <p:spPr>
          <a:xfrm>
            <a:off x="812800" y="6242050"/>
            <a:ext cx="10566400" cy="12700"/>
          </a:xfrm>
          <a:prstGeom prst="line">
            <a:avLst/>
          </a:prstGeom>
          <a:noFill/>
          <a:ln w="12700">
            <a:solidFill>
              <a:srgbClr val="2B587A"/>
            </a:solidFill>
          </a:ln>
        </p:spPr>
      </p:cxnSp>
      <p:sp>
        <p:nvSpPr>
          <p:cNvPr id="23" name="rect 15"/>
          <p:cNvSpPr/>
          <p:nvPr/>
        </p:nvSpPr>
        <p:spPr>
          <a:xfrm>
            <a:off x="812800" y="6362700"/>
            <a:ext cx="208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91A7BD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费曼学习平台 · 第三次课</a:t>
            </a:r>
          </a:p>
        </p:txBody>
      </p:sp>
      <p:sp>
        <p:nvSpPr>
          <p:cNvPr id="24" name="rect 16"/>
          <p:cNvSpPr/>
          <p:nvPr/>
        </p:nvSpPr>
        <p:spPr>
          <a:xfrm>
            <a:off x="107315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711200" y="330200"/>
            <a:ext cx="49784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这节课，完成一条认证闭环</a:t>
            </a:r>
          </a:p>
        </p:txBody>
      </p:sp>
      <p:sp>
        <p:nvSpPr>
          <p:cNvPr id="5" name="rect 4"/>
          <p:cNvSpPr/>
          <p:nvPr/>
        </p:nvSpPr>
        <p:spPr>
          <a:xfrm>
            <a:off x="711200" y="939800"/>
            <a:ext cx="5791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核心问题：登录以后，服务器如何知道你是谁、你能操作什么？</a:t>
            </a:r>
          </a:p>
        </p:txBody>
      </p:sp>
      <p:sp>
        <p:nvSpPr>
          <p:cNvPr id="6" name="rect 5"/>
          <p:cNvSpPr/>
          <p:nvPr/>
        </p:nvSpPr>
        <p:spPr>
          <a:xfrm>
            <a:off x="711200" y="1600200"/>
            <a:ext cx="1016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课堂产出</a:t>
            </a:r>
          </a:p>
        </p:txBody>
      </p:sp>
      <p:sp>
        <p:nvSpPr>
          <p:cNvPr id="7" name="roundRect 1"/>
          <p:cNvSpPr/>
          <p:nvPr/>
        </p:nvSpPr>
        <p:spPr>
          <a:xfrm>
            <a:off x="711200" y="2159000"/>
            <a:ext cx="2413000" cy="1346200"/>
          </a:xfrm>
          <a:prstGeom prst="roundRect">
            <a:avLst>
              <a:gd fmla="val 15094" name="adj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 6"/>
          <p:cNvSpPr/>
          <p:nvPr/>
        </p:nvSpPr>
        <p:spPr>
          <a:xfrm>
            <a:off x="990600" y="2400300"/>
            <a:ext cx="11811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1 身份认证</a:t>
            </a:r>
          </a:p>
        </p:txBody>
      </p:sp>
      <p:sp>
        <p:nvSpPr>
          <p:cNvPr id="9" name="rect 7"/>
          <p:cNvSpPr/>
          <p:nvPr/>
        </p:nvSpPr>
        <p:spPr>
          <a:xfrm>
            <a:off x="990600" y="2832100"/>
            <a:ext cx="2006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B9C9D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注册 / 登录 / 签发 JWT</a:t>
            </a:r>
          </a:p>
        </p:txBody>
      </p:sp>
      <p:sp>
        <p:nvSpPr>
          <p:cNvPr id="10" name="roundRect 2"/>
          <p:cNvSpPr/>
          <p:nvPr/>
        </p:nvSpPr>
        <p:spPr>
          <a:xfrm>
            <a:off x="3429000" y="2159000"/>
            <a:ext cx="2413000" cy="1346200"/>
          </a:xfrm>
          <a:prstGeom prst="roundRect">
            <a:avLst>
              <a:gd fmla="val 15094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8"/>
          <p:cNvSpPr/>
          <p:nvPr/>
        </p:nvSpPr>
        <p:spPr>
          <a:xfrm>
            <a:off x="3708400" y="2400300"/>
            <a:ext cx="12319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2 请求守卫</a:t>
            </a:r>
          </a:p>
        </p:txBody>
      </p:sp>
      <p:sp>
        <p:nvSpPr>
          <p:cNvPr id="12" name="rect 9"/>
          <p:cNvSpPr/>
          <p:nvPr/>
        </p:nvSpPr>
        <p:spPr>
          <a:xfrm>
            <a:off x="3708400" y="2832100"/>
            <a:ext cx="1943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验证 Token / 注入用户</a:t>
            </a:r>
          </a:p>
        </p:txBody>
      </p:sp>
      <p:sp>
        <p:nvSpPr>
          <p:cNvPr id="13" name="roundRect 3"/>
          <p:cNvSpPr/>
          <p:nvPr/>
        </p:nvSpPr>
        <p:spPr>
          <a:xfrm>
            <a:off x="6146800" y="2159000"/>
            <a:ext cx="2413000" cy="1346200"/>
          </a:xfrm>
          <a:prstGeom prst="roundRect">
            <a:avLst>
              <a:gd fmla="val 15094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 10"/>
          <p:cNvSpPr/>
          <p:nvPr/>
        </p:nvSpPr>
        <p:spPr>
          <a:xfrm>
            <a:off x="6426200" y="2400300"/>
            <a:ext cx="12319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3 核心业务</a:t>
            </a:r>
          </a:p>
        </p:txBody>
      </p:sp>
      <p:sp>
        <p:nvSpPr>
          <p:cNvPr id="15" name="rect 11"/>
          <p:cNvSpPr/>
          <p:nvPr/>
        </p:nvSpPr>
        <p:spPr>
          <a:xfrm>
            <a:off x="6426200" y="2832100"/>
            <a:ext cx="1993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en-US" sz="14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KnowledgePoint CRUD</a:t>
            </a:r>
          </a:p>
        </p:txBody>
      </p:sp>
      <p:sp>
        <p:nvSpPr>
          <p:cNvPr id="16" name="roundRect 4"/>
          <p:cNvSpPr/>
          <p:nvPr/>
        </p:nvSpPr>
        <p:spPr>
          <a:xfrm>
            <a:off x="8864600" y="2159000"/>
            <a:ext cx="2616200" cy="1346200"/>
          </a:xfrm>
          <a:prstGeom prst="roundRect">
            <a:avLst>
              <a:gd fmla="val 15094" name="adj"/>
            </a:avLst>
          </a:prstGeom>
          <a:solidFill>
            <a:srgbClr val="FFFFFF"/>
          </a:solidFill>
          <a:ln w="12700">
            <a:solidFill>
              <a:srgbClr val="BFD0D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2"/>
          <p:cNvSpPr/>
          <p:nvPr/>
        </p:nvSpPr>
        <p:spPr>
          <a:xfrm>
            <a:off x="9144000" y="2400300"/>
            <a:ext cx="12319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4 接口验证</a:t>
            </a:r>
          </a:p>
        </p:txBody>
      </p:sp>
      <p:sp>
        <p:nvSpPr>
          <p:cNvPr id="18" name="rect 13"/>
          <p:cNvSpPr/>
          <p:nvPr/>
        </p:nvSpPr>
        <p:spPr>
          <a:xfrm>
            <a:off x="9144000" y="2832100"/>
            <a:ext cx="172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Postman / 401 对比</a:t>
            </a:r>
          </a:p>
        </p:txBody>
      </p:sp>
      <p:sp>
        <p:nvSpPr>
          <p:cNvPr id="19" name="rect 14"/>
          <p:cNvSpPr/>
          <p:nvPr/>
        </p:nvSpPr>
        <p:spPr>
          <a:xfrm>
            <a:off x="1917700" y="3810000"/>
            <a:ext cx="8356600" cy="12700"/>
          </a:xfrm>
          <a:custGeom>
            <a:avLst/>
            <a:gdLst/>
            <a:ahLst/>
            <a:cxnLst/>
            <a:rect l="0" t="0" r="0" b="0"/>
            <a:pathLst>
              <a:path w="658" h="1">
                <a:moveTo>
                  <a:pt x="0" y="0"/>
                </a:moveTo>
                <a:lnTo>
                  <a:pt x="658" y="0"/>
                </a:lnTo>
              </a:path>
            </a:pathLst>
          </a:custGeom>
          <a:solidFill>
            <a:srgbClr val="000000"/>
          </a:solidFill>
          <a:ln w="25400">
            <a:solidFill>
              <a:srgbClr val="BFD0DF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ellipse 1"/>
          <p:cNvSpPr/>
          <p:nvPr/>
        </p:nvSpPr>
        <p:spPr>
          <a:xfrm>
            <a:off x="1854200" y="3746500"/>
            <a:ext cx="127000" cy="127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ellipse 2"/>
          <p:cNvSpPr/>
          <p:nvPr/>
        </p:nvSpPr>
        <p:spPr>
          <a:xfrm>
            <a:off x="4572000" y="3746500"/>
            <a:ext cx="127000" cy="127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2" name="ellipse 3"/>
          <p:cNvSpPr/>
          <p:nvPr/>
        </p:nvSpPr>
        <p:spPr>
          <a:xfrm>
            <a:off x="7289800" y="3746500"/>
            <a:ext cx="127000" cy="127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3" name="ellipse 4"/>
          <p:cNvSpPr/>
          <p:nvPr/>
        </p:nvSpPr>
        <p:spPr>
          <a:xfrm>
            <a:off x="10109200" y="3746500"/>
            <a:ext cx="127000" cy="1270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4" name="rect 15"/>
          <p:cNvSpPr/>
          <p:nvPr/>
        </p:nvSpPr>
        <p:spPr>
          <a:xfrm>
            <a:off x="711200" y="4203700"/>
            <a:ext cx="14732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你应该能回答</a:t>
            </a:r>
          </a:p>
        </p:txBody>
      </p:sp>
      <p:sp>
        <p:nvSpPr>
          <p:cNvPr id="25" name="rect 16"/>
          <p:cNvSpPr/>
          <p:nvPr/>
        </p:nvSpPr>
        <p:spPr>
          <a:xfrm>
            <a:off x="711200" y="4648200"/>
            <a:ext cx="401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• JWT 为什么能让无状态的 HTTP 识别用户？</a:t>
            </a:r>
          </a:p>
        </p:txBody>
      </p:sp>
      <p:sp>
        <p:nvSpPr>
          <p:cNvPr id="26" name="rect 17"/>
          <p:cNvSpPr/>
          <p:nvPr/>
        </p:nvSpPr>
        <p:spPr>
          <a:xfrm>
            <a:off x="6350000" y="4648200"/>
            <a:ext cx="3517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• 中间件为什么要把身份写入 req.user？</a:t>
            </a:r>
          </a:p>
        </p:txBody>
      </p:sp>
      <p:sp>
        <p:nvSpPr>
          <p:cNvPr id="27" name="rect 18"/>
          <p:cNvSpPr/>
          <p:nvPr/>
        </p:nvSpPr>
        <p:spPr>
          <a:xfrm>
            <a:off x="711200" y="5054600"/>
            <a:ext cx="3238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• 为什么密码只能保存 bcrypt 哈希？</a:t>
            </a:r>
          </a:p>
        </p:txBody>
      </p:sp>
      <p:sp>
        <p:nvSpPr>
          <p:cNvPr id="28" name="rect 19"/>
          <p:cNvSpPr/>
          <p:nvPr/>
        </p:nvSpPr>
        <p:spPr>
          <a:xfrm>
            <a:off x="6350000" y="5054600"/>
            <a:ext cx="3911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• CRUD 如何保证用户不能操作他人的数据？</a:t>
            </a:r>
          </a:p>
        </p:txBody>
      </p:sp>
      <p:cxnSp>
        <p:nvCxnSpPr>
          <p:cNvPr id="29" name="line 1"/>
          <p:cNvCxnSpPr/>
          <p:nvPr/>
        </p:nvCxnSpPr>
        <p:spPr>
          <a:xfrm>
            <a:off x="711200" y="6242050"/>
            <a:ext cx="10769600" cy="12700"/>
          </a:xfrm>
          <a:prstGeom prst="line">
            <a:avLst/>
          </a:prstGeom>
          <a:noFill/>
          <a:ln w="12700">
            <a:solidFill>
              <a:srgbClr val="DCE5EF"/>
            </a:solidFill>
          </a:ln>
        </p:spPr>
      </p:cxnSp>
      <p:sp>
        <p:nvSpPr>
          <p:cNvPr id="30" name="rect 20"/>
          <p:cNvSpPr/>
          <p:nvPr/>
        </p:nvSpPr>
        <p:spPr>
          <a:xfrm>
            <a:off x="711200" y="6362700"/>
            <a:ext cx="208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71869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费曼学习平台 · 第三次课</a:t>
            </a:r>
          </a:p>
        </p:txBody>
      </p:sp>
      <p:sp>
        <p:nvSpPr>
          <p:cNvPr id="31" name="rect 21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71869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711200" y="330200"/>
            <a:ext cx="55245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JWT：登录后的“数字通行证”</a:t>
            </a:r>
          </a:p>
        </p:txBody>
      </p:sp>
      <p:sp>
        <p:nvSpPr>
          <p:cNvPr id="4" name="rect 3"/>
          <p:cNvSpPr/>
          <p:nvPr/>
        </p:nvSpPr>
        <p:spPr>
          <a:xfrm>
            <a:off x="711200" y="952500"/>
            <a:ext cx="5410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HTTP 本身无状态；Token 让每次请求都能被服务端验证。</a:t>
            </a:r>
          </a:p>
        </p:txBody>
      </p:sp>
      <p:sp>
        <p:nvSpPr>
          <p:cNvPr id="5" name="rect 4"/>
          <p:cNvSpPr/>
          <p:nvPr/>
        </p:nvSpPr>
        <p:spPr>
          <a:xfrm>
            <a:off x="711200" y="1498600"/>
            <a:ext cx="2159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7FD7D2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一条请求如何通过？</a:t>
            </a:r>
          </a:p>
        </p:txBody>
      </p:sp>
      <p:sp>
        <p:nvSpPr>
          <p:cNvPr id="6" name="roundRect 1"/>
          <p:cNvSpPr/>
          <p:nvPr/>
        </p:nvSpPr>
        <p:spPr>
          <a:xfrm>
            <a:off x="711200" y="2108200"/>
            <a:ext cx="2336800" cy="1092200"/>
          </a:xfrm>
          <a:prstGeom prst="roundRect">
            <a:avLst>
              <a:gd fmla="val 18605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990600" y="2324100"/>
            <a:ext cx="8636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01 登录</a:t>
            </a:r>
          </a:p>
        </p:txBody>
      </p:sp>
      <p:sp>
        <p:nvSpPr>
          <p:cNvPr id="8" name="rect 6"/>
          <p:cNvSpPr/>
          <p:nvPr/>
        </p:nvSpPr>
        <p:spPr>
          <a:xfrm>
            <a:off x="990600" y="2705100"/>
            <a:ext cx="977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邮箱 + 密码</a:t>
            </a:r>
          </a:p>
        </p:txBody>
      </p:sp>
      <p:sp>
        <p:nvSpPr>
          <p:cNvPr id="9" name="rect 7"/>
          <p:cNvSpPr/>
          <p:nvPr/>
        </p:nvSpPr>
        <p:spPr>
          <a:xfrm>
            <a:off x="3175000" y="2654300"/>
            <a:ext cx="355600" cy="12700"/>
          </a:xfrm>
          <a:custGeom>
            <a:avLst/>
            <a:gdLst/>
            <a:ahLst/>
            <a:cxnLst/>
            <a:rect l="0" t="0" r="0" b="0"/>
            <a:pathLst>
              <a:path w="28" h="1">
                <a:moveTo>
                  <a:pt x="0" y="0"/>
                </a:moveTo>
                <a:lnTo>
                  <a:pt x="28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0" name="rect 8"/>
          <p:cNvSpPr/>
          <p:nvPr/>
        </p:nvSpPr>
        <p:spPr>
          <a:xfrm>
            <a:off x="3454400" y="25400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oundRect 2"/>
          <p:cNvSpPr/>
          <p:nvPr/>
        </p:nvSpPr>
        <p:spPr>
          <a:xfrm>
            <a:off x="3683000" y="2108200"/>
            <a:ext cx="2336800" cy="1092200"/>
          </a:xfrm>
          <a:prstGeom prst="roundRect">
            <a:avLst>
              <a:gd fmla="val 18605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9"/>
          <p:cNvSpPr/>
          <p:nvPr/>
        </p:nvSpPr>
        <p:spPr>
          <a:xfrm>
            <a:off x="3962400" y="2324100"/>
            <a:ext cx="9144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02 签发</a:t>
            </a:r>
          </a:p>
        </p:txBody>
      </p:sp>
      <p:sp>
        <p:nvSpPr>
          <p:cNvPr id="13" name="rect 10"/>
          <p:cNvSpPr/>
          <p:nvPr/>
        </p:nvSpPr>
        <p:spPr>
          <a:xfrm>
            <a:off x="3962400" y="2705100"/>
            <a:ext cx="1320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服务端签名 JWT</a:t>
            </a:r>
          </a:p>
        </p:txBody>
      </p:sp>
      <p:sp>
        <p:nvSpPr>
          <p:cNvPr id="14" name="rect 11"/>
          <p:cNvSpPr/>
          <p:nvPr/>
        </p:nvSpPr>
        <p:spPr>
          <a:xfrm>
            <a:off x="6146800" y="2654300"/>
            <a:ext cx="355600" cy="12700"/>
          </a:xfrm>
          <a:custGeom>
            <a:avLst/>
            <a:gdLst/>
            <a:ahLst/>
            <a:cxnLst/>
            <a:rect l="0" t="0" r="0" b="0"/>
            <a:pathLst>
              <a:path w="28" h="1">
                <a:moveTo>
                  <a:pt x="0" y="0"/>
                </a:moveTo>
                <a:lnTo>
                  <a:pt x="28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5" name="rect 12"/>
          <p:cNvSpPr/>
          <p:nvPr/>
        </p:nvSpPr>
        <p:spPr>
          <a:xfrm>
            <a:off x="6426200" y="25400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6" name="roundRect 3"/>
          <p:cNvSpPr/>
          <p:nvPr/>
        </p:nvSpPr>
        <p:spPr>
          <a:xfrm>
            <a:off x="6654800" y="2108200"/>
            <a:ext cx="2336800" cy="1092200"/>
          </a:xfrm>
          <a:prstGeom prst="roundRect">
            <a:avLst>
              <a:gd fmla="val 18605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3"/>
          <p:cNvSpPr/>
          <p:nvPr/>
        </p:nvSpPr>
        <p:spPr>
          <a:xfrm>
            <a:off x="6934200" y="2324100"/>
            <a:ext cx="9144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03 携带</a:t>
            </a:r>
          </a:p>
        </p:txBody>
      </p:sp>
      <p:sp>
        <p:nvSpPr>
          <p:cNvPr id="18" name="rect 14"/>
          <p:cNvSpPr/>
          <p:nvPr/>
        </p:nvSpPr>
        <p:spPr>
          <a:xfrm>
            <a:off x="6934200" y="2705100"/>
            <a:ext cx="1143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x-auth-token</a:t>
            </a:r>
          </a:p>
        </p:txBody>
      </p:sp>
      <p:sp>
        <p:nvSpPr>
          <p:cNvPr id="19" name="rect 15"/>
          <p:cNvSpPr/>
          <p:nvPr/>
        </p:nvSpPr>
        <p:spPr>
          <a:xfrm>
            <a:off x="9118600" y="2654300"/>
            <a:ext cx="355600" cy="12700"/>
          </a:xfrm>
          <a:custGeom>
            <a:avLst/>
            <a:gdLst/>
            <a:ahLst/>
            <a:cxnLst/>
            <a:rect l="0" t="0" r="0" b="0"/>
            <a:pathLst>
              <a:path w="28" h="1">
                <a:moveTo>
                  <a:pt x="0" y="0"/>
                </a:moveTo>
                <a:lnTo>
                  <a:pt x="28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rect 16"/>
          <p:cNvSpPr/>
          <p:nvPr/>
        </p:nvSpPr>
        <p:spPr>
          <a:xfrm>
            <a:off x="9398000" y="25400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oundRect 4"/>
          <p:cNvSpPr/>
          <p:nvPr/>
        </p:nvSpPr>
        <p:spPr>
          <a:xfrm>
            <a:off x="9626600" y="2108200"/>
            <a:ext cx="1854200" cy="1092200"/>
          </a:xfrm>
          <a:prstGeom prst="roundRect">
            <a:avLst>
              <a:gd fmla="val 18605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7"/>
          <p:cNvSpPr/>
          <p:nvPr/>
        </p:nvSpPr>
        <p:spPr>
          <a:xfrm>
            <a:off x="9880600" y="2324100"/>
            <a:ext cx="9144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04 验证</a:t>
            </a:r>
          </a:p>
        </p:txBody>
      </p:sp>
      <p:sp>
        <p:nvSpPr>
          <p:cNvPr id="23" name="rect 18"/>
          <p:cNvSpPr/>
          <p:nvPr/>
        </p:nvSpPr>
        <p:spPr>
          <a:xfrm>
            <a:off x="9880600" y="2705100"/>
            <a:ext cx="889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通过 / 401</a:t>
            </a:r>
          </a:p>
        </p:txBody>
      </p:sp>
      <p:sp>
        <p:nvSpPr>
          <p:cNvPr id="24" name="roundRect 5"/>
          <p:cNvSpPr/>
          <p:nvPr/>
        </p:nvSpPr>
        <p:spPr>
          <a:xfrm>
            <a:off x="711200" y="3784600"/>
            <a:ext cx="10769600" cy="1803400"/>
          </a:xfrm>
          <a:prstGeom prst="roundRect">
            <a:avLst>
              <a:gd fmla="val 12676" name="adj"/>
            </a:avLst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 19"/>
          <p:cNvSpPr/>
          <p:nvPr/>
        </p:nvSpPr>
        <p:spPr>
          <a:xfrm>
            <a:off x="1066800" y="4013200"/>
            <a:ext cx="43561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  <a:buNone/>
            </a:pPr>
            <a:r>
              <a:rPr lang="en-US" sz="2000" b="1">
                <a:solidFill>
                  <a:srgbClr val="0B1F3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JWT = Header . Payload . Signature</a:t>
            </a:r>
          </a:p>
        </p:txBody>
      </p:sp>
      <p:sp>
        <p:nvSpPr>
          <p:cNvPr id="26" name="roundRect 6"/>
          <p:cNvSpPr/>
          <p:nvPr/>
        </p:nvSpPr>
        <p:spPr>
          <a:xfrm>
            <a:off x="1066800" y="4533900"/>
            <a:ext cx="2870200" cy="736600"/>
          </a:xfrm>
          <a:prstGeom prst="roundRect">
            <a:avLst>
              <a:gd fmla="val 17241" name="adj"/>
            </a:avLst>
          </a:prstGeom>
          <a:solidFill>
            <a:srgbClr val="E5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 20"/>
          <p:cNvSpPr/>
          <p:nvPr/>
        </p:nvSpPr>
        <p:spPr>
          <a:xfrm>
            <a:off x="1320800" y="4635500"/>
            <a:ext cx="749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5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Header</a:t>
            </a:r>
          </a:p>
        </p:txBody>
      </p:sp>
      <p:sp>
        <p:nvSpPr>
          <p:cNvPr id="28" name="rect 21"/>
          <p:cNvSpPr/>
          <p:nvPr/>
        </p:nvSpPr>
        <p:spPr>
          <a:xfrm>
            <a:off x="1320800" y="4914900"/>
            <a:ext cx="8890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类型 / 算法</a:t>
            </a:r>
          </a:p>
        </p:txBody>
      </p:sp>
      <p:sp>
        <p:nvSpPr>
          <p:cNvPr id="29" name="roundRect 7"/>
          <p:cNvSpPr/>
          <p:nvPr/>
        </p:nvSpPr>
        <p:spPr>
          <a:xfrm>
            <a:off x="4191000" y="4533900"/>
            <a:ext cx="2870200" cy="736600"/>
          </a:xfrm>
          <a:prstGeom prst="roundRect">
            <a:avLst>
              <a:gd fmla="val 17241" name="adj"/>
            </a:avLst>
          </a:prstGeom>
          <a:solidFill>
            <a:srgbClr val="DDF4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 22"/>
          <p:cNvSpPr/>
          <p:nvPr/>
        </p:nvSpPr>
        <p:spPr>
          <a:xfrm>
            <a:off x="4445000" y="4635500"/>
            <a:ext cx="825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500" b="1">
                <a:solidFill>
                  <a:srgbClr val="147A7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Payload</a:t>
            </a:r>
          </a:p>
        </p:txBody>
      </p:sp>
      <p:sp>
        <p:nvSpPr>
          <p:cNvPr id="31" name="rect 23"/>
          <p:cNvSpPr/>
          <p:nvPr/>
        </p:nvSpPr>
        <p:spPr>
          <a:xfrm>
            <a:off x="4445000" y="4914900"/>
            <a:ext cx="1358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用户 ID；不是密文</a:t>
            </a:r>
          </a:p>
        </p:txBody>
      </p:sp>
      <p:sp>
        <p:nvSpPr>
          <p:cNvPr id="32" name="roundRect 8"/>
          <p:cNvSpPr/>
          <p:nvPr/>
        </p:nvSpPr>
        <p:spPr>
          <a:xfrm>
            <a:off x="7315200" y="4533900"/>
            <a:ext cx="3759200" cy="736600"/>
          </a:xfrm>
          <a:prstGeom prst="roundRect">
            <a:avLst>
              <a:gd fmla="val 17241" name="adj"/>
            </a:avLst>
          </a:prstGeom>
          <a:solidFill>
            <a:srgbClr val="FFF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 24"/>
          <p:cNvSpPr/>
          <p:nvPr/>
        </p:nvSpPr>
        <p:spPr>
          <a:xfrm>
            <a:off x="7569200" y="4635500"/>
            <a:ext cx="977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500" b="1">
                <a:solidFill>
                  <a:srgbClr val="A26711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Signature</a:t>
            </a:r>
          </a:p>
        </p:txBody>
      </p:sp>
      <p:sp>
        <p:nvSpPr>
          <p:cNvPr id="34" name="rect 25"/>
          <p:cNvSpPr/>
          <p:nvPr/>
        </p:nvSpPr>
        <p:spPr>
          <a:xfrm>
            <a:off x="7569200" y="4914900"/>
            <a:ext cx="13208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2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密钥签名，防篡改</a:t>
            </a:r>
          </a:p>
        </p:txBody>
      </p:sp>
      <p:sp>
        <p:nvSpPr>
          <p:cNvPr id="35" name="rect 26"/>
          <p:cNvSpPr/>
          <p:nvPr/>
        </p:nvSpPr>
        <p:spPr>
          <a:xfrm>
            <a:off x="711200" y="5930900"/>
            <a:ext cx="5499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有效期示例：expiresIn: '5h' · JWT_SECRET 只放在服务端环境变量</a:t>
            </a:r>
          </a:p>
        </p:txBody>
      </p:sp>
      <p:sp>
        <p:nvSpPr>
          <p:cNvPr id="36" name="rect 27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711200" y="330200"/>
            <a:ext cx="57912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密码安全：只存哈希，不存秘密</a:t>
            </a:r>
          </a:p>
        </p:txBody>
      </p:sp>
      <p:sp>
        <p:nvSpPr>
          <p:cNvPr id="5" name="rect 4"/>
          <p:cNvSpPr/>
          <p:nvPr/>
        </p:nvSpPr>
        <p:spPr>
          <a:xfrm>
            <a:off x="711200" y="939800"/>
            <a:ext cx="56769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bcryptjs 负责密码，JWT 负责身份；两者解决的是不同问题。</a:t>
            </a:r>
          </a:p>
        </p:txBody>
      </p:sp>
      <p:sp>
        <p:nvSpPr>
          <p:cNvPr id="6" name="roundRect 1"/>
          <p:cNvSpPr/>
          <p:nvPr/>
        </p:nvSpPr>
        <p:spPr>
          <a:xfrm>
            <a:off x="711200" y="1676400"/>
            <a:ext cx="10769600" cy="1727200"/>
          </a:xfrm>
          <a:prstGeom prst="roundRect">
            <a:avLst>
              <a:gd fmla="val 13235" name="adj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066800" y="1892300"/>
            <a:ext cx="30734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注册：生成不可逆的密码哈希</a:t>
            </a:r>
          </a:p>
        </p:txBody>
      </p:sp>
      <p:sp>
        <p:nvSpPr>
          <p:cNvPr id="8" name="roundRect 2"/>
          <p:cNvSpPr/>
          <p:nvPr/>
        </p:nvSpPr>
        <p:spPr>
          <a:xfrm>
            <a:off x="1066800" y="2438400"/>
            <a:ext cx="2184400" cy="584200"/>
          </a:xfrm>
          <a:prstGeom prst="roundRect">
            <a:avLst>
              <a:gd fmla="val 21739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6"/>
          <p:cNvSpPr/>
          <p:nvPr/>
        </p:nvSpPr>
        <p:spPr>
          <a:xfrm>
            <a:off x="1752600" y="26416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zh-CN" sz="14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明文密码</a:t>
            </a:r>
          </a:p>
        </p:txBody>
      </p:sp>
      <p:sp>
        <p:nvSpPr>
          <p:cNvPr id="10" name="rect 7"/>
          <p:cNvSpPr/>
          <p:nvPr/>
        </p:nvSpPr>
        <p:spPr>
          <a:xfrm>
            <a:off x="3429000" y="2730500"/>
            <a:ext cx="508000" cy="12700"/>
          </a:xfrm>
          <a:custGeom>
            <a:avLst/>
            <a:gdLst/>
            <a:ahLst/>
            <a:cxnLst/>
            <a:rect l="0" t="0" r="0" b="0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ect 8"/>
          <p:cNvSpPr/>
          <p:nvPr/>
        </p:nvSpPr>
        <p:spPr>
          <a:xfrm>
            <a:off x="3860800" y="2628900"/>
            <a:ext cx="127000" cy="203200"/>
          </a:xfrm>
          <a:custGeom>
            <a:avLst/>
            <a:gdLst/>
            <a:ahLst/>
            <a:cxnLst/>
            <a:rect l="0" t="0" r="0" b="0"/>
            <a:pathLst>
              <a:path w="10" h="16">
                <a:moveTo>
                  <a:pt x="0" y="0"/>
                </a:moveTo>
                <a:lnTo>
                  <a:pt x="10" y="8"/>
                </a:lnTo>
                <a:lnTo>
                  <a:pt x="0" y="16"/>
                </a:lnTo>
              </a:path>
            </a:pathLst>
          </a:custGeom>
          <a:noFill/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2" name="roundRect 3"/>
          <p:cNvSpPr/>
          <p:nvPr/>
        </p:nvSpPr>
        <p:spPr>
          <a:xfrm>
            <a:off x="4140200" y="2438400"/>
            <a:ext cx="2184400" cy="584200"/>
          </a:xfrm>
          <a:prstGeom prst="roundRect">
            <a:avLst>
              <a:gd fmla="val 21739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 9"/>
          <p:cNvSpPr/>
          <p:nvPr/>
        </p:nvSpPr>
        <p:spPr>
          <a:xfrm>
            <a:off x="4692650" y="2641600"/>
            <a:ext cx="1079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en-US" sz="14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salt + hash()</a:t>
            </a:r>
          </a:p>
        </p:txBody>
      </p:sp>
      <p:sp>
        <p:nvSpPr>
          <p:cNvPr id="14" name="rect 10"/>
          <p:cNvSpPr/>
          <p:nvPr/>
        </p:nvSpPr>
        <p:spPr>
          <a:xfrm>
            <a:off x="6502400" y="2730500"/>
            <a:ext cx="508000" cy="12700"/>
          </a:xfrm>
          <a:custGeom>
            <a:avLst/>
            <a:gdLst/>
            <a:ahLst/>
            <a:cxnLst/>
            <a:rect l="0" t="0" r="0" b="0"/>
            <a:pathLst>
              <a:path w="40" h="1">
                <a:moveTo>
                  <a:pt x="0" y="0"/>
                </a:moveTo>
                <a:lnTo>
                  <a:pt x="4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5" name="rect 11"/>
          <p:cNvSpPr/>
          <p:nvPr/>
        </p:nvSpPr>
        <p:spPr>
          <a:xfrm>
            <a:off x="6934200" y="2628900"/>
            <a:ext cx="127000" cy="203200"/>
          </a:xfrm>
          <a:custGeom>
            <a:avLst/>
            <a:gdLst/>
            <a:ahLst/>
            <a:cxnLst/>
            <a:rect l="0" t="0" r="0" b="0"/>
            <a:pathLst>
              <a:path w="10" h="16">
                <a:moveTo>
                  <a:pt x="0" y="0"/>
                </a:moveTo>
                <a:lnTo>
                  <a:pt x="10" y="8"/>
                </a:lnTo>
                <a:lnTo>
                  <a:pt x="0" y="16"/>
                </a:lnTo>
              </a:path>
            </a:pathLst>
          </a:custGeom>
          <a:noFill/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6" name="roundRect 4"/>
          <p:cNvSpPr/>
          <p:nvPr/>
        </p:nvSpPr>
        <p:spPr>
          <a:xfrm>
            <a:off x="7213600" y="2438400"/>
            <a:ext cx="3200400" cy="584200"/>
          </a:xfrm>
          <a:prstGeom prst="roundRect">
            <a:avLst>
              <a:gd fmla="val 21739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2"/>
          <p:cNvSpPr/>
          <p:nvPr/>
        </p:nvSpPr>
        <p:spPr>
          <a:xfrm>
            <a:off x="7962900" y="2641600"/>
            <a:ext cx="1701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zh-CN" sz="14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数据库：只保存哈希</a:t>
            </a:r>
          </a:p>
        </p:txBody>
      </p:sp>
      <p:sp>
        <p:nvSpPr>
          <p:cNvPr id="18" name="roundRect 5"/>
          <p:cNvSpPr/>
          <p:nvPr/>
        </p:nvSpPr>
        <p:spPr>
          <a:xfrm>
            <a:off x="711200" y="3708400"/>
            <a:ext cx="5207000" cy="1803400"/>
          </a:xfrm>
          <a:prstGeom prst="roundRect">
            <a:avLst>
              <a:gd fmla="val 12676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3"/>
          <p:cNvSpPr/>
          <p:nvPr/>
        </p:nvSpPr>
        <p:spPr>
          <a:xfrm>
            <a:off x="1066800" y="3937000"/>
            <a:ext cx="19939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登录：compare()</a:t>
            </a:r>
          </a:p>
        </p:txBody>
      </p:sp>
      <p:sp>
        <p:nvSpPr>
          <p:cNvPr id="20" name="rect 14"/>
          <p:cNvSpPr/>
          <p:nvPr/>
        </p:nvSpPr>
        <p:spPr>
          <a:xfrm>
            <a:off x="1066800" y="4394200"/>
            <a:ext cx="2057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输入密码 + 数据库哈希</a:t>
            </a:r>
          </a:p>
        </p:txBody>
      </p:sp>
      <p:sp>
        <p:nvSpPr>
          <p:cNvPr id="21" name="rect 15"/>
          <p:cNvSpPr/>
          <p:nvPr/>
        </p:nvSpPr>
        <p:spPr>
          <a:xfrm>
            <a:off x="1066800" y="4800600"/>
            <a:ext cx="2019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147A7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匹配成功 → 签发 JWT</a:t>
            </a:r>
          </a:p>
        </p:txBody>
      </p:sp>
      <p:sp>
        <p:nvSpPr>
          <p:cNvPr id="22" name="roundRect 6"/>
          <p:cNvSpPr/>
          <p:nvPr/>
        </p:nvSpPr>
        <p:spPr>
          <a:xfrm>
            <a:off x="6273800" y="3708400"/>
            <a:ext cx="5207000" cy="1803400"/>
          </a:xfrm>
          <a:prstGeom prst="roundRect">
            <a:avLst>
              <a:gd fmla="val 12676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 16"/>
          <p:cNvSpPr/>
          <p:nvPr/>
        </p:nvSpPr>
        <p:spPr>
          <a:xfrm>
            <a:off x="6629400" y="3937000"/>
            <a:ext cx="13081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路由模块化</a:t>
            </a:r>
          </a:p>
        </p:txBody>
      </p:sp>
      <p:sp>
        <p:nvSpPr>
          <p:cNvPr id="24" name="rect 17"/>
          <p:cNvSpPr/>
          <p:nvPr/>
        </p:nvSpPr>
        <p:spPr>
          <a:xfrm>
            <a:off x="6629400" y="4419600"/>
            <a:ext cx="2552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routes/users.js → 注册 / 登录</a:t>
            </a:r>
          </a:p>
        </p:txBody>
      </p:sp>
      <p:sp>
        <p:nvSpPr>
          <p:cNvPr id="25" name="rect 18"/>
          <p:cNvSpPr/>
          <p:nvPr/>
        </p:nvSpPr>
        <p:spPr>
          <a:xfrm>
            <a:off x="6629400" y="4826000"/>
            <a:ext cx="22860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index.js → app.use() 挂载</a:t>
            </a:r>
          </a:p>
        </p:txBody>
      </p:sp>
      <p:sp>
        <p:nvSpPr>
          <p:cNvPr id="26" name="rect 19"/>
          <p:cNvSpPr/>
          <p:nvPr/>
        </p:nvSpPr>
        <p:spPr>
          <a:xfrm>
            <a:off x="711200" y="5930900"/>
            <a:ext cx="6477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安全底线：JWT_SECRET 不入库；Payload 可被解码，不能放密码等敏感数据。</a:t>
            </a:r>
          </a:p>
        </p:txBody>
      </p:sp>
      <p:sp>
        <p:nvSpPr>
          <p:cNvPr id="27" name="rect 20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71869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711200" y="330200"/>
            <a:ext cx="54737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认证中间件：先回答“你是谁”</a:t>
            </a:r>
          </a:p>
        </p:txBody>
      </p:sp>
      <p:sp>
        <p:nvSpPr>
          <p:cNvPr id="4" name="rect 3"/>
          <p:cNvSpPr/>
          <p:nvPr/>
        </p:nvSpPr>
        <p:spPr>
          <a:xfrm>
            <a:off x="711200" y="952500"/>
            <a:ext cx="47625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通过认证才进入业务路由；认证失败统一返回 401。</a:t>
            </a:r>
          </a:p>
        </p:txBody>
      </p:sp>
      <p:sp>
        <p:nvSpPr>
          <p:cNvPr id="5" name="roundRect 1"/>
          <p:cNvSpPr/>
          <p:nvPr/>
        </p:nvSpPr>
        <p:spPr>
          <a:xfrm>
            <a:off x="711200" y="1955800"/>
            <a:ext cx="2235200" cy="1168400"/>
          </a:xfrm>
          <a:prstGeom prst="roundRect">
            <a:avLst>
              <a:gd fmla="val 17391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4"/>
          <p:cNvSpPr/>
          <p:nvPr/>
        </p:nvSpPr>
        <p:spPr>
          <a:xfrm>
            <a:off x="1016000" y="2209800"/>
            <a:ext cx="16129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① 读取 Token</a:t>
            </a:r>
          </a:p>
        </p:txBody>
      </p:sp>
      <p:sp>
        <p:nvSpPr>
          <p:cNvPr id="7" name="rect 5"/>
          <p:cNvSpPr/>
          <p:nvPr/>
        </p:nvSpPr>
        <p:spPr>
          <a:xfrm>
            <a:off x="1016000" y="2616200"/>
            <a:ext cx="1143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A9BED1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x-auth-token</a:t>
            </a:r>
          </a:p>
        </p:txBody>
      </p:sp>
      <p:sp>
        <p:nvSpPr>
          <p:cNvPr id="8" name="rect 6"/>
          <p:cNvSpPr/>
          <p:nvPr/>
        </p:nvSpPr>
        <p:spPr>
          <a:xfrm>
            <a:off x="3073400" y="2540000"/>
            <a:ext cx="406400" cy="12700"/>
          </a:xfrm>
          <a:custGeom>
            <a:avLst/>
            <a:gdLst/>
            <a:ahLst/>
            <a:cxnLst/>
            <a:rect l="0" t="0" r="0" b="0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ect 7"/>
          <p:cNvSpPr/>
          <p:nvPr/>
        </p:nvSpPr>
        <p:spPr>
          <a:xfrm>
            <a:off x="3403600" y="24257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0" name="roundRect 2"/>
          <p:cNvSpPr/>
          <p:nvPr/>
        </p:nvSpPr>
        <p:spPr>
          <a:xfrm>
            <a:off x="3632200" y="1955800"/>
            <a:ext cx="2235200" cy="1168400"/>
          </a:xfrm>
          <a:prstGeom prst="roundRect">
            <a:avLst>
              <a:gd fmla="val 17391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8"/>
          <p:cNvSpPr/>
          <p:nvPr/>
        </p:nvSpPr>
        <p:spPr>
          <a:xfrm>
            <a:off x="3937000" y="2209800"/>
            <a:ext cx="1320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② 检查存在</a:t>
            </a:r>
          </a:p>
        </p:txBody>
      </p:sp>
      <p:sp>
        <p:nvSpPr>
          <p:cNvPr id="12" name="rect 9"/>
          <p:cNvSpPr/>
          <p:nvPr/>
        </p:nvSpPr>
        <p:spPr>
          <a:xfrm>
            <a:off x="3937000" y="2616200"/>
            <a:ext cx="977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缺失 → 401</a:t>
            </a:r>
          </a:p>
        </p:txBody>
      </p:sp>
      <p:sp>
        <p:nvSpPr>
          <p:cNvPr id="13" name="rect 10"/>
          <p:cNvSpPr/>
          <p:nvPr/>
        </p:nvSpPr>
        <p:spPr>
          <a:xfrm>
            <a:off x="5994400" y="2540000"/>
            <a:ext cx="406400" cy="12700"/>
          </a:xfrm>
          <a:custGeom>
            <a:avLst/>
            <a:gdLst/>
            <a:ahLst/>
            <a:cxnLst/>
            <a:rect l="0" t="0" r="0" b="0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4" name="rect 11"/>
          <p:cNvSpPr/>
          <p:nvPr/>
        </p:nvSpPr>
        <p:spPr>
          <a:xfrm>
            <a:off x="6324600" y="24257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5" name="roundRect 3"/>
          <p:cNvSpPr/>
          <p:nvPr/>
        </p:nvSpPr>
        <p:spPr>
          <a:xfrm>
            <a:off x="6553200" y="1955800"/>
            <a:ext cx="2235200" cy="1168400"/>
          </a:xfrm>
          <a:prstGeom prst="roundRect">
            <a:avLst>
              <a:gd fmla="val 17391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 12"/>
          <p:cNvSpPr/>
          <p:nvPr/>
        </p:nvSpPr>
        <p:spPr>
          <a:xfrm>
            <a:off x="6858000" y="2209800"/>
            <a:ext cx="13970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③ jwt.verify</a:t>
            </a:r>
          </a:p>
        </p:txBody>
      </p:sp>
      <p:sp>
        <p:nvSpPr>
          <p:cNvPr id="17" name="rect 13"/>
          <p:cNvSpPr/>
          <p:nvPr/>
        </p:nvSpPr>
        <p:spPr>
          <a:xfrm>
            <a:off x="6858000" y="2616200"/>
            <a:ext cx="1143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签名 + 有效期</a:t>
            </a:r>
          </a:p>
        </p:txBody>
      </p:sp>
      <p:sp>
        <p:nvSpPr>
          <p:cNvPr id="18" name="rect 14"/>
          <p:cNvSpPr/>
          <p:nvPr/>
        </p:nvSpPr>
        <p:spPr>
          <a:xfrm>
            <a:off x="8915400" y="2540000"/>
            <a:ext cx="406400" cy="12700"/>
          </a:xfrm>
          <a:custGeom>
            <a:avLst/>
            <a:gdLst/>
            <a:ahLst/>
            <a:cxnLst/>
            <a:rect l="0" t="0" r="0" b="0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9" name="rect 15"/>
          <p:cNvSpPr/>
          <p:nvPr/>
        </p:nvSpPr>
        <p:spPr>
          <a:xfrm>
            <a:off x="9245600" y="24257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roundRect 4"/>
          <p:cNvSpPr/>
          <p:nvPr/>
        </p:nvSpPr>
        <p:spPr>
          <a:xfrm>
            <a:off x="9474200" y="1955800"/>
            <a:ext cx="2006600" cy="1168400"/>
          </a:xfrm>
          <a:prstGeom prst="roundRect">
            <a:avLst>
              <a:gd fmla="val 17391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6"/>
          <p:cNvSpPr/>
          <p:nvPr/>
        </p:nvSpPr>
        <p:spPr>
          <a:xfrm>
            <a:off x="9779000" y="2209800"/>
            <a:ext cx="10287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8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④ next()</a:t>
            </a:r>
          </a:p>
        </p:txBody>
      </p:sp>
      <p:sp>
        <p:nvSpPr>
          <p:cNvPr id="22" name="rect 17"/>
          <p:cNvSpPr/>
          <p:nvPr/>
        </p:nvSpPr>
        <p:spPr>
          <a:xfrm>
            <a:off x="9779000" y="2616200"/>
            <a:ext cx="1104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req.user 可用</a:t>
            </a:r>
          </a:p>
        </p:txBody>
      </p:sp>
      <p:sp>
        <p:nvSpPr>
          <p:cNvPr id="23" name="roundRect 5"/>
          <p:cNvSpPr/>
          <p:nvPr/>
        </p:nvSpPr>
        <p:spPr>
          <a:xfrm>
            <a:off x="711200" y="3733800"/>
            <a:ext cx="10769600" cy="1727200"/>
          </a:xfrm>
          <a:prstGeom prst="roundRect">
            <a:avLst>
              <a:gd fmla="val 13235" name="adj"/>
            </a:avLst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 18"/>
          <p:cNvSpPr/>
          <p:nvPr/>
        </p:nvSpPr>
        <p:spPr>
          <a:xfrm>
            <a:off x="1066800" y="3949700"/>
            <a:ext cx="10668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认证边界</a:t>
            </a:r>
          </a:p>
        </p:txBody>
      </p:sp>
      <p:sp>
        <p:nvSpPr>
          <p:cNvPr id="25" name="rect 19"/>
          <p:cNvSpPr/>
          <p:nvPr/>
        </p:nvSpPr>
        <p:spPr>
          <a:xfrm>
            <a:off x="1066800" y="4445000"/>
            <a:ext cx="2540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认证中间件负责：</a:t>
            </a:r>
            <a:r>
              <a:rPr lang="zh-CN" sz="1600" b="1">
                <a:solidFill>
                  <a:srgbClr val="147A7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确认身份</a:t>
            </a:r>
          </a:p>
        </p:txBody>
      </p:sp>
      <p:sp>
        <p:nvSpPr>
          <p:cNvPr id="26" name="rect 20"/>
          <p:cNvSpPr/>
          <p:nvPr/>
        </p:nvSpPr>
        <p:spPr>
          <a:xfrm>
            <a:off x="1066800" y="4889500"/>
            <a:ext cx="3810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业务路由负责：</a:t>
            </a:r>
            <a:r>
              <a:rPr lang="zh-CN" sz="1600" b="1">
                <a:solidFill>
                  <a:srgbClr val="A2671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执行操作 + 校验资源归属</a:t>
            </a:r>
          </a:p>
        </p:txBody>
      </p:sp>
      <p:sp>
        <p:nvSpPr>
          <p:cNvPr id="27" name="rect 21"/>
          <p:cNvSpPr/>
          <p:nvPr/>
        </p:nvSpPr>
        <p:spPr>
          <a:xfrm>
            <a:off x="711200" y="5930900"/>
            <a:ext cx="6261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结果：无 Token / 无效 Token → 401；验证成功 → req.user.id 进入业务逻辑</a:t>
            </a:r>
          </a:p>
        </p:txBody>
      </p:sp>
      <p:sp>
        <p:nvSpPr>
          <p:cNvPr id="28" name="rect 22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711200" y="330200"/>
            <a:ext cx="78867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知识点 API：CRUD 之外，还要做权限隔离</a:t>
            </a:r>
          </a:p>
        </p:txBody>
      </p:sp>
      <p:sp>
        <p:nvSpPr>
          <p:cNvPr id="5" name="rect 4"/>
          <p:cNvSpPr/>
          <p:nvPr/>
        </p:nvSpPr>
        <p:spPr>
          <a:xfrm>
            <a:off x="711200" y="939800"/>
            <a:ext cx="54483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每条记录绑定 user；列表只看自己的，单条操作先查归属。</a:t>
            </a:r>
          </a:p>
        </p:txBody>
      </p:sp>
      <p:sp>
        <p:nvSpPr>
          <p:cNvPr id="6" name="roundRect 1"/>
          <p:cNvSpPr/>
          <p:nvPr/>
        </p:nvSpPr>
        <p:spPr>
          <a:xfrm>
            <a:off x="711200" y="1676400"/>
            <a:ext cx="3937000" cy="3733800"/>
          </a:xfrm>
          <a:prstGeom prst="roundRect">
            <a:avLst>
              <a:gd fmla="val 6122" name="adj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066800" y="1892300"/>
            <a:ext cx="1117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数据模型</a:t>
            </a:r>
          </a:p>
        </p:txBody>
      </p:sp>
      <p:sp>
        <p:nvSpPr>
          <p:cNvPr id="8" name="rect 6"/>
          <p:cNvSpPr/>
          <p:nvPr/>
        </p:nvSpPr>
        <p:spPr>
          <a:xfrm>
            <a:off x="1066800" y="2514600"/>
            <a:ext cx="444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7FD7D2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user</a:t>
            </a:r>
          </a:p>
        </p:txBody>
      </p:sp>
      <p:sp>
        <p:nvSpPr>
          <p:cNvPr id="9" name="rect 7"/>
          <p:cNvSpPr/>
          <p:nvPr/>
        </p:nvSpPr>
        <p:spPr>
          <a:xfrm>
            <a:off x="2743200" y="2514600"/>
            <a:ext cx="1422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ObjectId → User</a:t>
            </a:r>
          </a:p>
        </p:txBody>
      </p:sp>
      <p:cxnSp>
        <p:nvCxnSpPr>
          <p:cNvPr id="10" name="line 1"/>
          <p:cNvCxnSpPr/>
          <p:nvPr/>
        </p:nvCxnSpPr>
        <p:spPr>
          <a:xfrm>
            <a:off x="1066800" y="2838450"/>
            <a:ext cx="3225800" cy="12700"/>
          </a:xfrm>
          <a:prstGeom prst="line">
            <a:avLst/>
          </a:prstGeom>
          <a:noFill/>
          <a:ln w="12700">
            <a:solidFill>
              <a:srgbClr val="2B587A"/>
            </a:solidFill>
          </a:ln>
        </p:spPr>
      </p:cxnSp>
      <p:sp>
        <p:nvSpPr>
          <p:cNvPr id="11" name="rect 8"/>
          <p:cNvSpPr/>
          <p:nvPr/>
        </p:nvSpPr>
        <p:spPr>
          <a:xfrm>
            <a:off x="1066800" y="3111500"/>
            <a:ext cx="1104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7FD7D2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title / content</a:t>
            </a:r>
          </a:p>
        </p:txBody>
      </p:sp>
      <p:sp>
        <p:nvSpPr>
          <p:cNvPr id="12" name="rect 9"/>
          <p:cNvSpPr/>
          <p:nvPr/>
        </p:nvSpPr>
        <p:spPr>
          <a:xfrm>
            <a:off x="2743200" y="31115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zh-CN" sz="14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必填文本</a:t>
            </a:r>
          </a:p>
        </p:txBody>
      </p:sp>
      <p:cxnSp>
        <p:nvCxnSpPr>
          <p:cNvPr id="13" name="line 2"/>
          <p:cNvCxnSpPr/>
          <p:nvPr/>
        </p:nvCxnSpPr>
        <p:spPr>
          <a:xfrm>
            <a:off x="1066800" y="3435350"/>
            <a:ext cx="3225800" cy="12700"/>
          </a:xfrm>
          <a:prstGeom prst="line">
            <a:avLst/>
          </a:prstGeom>
          <a:noFill/>
          <a:ln w="12700">
            <a:solidFill>
              <a:srgbClr val="2B587A"/>
            </a:solidFill>
          </a:ln>
        </p:spPr>
      </p:cxnSp>
      <p:sp>
        <p:nvSpPr>
          <p:cNvPr id="14" name="rect 10"/>
          <p:cNvSpPr/>
          <p:nvPr/>
        </p:nvSpPr>
        <p:spPr>
          <a:xfrm>
            <a:off x="1066800" y="3708400"/>
            <a:ext cx="571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7FD7D2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status</a:t>
            </a:r>
          </a:p>
        </p:txBody>
      </p:sp>
      <p:sp>
        <p:nvSpPr>
          <p:cNvPr id="15" name="rect 11"/>
          <p:cNvSpPr/>
          <p:nvPr/>
        </p:nvSpPr>
        <p:spPr>
          <a:xfrm>
            <a:off x="2743200" y="3708400"/>
            <a:ext cx="1143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3-state enum</a:t>
            </a:r>
          </a:p>
        </p:txBody>
      </p:sp>
      <p:cxnSp>
        <p:nvCxnSpPr>
          <p:cNvPr id="16" name="line 3"/>
          <p:cNvCxnSpPr/>
          <p:nvPr/>
        </p:nvCxnSpPr>
        <p:spPr>
          <a:xfrm>
            <a:off x="1066800" y="4032250"/>
            <a:ext cx="3225800" cy="12700"/>
          </a:xfrm>
          <a:prstGeom prst="line">
            <a:avLst/>
          </a:prstGeom>
          <a:noFill/>
          <a:ln w="12700">
            <a:solidFill>
              <a:srgbClr val="2B587A"/>
            </a:solidFill>
          </a:ln>
        </p:spPr>
      </p:cxnSp>
      <p:sp>
        <p:nvSpPr>
          <p:cNvPr id="17" name="rect 12"/>
          <p:cNvSpPr/>
          <p:nvPr/>
        </p:nvSpPr>
        <p:spPr>
          <a:xfrm>
            <a:off x="1066800" y="4305300"/>
            <a:ext cx="889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7FD7D2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reviewList</a:t>
            </a:r>
          </a:p>
        </p:txBody>
      </p:sp>
      <p:sp>
        <p:nvSpPr>
          <p:cNvPr id="18" name="rect 13"/>
          <p:cNvSpPr/>
          <p:nvPr/>
        </p:nvSpPr>
        <p:spPr>
          <a:xfrm>
            <a:off x="2743200" y="4305300"/>
            <a:ext cx="749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Boolean</a:t>
            </a:r>
          </a:p>
        </p:txBody>
      </p:sp>
      <p:sp>
        <p:nvSpPr>
          <p:cNvPr id="19" name="rect 14"/>
          <p:cNvSpPr/>
          <p:nvPr/>
        </p:nvSpPr>
        <p:spPr>
          <a:xfrm>
            <a:off x="1066800" y="4876800"/>
            <a:ext cx="1828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A9BED1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createdAt · updatedAt</a:t>
            </a:r>
          </a:p>
        </p:txBody>
      </p:sp>
      <p:sp>
        <p:nvSpPr>
          <p:cNvPr id="20" name="rect 15"/>
          <p:cNvSpPr/>
          <p:nvPr/>
        </p:nvSpPr>
        <p:spPr>
          <a:xfrm>
            <a:off x="5334000" y="1892300"/>
            <a:ext cx="2895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五个接口，一条权限规则</a:t>
            </a:r>
          </a:p>
        </p:txBody>
      </p:sp>
      <p:sp>
        <p:nvSpPr>
          <p:cNvPr id="21" name="roundRect 2"/>
          <p:cNvSpPr/>
          <p:nvPr/>
        </p:nvSpPr>
        <p:spPr>
          <a:xfrm>
            <a:off x="5334000" y="2451100"/>
            <a:ext cx="6146800" cy="495300"/>
          </a:xfrm>
          <a:prstGeom prst="roundRect">
            <a:avLst>
              <a:gd fmla="val 23077" name="adj"/>
            </a:avLst>
          </a:prstGeom>
          <a:solidFill>
            <a:srgbClr val="DDF4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 16"/>
          <p:cNvSpPr/>
          <p:nvPr/>
        </p:nvSpPr>
        <p:spPr>
          <a:xfrm>
            <a:off x="5638800" y="2590800"/>
            <a:ext cx="622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 b="1">
                <a:solidFill>
                  <a:srgbClr val="147A7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POST</a:t>
            </a:r>
          </a:p>
        </p:txBody>
      </p:sp>
      <p:sp>
        <p:nvSpPr>
          <p:cNvPr id="23" name="rect 17"/>
          <p:cNvSpPr/>
          <p:nvPr/>
        </p:nvSpPr>
        <p:spPr>
          <a:xfrm>
            <a:off x="6858000" y="2603500"/>
            <a:ext cx="1816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/api/knowledge-points</a:t>
            </a:r>
          </a:p>
        </p:txBody>
      </p:sp>
      <p:sp>
        <p:nvSpPr>
          <p:cNvPr id="24" name="rect 18"/>
          <p:cNvSpPr/>
          <p:nvPr/>
        </p:nvSpPr>
        <p:spPr>
          <a:xfrm>
            <a:off x="10668000" y="26035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创建</a:t>
            </a:r>
          </a:p>
        </p:txBody>
      </p:sp>
      <p:sp>
        <p:nvSpPr>
          <p:cNvPr id="25" name="roundRect 3"/>
          <p:cNvSpPr/>
          <p:nvPr/>
        </p:nvSpPr>
        <p:spPr>
          <a:xfrm>
            <a:off x="5334000" y="3073400"/>
            <a:ext cx="6146800" cy="495300"/>
          </a:xfrm>
          <a:prstGeom prst="roundRect">
            <a:avLst>
              <a:gd fmla="val 23077" name="adj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 19"/>
          <p:cNvSpPr/>
          <p:nvPr/>
        </p:nvSpPr>
        <p:spPr>
          <a:xfrm>
            <a:off x="5638800" y="3213100"/>
            <a:ext cx="495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GET</a:t>
            </a:r>
          </a:p>
        </p:txBody>
      </p:sp>
      <p:sp>
        <p:nvSpPr>
          <p:cNvPr id="27" name="rect 20"/>
          <p:cNvSpPr/>
          <p:nvPr/>
        </p:nvSpPr>
        <p:spPr>
          <a:xfrm>
            <a:off x="6858000" y="3225800"/>
            <a:ext cx="1816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/api/knowledge-points</a:t>
            </a:r>
          </a:p>
        </p:txBody>
      </p:sp>
      <p:sp>
        <p:nvSpPr>
          <p:cNvPr id="28" name="rect 21"/>
          <p:cNvSpPr/>
          <p:nvPr/>
        </p:nvSpPr>
        <p:spPr>
          <a:xfrm>
            <a:off x="10668000" y="32258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列表</a:t>
            </a:r>
          </a:p>
        </p:txBody>
      </p:sp>
      <p:sp>
        <p:nvSpPr>
          <p:cNvPr id="29" name="roundRect 4"/>
          <p:cNvSpPr/>
          <p:nvPr/>
        </p:nvSpPr>
        <p:spPr>
          <a:xfrm>
            <a:off x="5334000" y="3695700"/>
            <a:ext cx="6146800" cy="495300"/>
          </a:xfrm>
          <a:prstGeom prst="roundRect">
            <a:avLst>
              <a:gd fmla="val 23077" name="adj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 22"/>
          <p:cNvSpPr/>
          <p:nvPr/>
        </p:nvSpPr>
        <p:spPr>
          <a:xfrm>
            <a:off x="5638800" y="3835400"/>
            <a:ext cx="495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GET</a:t>
            </a:r>
          </a:p>
        </p:txBody>
      </p:sp>
      <p:sp>
        <p:nvSpPr>
          <p:cNvPr id="31" name="rect 23"/>
          <p:cNvSpPr/>
          <p:nvPr/>
        </p:nvSpPr>
        <p:spPr>
          <a:xfrm>
            <a:off x="6858000" y="38481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/api/knowledge-points/:id</a:t>
            </a:r>
          </a:p>
        </p:txBody>
      </p:sp>
      <p:sp>
        <p:nvSpPr>
          <p:cNvPr id="32" name="rect 24"/>
          <p:cNvSpPr/>
          <p:nvPr/>
        </p:nvSpPr>
        <p:spPr>
          <a:xfrm>
            <a:off x="10668000" y="38481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详情</a:t>
            </a:r>
          </a:p>
        </p:txBody>
      </p:sp>
      <p:sp>
        <p:nvSpPr>
          <p:cNvPr id="33" name="roundRect 5"/>
          <p:cNvSpPr/>
          <p:nvPr/>
        </p:nvSpPr>
        <p:spPr>
          <a:xfrm>
            <a:off x="5334000" y="4318000"/>
            <a:ext cx="6146800" cy="495300"/>
          </a:xfrm>
          <a:prstGeom prst="roundRect">
            <a:avLst>
              <a:gd fmla="val 23077" name="adj"/>
            </a:avLst>
          </a:prstGeom>
          <a:solidFill>
            <a:srgbClr val="FFF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 25"/>
          <p:cNvSpPr/>
          <p:nvPr/>
        </p:nvSpPr>
        <p:spPr>
          <a:xfrm>
            <a:off x="5638800" y="44577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 b="1">
                <a:solidFill>
                  <a:srgbClr val="A26711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PUT</a:t>
            </a:r>
          </a:p>
        </p:txBody>
      </p:sp>
      <p:sp>
        <p:nvSpPr>
          <p:cNvPr id="35" name="rect 26"/>
          <p:cNvSpPr/>
          <p:nvPr/>
        </p:nvSpPr>
        <p:spPr>
          <a:xfrm>
            <a:off x="6858000" y="44704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/api/knowledge-points/:id</a:t>
            </a:r>
          </a:p>
        </p:txBody>
      </p:sp>
      <p:sp>
        <p:nvSpPr>
          <p:cNvPr id="36" name="rect 27"/>
          <p:cNvSpPr/>
          <p:nvPr/>
        </p:nvSpPr>
        <p:spPr>
          <a:xfrm>
            <a:off x="10668000" y="44704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更新</a:t>
            </a:r>
          </a:p>
        </p:txBody>
      </p:sp>
      <p:sp>
        <p:nvSpPr>
          <p:cNvPr id="37" name="roundRect 6"/>
          <p:cNvSpPr/>
          <p:nvPr/>
        </p:nvSpPr>
        <p:spPr>
          <a:xfrm>
            <a:off x="5334000" y="4940300"/>
            <a:ext cx="6146800" cy="495300"/>
          </a:xfrm>
          <a:prstGeom prst="roundRect">
            <a:avLst>
              <a:gd fmla="val 23077" name="adj"/>
            </a:avLst>
          </a:prstGeom>
          <a:solidFill>
            <a:srgbClr val="FFE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 28"/>
          <p:cNvSpPr/>
          <p:nvPr/>
        </p:nvSpPr>
        <p:spPr>
          <a:xfrm>
            <a:off x="5638800" y="5080000"/>
            <a:ext cx="850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 b="1">
                <a:solidFill>
                  <a:srgbClr val="A43F39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DELETE</a:t>
            </a:r>
          </a:p>
        </p:txBody>
      </p:sp>
      <p:sp>
        <p:nvSpPr>
          <p:cNvPr id="39" name="rect 29"/>
          <p:cNvSpPr/>
          <p:nvPr/>
        </p:nvSpPr>
        <p:spPr>
          <a:xfrm>
            <a:off x="6858000" y="50927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/api/knowledge-points/:id</a:t>
            </a:r>
          </a:p>
        </p:txBody>
      </p:sp>
      <p:sp>
        <p:nvSpPr>
          <p:cNvPr id="40" name="rect 30"/>
          <p:cNvSpPr/>
          <p:nvPr/>
        </p:nvSpPr>
        <p:spPr>
          <a:xfrm>
            <a:off x="10668000" y="50927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删除</a:t>
            </a:r>
          </a:p>
        </p:txBody>
      </p:sp>
      <p:sp>
        <p:nvSpPr>
          <p:cNvPr id="41" name="roundRect 7"/>
          <p:cNvSpPr/>
          <p:nvPr/>
        </p:nvSpPr>
        <p:spPr>
          <a:xfrm>
            <a:off x="711200" y="5791200"/>
            <a:ext cx="10769600" cy="457200"/>
          </a:xfrm>
          <a:prstGeom prst="roundRect">
            <a:avLst>
              <a:gd fmla="val 50000" name="adj"/>
            </a:avLst>
          </a:prstGeom>
          <a:solidFill>
            <a:srgbClr val="DDF4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 31"/>
          <p:cNvSpPr/>
          <p:nvPr/>
        </p:nvSpPr>
        <p:spPr>
          <a:xfrm>
            <a:off x="3587750" y="5905500"/>
            <a:ext cx="5016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>
                <a:solidFill>
                  <a:srgbClr val="147A7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列表：find({ user: req.user.id }) · 单条：存在性 + 所有权校验</a:t>
            </a:r>
          </a:p>
        </p:txBody>
      </p:sp>
      <p:sp>
        <p:nvSpPr>
          <p:cNvPr id="43" name="rect 32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71869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711200" y="330200"/>
            <a:ext cx="74295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自测结论：骨架完成，联调待 MongoDB</a:t>
            </a:r>
          </a:p>
        </p:txBody>
      </p:sp>
      <p:sp>
        <p:nvSpPr>
          <p:cNvPr id="4" name="rect 3"/>
          <p:cNvSpPr/>
          <p:nvPr/>
        </p:nvSpPr>
        <p:spPr>
          <a:xfrm>
            <a:off x="711200" y="952500"/>
            <a:ext cx="3759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不只验证成功路径，也要验证拒绝路径。</a:t>
            </a:r>
          </a:p>
        </p:txBody>
      </p:sp>
      <p:sp>
        <p:nvSpPr>
          <p:cNvPr id="5" name="roundRect 1"/>
          <p:cNvSpPr/>
          <p:nvPr/>
        </p:nvSpPr>
        <p:spPr>
          <a:xfrm>
            <a:off x="711200" y="1676400"/>
            <a:ext cx="5029200" cy="3632200"/>
          </a:xfrm>
          <a:prstGeom prst="roundRect">
            <a:avLst>
              <a:gd fmla="val 6294" name="adj"/>
            </a:avLst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4"/>
          <p:cNvSpPr/>
          <p:nvPr/>
        </p:nvSpPr>
        <p:spPr>
          <a:xfrm>
            <a:off x="1066800" y="1892300"/>
            <a:ext cx="863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已验证</a:t>
            </a:r>
          </a:p>
        </p:txBody>
      </p:sp>
      <p:sp>
        <p:nvSpPr>
          <p:cNvPr id="7" name="ellipse 1"/>
          <p:cNvSpPr/>
          <p:nvPr/>
        </p:nvSpPr>
        <p:spPr>
          <a:xfrm>
            <a:off x="1003300" y="25019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rect 5"/>
          <p:cNvSpPr/>
          <p:nvPr/>
        </p:nvSpPr>
        <p:spPr>
          <a:xfrm>
            <a:off x="1092200" y="2527300"/>
            <a:ext cx="22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9" name="rect 6"/>
          <p:cNvSpPr/>
          <p:nvPr/>
        </p:nvSpPr>
        <p:spPr>
          <a:xfrm>
            <a:off x="1473200" y="2501900"/>
            <a:ext cx="2184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node --check 静态检查</a:t>
            </a:r>
          </a:p>
        </p:txBody>
      </p:sp>
      <p:sp>
        <p:nvSpPr>
          <p:cNvPr id="10" name="ellipse 2"/>
          <p:cNvSpPr/>
          <p:nvPr/>
        </p:nvSpPr>
        <p:spPr>
          <a:xfrm>
            <a:off x="1003300" y="30099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ect 7"/>
          <p:cNvSpPr/>
          <p:nvPr/>
        </p:nvSpPr>
        <p:spPr>
          <a:xfrm>
            <a:off x="1092200" y="3035300"/>
            <a:ext cx="22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2" name="rect 8"/>
          <p:cNvSpPr/>
          <p:nvPr/>
        </p:nvSpPr>
        <p:spPr>
          <a:xfrm>
            <a:off x="1473200" y="3009900"/>
            <a:ext cx="1308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en-US" sz="1500">
                <a:solidFill>
                  <a:srgbClr val="26364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GET / → 200</a:t>
            </a:r>
          </a:p>
        </p:txBody>
      </p:sp>
      <p:sp>
        <p:nvSpPr>
          <p:cNvPr id="13" name="ellipse 3"/>
          <p:cNvSpPr/>
          <p:nvPr/>
        </p:nvSpPr>
        <p:spPr>
          <a:xfrm>
            <a:off x="1003300" y="35179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4" name="rect 9"/>
          <p:cNvSpPr/>
          <p:nvPr/>
        </p:nvSpPr>
        <p:spPr>
          <a:xfrm>
            <a:off x="1092200" y="3543300"/>
            <a:ext cx="22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5" name="rect 10"/>
          <p:cNvSpPr/>
          <p:nvPr/>
        </p:nvSpPr>
        <p:spPr>
          <a:xfrm>
            <a:off x="1473200" y="3517900"/>
            <a:ext cx="2730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缺 Token / 伪造 Token → 401</a:t>
            </a:r>
          </a:p>
        </p:txBody>
      </p:sp>
      <p:sp>
        <p:nvSpPr>
          <p:cNvPr id="16" name="ellipse 4"/>
          <p:cNvSpPr/>
          <p:nvPr/>
        </p:nvSpPr>
        <p:spPr>
          <a:xfrm>
            <a:off x="1003300" y="40259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7" name="rect 11"/>
          <p:cNvSpPr/>
          <p:nvPr/>
        </p:nvSpPr>
        <p:spPr>
          <a:xfrm>
            <a:off x="1092200" y="4051300"/>
            <a:ext cx="22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8" name="rect 12"/>
          <p:cNvSpPr/>
          <p:nvPr/>
        </p:nvSpPr>
        <p:spPr>
          <a:xfrm>
            <a:off x="1473200" y="4025900"/>
            <a:ext cx="2946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未知路由 → 404；空参数 → 400</a:t>
            </a:r>
          </a:p>
        </p:txBody>
      </p:sp>
      <p:sp>
        <p:nvSpPr>
          <p:cNvPr id="19" name="ellipse 5"/>
          <p:cNvSpPr/>
          <p:nvPr/>
        </p:nvSpPr>
        <p:spPr>
          <a:xfrm>
            <a:off x="1003300" y="45339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rect 13"/>
          <p:cNvSpPr/>
          <p:nvPr/>
        </p:nvSpPr>
        <p:spPr>
          <a:xfrm>
            <a:off x="1092200" y="4559300"/>
            <a:ext cx="22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21" name="rect 14"/>
          <p:cNvSpPr/>
          <p:nvPr/>
        </p:nvSpPr>
        <p:spPr>
          <a:xfrm>
            <a:off x="1473200" y="4533900"/>
            <a:ext cx="1485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GET /:id 已补全</a:t>
            </a:r>
          </a:p>
        </p:txBody>
      </p:sp>
      <p:sp>
        <p:nvSpPr>
          <p:cNvPr id="22" name="roundRect 2"/>
          <p:cNvSpPr/>
          <p:nvPr/>
        </p:nvSpPr>
        <p:spPr>
          <a:xfrm>
            <a:off x="6248400" y="1676400"/>
            <a:ext cx="5232400" cy="3632200"/>
          </a:xfrm>
          <a:prstGeom prst="roundRect">
            <a:avLst>
              <a:gd fmla="val 6294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 15"/>
          <p:cNvSpPr/>
          <p:nvPr/>
        </p:nvSpPr>
        <p:spPr>
          <a:xfrm>
            <a:off x="6629400" y="1892300"/>
            <a:ext cx="863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待完成</a:t>
            </a:r>
          </a:p>
        </p:txBody>
      </p:sp>
      <p:sp>
        <p:nvSpPr>
          <p:cNvPr id="24" name="ellipse 6"/>
          <p:cNvSpPr/>
          <p:nvPr/>
        </p:nvSpPr>
        <p:spPr>
          <a:xfrm>
            <a:off x="6565900" y="2527300"/>
            <a:ext cx="279400" cy="2794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5" name="rect 16"/>
          <p:cNvSpPr/>
          <p:nvPr/>
        </p:nvSpPr>
        <p:spPr>
          <a:xfrm>
            <a:off x="6654800" y="2552700"/>
            <a:ext cx="165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!</a:t>
            </a:r>
          </a:p>
        </p:txBody>
      </p:sp>
      <p:sp>
        <p:nvSpPr>
          <p:cNvPr id="26" name="rect 17"/>
          <p:cNvSpPr/>
          <p:nvPr/>
        </p:nvSpPr>
        <p:spPr>
          <a:xfrm>
            <a:off x="7035800" y="2527300"/>
            <a:ext cx="1803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接入测试 MongoDB</a:t>
            </a:r>
          </a:p>
        </p:txBody>
      </p:sp>
      <p:sp>
        <p:nvSpPr>
          <p:cNvPr id="27" name="ellipse 7"/>
          <p:cNvSpPr/>
          <p:nvPr/>
        </p:nvSpPr>
        <p:spPr>
          <a:xfrm>
            <a:off x="6565900" y="3035300"/>
            <a:ext cx="279400" cy="2794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8" name="rect 18"/>
          <p:cNvSpPr/>
          <p:nvPr/>
        </p:nvSpPr>
        <p:spPr>
          <a:xfrm>
            <a:off x="6654800" y="3060700"/>
            <a:ext cx="165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!</a:t>
            </a:r>
          </a:p>
        </p:txBody>
      </p:sp>
      <p:sp>
        <p:nvSpPr>
          <p:cNvPr id="29" name="rect 19"/>
          <p:cNvSpPr/>
          <p:nvPr/>
        </p:nvSpPr>
        <p:spPr>
          <a:xfrm>
            <a:off x="7035800" y="3035300"/>
            <a:ext cx="26670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注册 → 登录 → CRUD 全链路</a:t>
            </a:r>
          </a:p>
        </p:txBody>
      </p:sp>
      <p:sp>
        <p:nvSpPr>
          <p:cNvPr id="30" name="ellipse 8"/>
          <p:cNvSpPr/>
          <p:nvPr/>
        </p:nvSpPr>
        <p:spPr>
          <a:xfrm>
            <a:off x="6565900" y="3543300"/>
            <a:ext cx="279400" cy="2794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1" name="rect 20"/>
          <p:cNvSpPr/>
          <p:nvPr/>
        </p:nvSpPr>
        <p:spPr>
          <a:xfrm>
            <a:off x="6654800" y="3568700"/>
            <a:ext cx="165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!</a:t>
            </a:r>
          </a:p>
        </p:txBody>
      </p:sp>
      <p:sp>
        <p:nvSpPr>
          <p:cNvPr id="32" name="rect 21"/>
          <p:cNvSpPr/>
          <p:nvPr/>
        </p:nvSpPr>
        <p:spPr>
          <a:xfrm>
            <a:off x="7035800" y="3543300"/>
            <a:ext cx="2565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统一 Bearer / x-auth-token</a:t>
            </a:r>
          </a:p>
        </p:txBody>
      </p:sp>
      <p:sp>
        <p:nvSpPr>
          <p:cNvPr id="33" name="ellipse 9"/>
          <p:cNvSpPr/>
          <p:nvPr/>
        </p:nvSpPr>
        <p:spPr>
          <a:xfrm>
            <a:off x="6565900" y="4051300"/>
            <a:ext cx="279400" cy="2794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4" name="rect 22"/>
          <p:cNvSpPr/>
          <p:nvPr/>
        </p:nvSpPr>
        <p:spPr>
          <a:xfrm>
            <a:off x="6654800" y="4076700"/>
            <a:ext cx="165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!</a:t>
            </a:r>
          </a:p>
        </p:txBody>
      </p:sp>
      <p:sp>
        <p:nvSpPr>
          <p:cNvPr id="35" name="rect 23"/>
          <p:cNvSpPr/>
          <p:nvPr/>
        </p:nvSpPr>
        <p:spPr>
          <a:xfrm>
            <a:off x="7035800" y="4051300"/>
            <a:ext cx="2349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补充 npm test 自动化脚本</a:t>
            </a:r>
          </a:p>
        </p:txBody>
      </p:sp>
      <p:sp>
        <p:nvSpPr>
          <p:cNvPr id="36" name="roundRect 3"/>
          <p:cNvSpPr/>
          <p:nvPr/>
        </p:nvSpPr>
        <p:spPr>
          <a:xfrm>
            <a:off x="711200" y="5740400"/>
            <a:ext cx="10769600" cy="508000"/>
          </a:xfrm>
          <a:prstGeom prst="roundRect">
            <a:avLst>
              <a:gd fmla="val 50000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24"/>
          <p:cNvSpPr/>
          <p:nvPr/>
        </p:nvSpPr>
        <p:spPr>
          <a:xfrm>
            <a:off x="3390900" y="5867400"/>
            <a:ext cx="5410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6000"/>
              </a:lnSpc>
              <a:buNone/>
            </a:pPr>
            <a:r>
              <a:rPr lang="zh-CN" sz="15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本课一句话：认证、权限、CRUD，组成后端可用的第一副骨架</a:t>
            </a:r>
          </a:p>
        </p:txBody>
      </p:sp>
      <p:sp>
        <p:nvSpPr>
          <p:cNvPr id="38" name="rect 25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12700">
          <a:solidFill>
            <a:srgbClr val="4472C4">
              <a:alpha val="100000"/>
            </a:srgbClr>
          </a:solidFill>
        </a:ln>
        <a:ln w="19050">
          <a:solidFill>
            <a:srgbClr val="44546A">
              <a:alpha val="100000"/>
            </a:srgbClr>
          </a:solidFill>
        </a:ln>
        <a:ln w="28575">
          <a:solidFill>
            <a:srgbClr val="000000">
              <a:alpha val="100000"/>
            </a:srgbClr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7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认证与核心业务API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认证与核心业务API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