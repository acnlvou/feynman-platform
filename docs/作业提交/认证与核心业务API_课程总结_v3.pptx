
<file path=[Content_Types].xml><?xml version="1.0" encoding="utf-8"?>
<Types xmlns="http://schemas.openxmlformats.org/package/2006/content-types">
  <Default Extension="bmp" ContentType="image/bmp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ebp" ContentType="image/webp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92024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subtitle"/>
          <p:cNvSpPr/>
          <p:nvPr>
            <p:ph type="subTitle"/>
          </p:nvPr>
        </p:nvSpPr>
        <p:spPr>
          <a:xfrm>
            <a:off x="609600" y="339344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"/>
          <p:cNvSpPr/>
          <p:nvPr>
            <p:ph type="body"/>
          </p:nvPr>
        </p:nvSpPr>
        <p:spPr>
          <a:xfrm>
            <a:off x="609600" y="1625600"/>
            <a:ext cx="109728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7145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"/>
          <p:cNvSpPr/>
          <p:nvPr>
            <p:ph type="body"/>
          </p:nvPr>
        </p:nvSpPr>
        <p:spPr>
          <a:xfrm>
            <a:off x="609600" y="31877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-left"/>
          <p:cNvSpPr/>
          <p:nvPr>
            <p:ph type="body" idx="1"/>
          </p:nvPr>
        </p:nvSpPr>
        <p:spPr>
          <a:xfrm>
            <a:off x="6096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body-right"/>
          <p:cNvSpPr/>
          <p:nvPr>
            <p:ph type="body" idx="2"/>
          </p:nvPr>
        </p:nvSpPr>
        <p:spPr>
          <a:xfrm>
            <a:off x="62230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-left"/>
          <p:cNvSpPr/>
          <p:nvPr>
            <p:ph type="body" idx="1"/>
          </p:nvPr>
        </p:nvSpPr>
        <p:spPr>
          <a:xfrm>
            <a:off x="6096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text-right"/>
          <p:cNvSpPr/>
          <p:nvPr>
            <p:ph type="body" idx="2"/>
          </p:nvPr>
        </p:nvSpPr>
        <p:spPr>
          <a:xfrm>
            <a:off x="62230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5" name="ph-body-left"/>
          <p:cNvSpPr/>
          <p:nvPr>
            <p:ph type="body" idx="1"/>
          </p:nvPr>
        </p:nvSpPr>
        <p:spPr>
          <a:xfrm>
            <a:off x="6096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6" name="ph-body-right"/>
          <p:cNvSpPr/>
          <p:nvPr>
            <p:ph type="body" idx="2"/>
          </p:nvPr>
        </p:nvSpPr>
        <p:spPr>
          <a:xfrm>
            <a:off x="62230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picture"/>
          <p:cNvSpPr/>
          <p:nvPr>
            <p:ph type="pic"/>
          </p:nvPr>
        </p:nvSpPr>
        <p:spPr>
          <a:xfrm>
            <a:off x="609600" y="406400"/>
            <a:ext cx="10972800" cy="4927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caption"/>
          <p:cNvSpPr/>
          <p:nvPr>
            <p:ph type="body"/>
          </p:nvPr>
        </p:nvSpPr>
        <p:spPr>
          <a:xfrm>
            <a:off x="609600" y="5537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9144000" y="0"/>
            <a:ext cx="3048000" cy="6858000"/>
          </a:xfrm>
          <a:custGeom>
            <a:avLst/>
            <a:gdLst/>
            <a:ahLst/>
            <a:cxnLst/>
            <a:rect l="0" t="0" r="0" b="0"/>
            <a:pathLst>
              <a:path w="240" h="540">
                <a:moveTo>
                  <a:pt x="0" y="0"/>
                </a:moveTo>
                <a:lnTo>
                  <a:pt x="240" y="0"/>
                </a:lnTo>
                <a:lnTo>
                  <a:pt x="240" y="540"/>
                </a:lnTo>
                <a:lnTo>
                  <a:pt x="120" y="540"/>
                </a:lnTo>
                <a:cubicBezTo>
                  <a:pt x="120" y="320"/>
                  <a:pt x="50" y="180"/>
                  <a:pt x="0" y="0"/>
                </a:cubicBezTo>
                <a:close/>
              </a:path>
            </a:pathLst>
          </a:custGeom>
          <a:solidFill>
            <a:srgbClr val="12365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9982200" y="0"/>
            <a:ext cx="939800" cy="3810000"/>
          </a:xfrm>
          <a:custGeom>
            <a:avLst/>
            <a:gdLst/>
            <a:ahLst/>
            <a:cxnLst/>
            <a:rect l="0" t="0" r="0" b="0"/>
            <a:pathLst>
              <a:path w="74" h="300">
                <a:moveTo>
                  <a:pt x="0" y="0"/>
                </a:moveTo>
                <a:cubicBezTo>
                  <a:pt x="64" y="110"/>
                  <a:pt x="74" y="210"/>
                  <a:pt x="64" y="300"/>
                </a:cubicBezTo>
              </a:path>
            </a:pathLst>
          </a:custGeom>
          <a:noFill/>
          <a:ln w="25400">
            <a:solidFill>
              <a:srgbClr val="1BA6A6">
                <a:alpha val="80000"/>
              </a:srgbClr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5" name="rect 4"/>
          <p:cNvSpPr/>
          <p:nvPr/>
        </p:nvSpPr>
        <p:spPr>
          <a:xfrm>
            <a:off x="10566400" y="0"/>
            <a:ext cx="965708" cy="4318000"/>
          </a:xfrm>
          <a:custGeom>
            <a:avLst/>
            <a:gdLst/>
            <a:ahLst/>
            <a:cxnLst/>
            <a:rect l="0" t="0" r="0" b="0"/>
            <a:pathLst>
              <a:path w="76" h="340">
                <a:moveTo>
                  <a:pt x="0" y="0"/>
                </a:moveTo>
                <a:lnTo>
                  <a:pt x="3" y="4"/>
                </a:lnTo>
                <a:moveTo>
                  <a:pt x="7" y="11"/>
                </a:moveTo>
                <a:lnTo>
                  <a:pt x="7" y="11"/>
                </a:lnTo>
                <a:lnTo>
                  <a:pt x="10" y="15"/>
                </a:lnTo>
                <a:moveTo>
                  <a:pt x="14" y="22"/>
                </a:moveTo>
                <a:lnTo>
                  <a:pt x="14" y="22"/>
                </a:lnTo>
                <a:lnTo>
                  <a:pt x="16" y="26"/>
                </a:lnTo>
                <a:moveTo>
                  <a:pt x="20" y="33"/>
                </a:moveTo>
                <a:lnTo>
                  <a:pt x="20" y="33"/>
                </a:lnTo>
                <a:lnTo>
                  <a:pt x="23" y="38"/>
                </a:lnTo>
                <a:moveTo>
                  <a:pt x="26" y="45"/>
                </a:moveTo>
                <a:lnTo>
                  <a:pt x="29" y="49"/>
                </a:lnTo>
                <a:moveTo>
                  <a:pt x="32" y="56"/>
                </a:moveTo>
                <a:lnTo>
                  <a:pt x="34" y="61"/>
                </a:lnTo>
                <a:lnTo>
                  <a:pt x="34" y="61"/>
                </a:lnTo>
                <a:moveTo>
                  <a:pt x="38" y="68"/>
                </a:moveTo>
                <a:lnTo>
                  <a:pt x="39" y="72"/>
                </a:lnTo>
                <a:lnTo>
                  <a:pt x="40" y="73"/>
                </a:lnTo>
                <a:moveTo>
                  <a:pt x="43" y="80"/>
                </a:moveTo>
                <a:lnTo>
                  <a:pt x="44" y="82"/>
                </a:lnTo>
                <a:lnTo>
                  <a:pt x="45" y="85"/>
                </a:lnTo>
                <a:moveTo>
                  <a:pt x="48" y="92"/>
                </a:moveTo>
                <a:lnTo>
                  <a:pt x="48" y="93"/>
                </a:lnTo>
                <a:lnTo>
                  <a:pt x="50" y="97"/>
                </a:lnTo>
                <a:moveTo>
                  <a:pt x="52" y="104"/>
                </a:moveTo>
                <a:lnTo>
                  <a:pt x="54" y="109"/>
                </a:lnTo>
                <a:moveTo>
                  <a:pt x="56" y="117"/>
                </a:moveTo>
                <a:lnTo>
                  <a:pt x="57" y="120"/>
                </a:lnTo>
                <a:lnTo>
                  <a:pt x="58" y="121"/>
                </a:lnTo>
                <a:moveTo>
                  <a:pt x="60" y="129"/>
                </a:moveTo>
                <a:lnTo>
                  <a:pt x="61" y="130"/>
                </a:lnTo>
                <a:lnTo>
                  <a:pt x="62" y="134"/>
                </a:lnTo>
                <a:moveTo>
                  <a:pt x="64" y="142"/>
                </a:moveTo>
                <a:lnTo>
                  <a:pt x="65" y="146"/>
                </a:lnTo>
                <a:lnTo>
                  <a:pt x="65" y="147"/>
                </a:lnTo>
                <a:moveTo>
                  <a:pt x="67" y="154"/>
                </a:moveTo>
                <a:lnTo>
                  <a:pt x="67" y="157"/>
                </a:lnTo>
                <a:lnTo>
                  <a:pt x="68" y="159"/>
                </a:lnTo>
                <a:moveTo>
                  <a:pt x="69" y="167"/>
                </a:moveTo>
                <a:lnTo>
                  <a:pt x="70" y="172"/>
                </a:lnTo>
                <a:moveTo>
                  <a:pt x="71" y="180"/>
                </a:moveTo>
                <a:lnTo>
                  <a:pt x="72" y="183"/>
                </a:lnTo>
                <a:lnTo>
                  <a:pt x="72" y="185"/>
                </a:lnTo>
                <a:moveTo>
                  <a:pt x="73" y="193"/>
                </a:moveTo>
                <a:lnTo>
                  <a:pt x="73" y="193"/>
                </a:lnTo>
                <a:lnTo>
                  <a:pt x="74" y="198"/>
                </a:lnTo>
                <a:moveTo>
                  <a:pt x="74" y="206"/>
                </a:moveTo>
                <a:lnTo>
                  <a:pt x="75" y="209"/>
                </a:lnTo>
                <a:lnTo>
                  <a:pt x="75" y="211"/>
                </a:lnTo>
                <a:moveTo>
                  <a:pt x="75" y="219"/>
                </a:moveTo>
                <a:lnTo>
                  <a:pt x="75" y="219"/>
                </a:lnTo>
                <a:lnTo>
                  <a:pt x="76" y="224"/>
                </a:lnTo>
                <a:moveTo>
                  <a:pt x="76" y="232"/>
                </a:moveTo>
                <a:lnTo>
                  <a:pt x="76" y="235"/>
                </a:lnTo>
                <a:lnTo>
                  <a:pt x="76" y="237"/>
                </a:lnTo>
                <a:moveTo>
                  <a:pt x="76" y="245"/>
                </a:moveTo>
                <a:lnTo>
                  <a:pt x="76" y="245"/>
                </a:lnTo>
                <a:lnTo>
                  <a:pt x="76" y="250"/>
                </a:lnTo>
                <a:moveTo>
                  <a:pt x="76" y="258"/>
                </a:moveTo>
                <a:lnTo>
                  <a:pt x="76" y="261"/>
                </a:lnTo>
                <a:lnTo>
                  <a:pt x="76" y="263"/>
                </a:lnTo>
                <a:moveTo>
                  <a:pt x="75" y="271"/>
                </a:moveTo>
                <a:lnTo>
                  <a:pt x="75" y="271"/>
                </a:lnTo>
                <a:lnTo>
                  <a:pt x="75" y="276"/>
                </a:lnTo>
                <a:moveTo>
                  <a:pt x="75" y="284"/>
                </a:moveTo>
                <a:lnTo>
                  <a:pt x="74" y="287"/>
                </a:lnTo>
                <a:lnTo>
                  <a:pt x="74" y="289"/>
                </a:lnTo>
                <a:moveTo>
                  <a:pt x="74" y="297"/>
                </a:moveTo>
                <a:lnTo>
                  <a:pt x="73" y="298"/>
                </a:lnTo>
                <a:lnTo>
                  <a:pt x="73" y="302"/>
                </a:lnTo>
                <a:moveTo>
                  <a:pt x="72" y="310"/>
                </a:moveTo>
                <a:lnTo>
                  <a:pt x="72" y="313"/>
                </a:lnTo>
                <a:lnTo>
                  <a:pt x="72" y="314"/>
                </a:lnTo>
                <a:moveTo>
                  <a:pt x="71" y="322"/>
                </a:moveTo>
                <a:lnTo>
                  <a:pt x="70" y="324"/>
                </a:lnTo>
                <a:lnTo>
                  <a:pt x="70" y="327"/>
                </a:lnTo>
                <a:moveTo>
                  <a:pt x="69" y="335"/>
                </a:moveTo>
                <a:lnTo>
                  <a:pt x="68" y="340"/>
                </a:lnTo>
              </a:path>
            </a:pathLst>
          </a:custGeom>
          <a:noFill/>
          <a:ln w="25400">
            <a:solidFill>
              <a:srgbClr val="FFB454">
                <a:alpha val="80000"/>
              </a:srgbClr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6" name="roundRect 1"/>
          <p:cNvSpPr/>
          <p:nvPr/>
        </p:nvSpPr>
        <p:spPr>
          <a:xfrm>
            <a:off x="9842500" y="1536700"/>
            <a:ext cx="787400" cy="736600"/>
          </a:xfrm>
          <a:prstGeom prst="roundRect">
            <a:avLst>
              <a:gd fmla="val 20690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9982200" y="1003300"/>
            <a:ext cx="508000" cy="533400"/>
          </a:xfrm>
          <a:custGeom>
            <a:avLst/>
            <a:gdLst/>
            <a:ahLst/>
            <a:cxnLst/>
            <a:rect l="0" t="0" r="0" b="0"/>
            <a:pathLst>
              <a:path w="40" h="42">
                <a:moveTo>
                  <a:pt x="0" y="42"/>
                </a:move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0" y="9"/>
                  <a:pt x="40" y="20"/>
                </a:cubicBezTo>
                <a:lnTo>
                  <a:pt x="40" y="42"/>
                </a:lnTo>
              </a:path>
            </a:pathLst>
          </a:custGeom>
          <a:noFill/>
          <a:ln cap="rnd" w="101600">
            <a:solidFill>
              <a:srgbClr val="F6F8FC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ellipse 1"/>
          <p:cNvSpPr/>
          <p:nvPr/>
        </p:nvSpPr>
        <p:spPr>
          <a:xfrm>
            <a:off x="10147300" y="1790700"/>
            <a:ext cx="177800" cy="17780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9" name="rect 6"/>
          <p:cNvSpPr/>
          <p:nvPr/>
        </p:nvSpPr>
        <p:spPr>
          <a:xfrm>
            <a:off x="10236200" y="1968500"/>
            <a:ext cx="12700" cy="127000"/>
          </a:xfrm>
          <a:custGeom>
            <a:avLst/>
            <a:gdLst/>
            <a:ahLst/>
            <a:cxnLst/>
            <a:rect l="0" t="0" r="0" b="0"/>
            <a:pathLst>
              <a:path w="1" h="10">
                <a:moveTo>
                  <a:pt x="0" y="0"/>
                </a:moveTo>
                <a:lnTo>
                  <a:pt x="0" y="10"/>
                </a:lnTo>
              </a:path>
            </a:pathLst>
          </a:custGeom>
          <a:solidFill>
            <a:srgbClr val="000000"/>
          </a:solidFill>
          <a:ln cap="rnd" w="63500">
            <a:solidFill>
              <a:srgbClr val="0B1F3A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0" name="rect 7"/>
          <p:cNvSpPr/>
          <p:nvPr/>
        </p:nvSpPr>
        <p:spPr>
          <a:xfrm>
            <a:off x="812800" y="736600"/>
            <a:ext cx="2882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>
                <a:solidFill>
                  <a:srgbClr val="7FD7D2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05 / FRONTEND INTEGRATION</a:t>
            </a:r>
          </a:p>
        </p:txBody>
      </p:sp>
      <p:sp>
        <p:nvSpPr>
          <p:cNvPr id="11" name="roundRect 2"/>
          <p:cNvSpPr/>
          <p:nvPr/>
        </p:nvSpPr>
        <p:spPr>
          <a:xfrm>
            <a:off x="812800" y="1193800"/>
            <a:ext cx="609600" cy="63500"/>
          </a:xfrm>
          <a:prstGeom prst="roundRect">
            <a:avLst>
              <a:gd fmla="val 50000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8"/>
          <p:cNvSpPr/>
          <p:nvPr/>
        </p:nvSpPr>
        <p:spPr>
          <a:xfrm>
            <a:off x="812800" y="1663700"/>
            <a:ext cx="5257800" cy="889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58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让页面真正登录</a:t>
            </a:r>
          </a:p>
        </p:txBody>
      </p:sp>
      <p:sp>
        <p:nvSpPr>
          <p:cNvPr id="13" name="rect 9"/>
          <p:cNvSpPr/>
          <p:nvPr/>
        </p:nvSpPr>
        <p:spPr>
          <a:xfrm>
            <a:off x="863600" y="2730500"/>
            <a:ext cx="3594100" cy="381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  <a:buNone/>
            </a:pPr>
            <a:r>
              <a:rPr lang="zh-CN" sz="2500">
                <a:solidFill>
                  <a:srgbClr val="B9C9D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前后端联调与登录页实现</a:t>
            </a:r>
          </a:p>
        </p:txBody>
      </p:sp>
      <p:sp>
        <p:nvSpPr>
          <p:cNvPr id="14" name="rect 10"/>
          <p:cNvSpPr/>
          <p:nvPr/>
        </p:nvSpPr>
        <p:spPr>
          <a:xfrm>
            <a:off x="863600" y="3390900"/>
            <a:ext cx="23495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800">
                <a:solidFill>
                  <a:srgbClr val="7FD7D2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React + Axios + JWT</a:t>
            </a:r>
          </a:p>
        </p:txBody>
      </p:sp>
      <p:sp>
        <p:nvSpPr>
          <p:cNvPr id="15" name="rect 11"/>
          <p:cNvSpPr/>
          <p:nvPr/>
        </p:nvSpPr>
        <p:spPr>
          <a:xfrm>
            <a:off x="863600" y="4051300"/>
            <a:ext cx="51435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>
                <a:solidFill>
                  <a:srgbClr val="E8EEF5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把静态表单接上真实 API，让登录状态留下来</a:t>
            </a:r>
          </a:p>
        </p:txBody>
      </p:sp>
      <p:sp>
        <p:nvSpPr>
          <p:cNvPr id="16" name="roundRect 3"/>
          <p:cNvSpPr/>
          <p:nvPr/>
        </p:nvSpPr>
        <p:spPr>
          <a:xfrm>
            <a:off x="812800" y="5257800"/>
            <a:ext cx="1752600" cy="609600"/>
          </a:xfrm>
          <a:prstGeom prst="roundRect">
            <a:avLst>
              <a:gd fmla="val 25000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2"/>
          <p:cNvSpPr/>
          <p:nvPr/>
        </p:nvSpPr>
        <p:spPr>
          <a:xfrm>
            <a:off x="1219200" y="5461000"/>
            <a:ext cx="9398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LOGIN UI</a:t>
            </a:r>
          </a:p>
        </p:txBody>
      </p:sp>
      <p:sp>
        <p:nvSpPr>
          <p:cNvPr id="18" name="roundRect 4"/>
          <p:cNvSpPr/>
          <p:nvPr/>
        </p:nvSpPr>
        <p:spPr>
          <a:xfrm>
            <a:off x="2768600" y="5257800"/>
            <a:ext cx="1752600" cy="609600"/>
          </a:xfrm>
          <a:prstGeom prst="roundRect">
            <a:avLst>
              <a:gd fmla="val 25000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3"/>
          <p:cNvSpPr/>
          <p:nvPr/>
        </p:nvSpPr>
        <p:spPr>
          <a:xfrm>
            <a:off x="3200400" y="5461000"/>
            <a:ext cx="8890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API LINK</a:t>
            </a:r>
          </a:p>
        </p:txBody>
      </p:sp>
      <p:sp>
        <p:nvSpPr>
          <p:cNvPr id="20" name="roundRect 5"/>
          <p:cNvSpPr/>
          <p:nvPr/>
        </p:nvSpPr>
        <p:spPr>
          <a:xfrm>
            <a:off x="4724400" y="5257800"/>
            <a:ext cx="1879600" cy="609600"/>
          </a:xfrm>
          <a:prstGeom prst="roundRect">
            <a:avLst>
              <a:gd fmla="val 25000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4"/>
          <p:cNvSpPr/>
          <p:nvPr/>
        </p:nvSpPr>
        <p:spPr>
          <a:xfrm>
            <a:off x="5022850" y="5461000"/>
            <a:ext cx="1282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en-US" sz="1500">
                <a:solidFill>
                  <a:srgbClr val="0B1F3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AUTH STATE</a:t>
            </a:r>
          </a:p>
        </p:txBody>
      </p:sp>
      <p:cxnSp>
        <p:nvCxnSpPr>
          <p:cNvPr id="22" name="line 1"/>
          <p:cNvCxnSpPr/>
          <p:nvPr/>
        </p:nvCxnSpPr>
        <p:spPr>
          <a:xfrm>
            <a:off x="812800" y="6242050"/>
            <a:ext cx="10566400" cy="12700"/>
          </a:xfrm>
          <a:prstGeom prst="line">
            <a:avLst/>
          </a:prstGeom>
          <a:noFill/>
          <a:ln w="12700">
            <a:solidFill>
              <a:srgbClr val="2B587A"/>
            </a:solidFill>
          </a:ln>
        </p:spPr>
      </p:cxnSp>
      <p:sp>
        <p:nvSpPr>
          <p:cNvPr id="23" name="rect 15"/>
          <p:cNvSpPr/>
          <p:nvPr/>
        </p:nvSpPr>
        <p:spPr>
          <a:xfrm>
            <a:off x="812800" y="6362700"/>
            <a:ext cx="2260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91A7BD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费曼学习平台 · 前后端联调</a:t>
            </a:r>
          </a:p>
        </p:txBody>
      </p:sp>
      <p:sp>
        <p:nvSpPr>
          <p:cNvPr id="24" name="rect 16"/>
          <p:cNvSpPr/>
          <p:nvPr/>
        </p:nvSpPr>
        <p:spPr>
          <a:xfrm>
            <a:off x="107315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91A7BD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711200" y="330200"/>
            <a:ext cx="37592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本次主要完成两件事</a:t>
            </a:r>
          </a:p>
        </p:txBody>
      </p:sp>
      <p:sp>
        <p:nvSpPr>
          <p:cNvPr id="5" name="rect 4"/>
          <p:cNvSpPr/>
          <p:nvPr/>
        </p:nvSpPr>
        <p:spPr>
          <a:xfrm>
            <a:off x="711200" y="939800"/>
            <a:ext cx="5003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把前端页面从“能看”推进到“能发请求、能保存状态”。</a:t>
            </a:r>
          </a:p>
        </p:txBody>
      </p:sp>
      <p:sp>
        <p:nvSpPr>
          <p:cNvPr id="6" name="roundRect 1"/>
          <p:cNvSpPr/>
          <p:nvPr/>
        </p:nvSpPr>
        <p:spPr>
          <a:xfrm>
            <a:off x="711200" y="1727200"/>
            <a:ext cx="5029200" cy="2413000"/>
          </a:xfrm>
          <a:prstGeom prst="roundRect">
            <a:avLst>
              <a:gd fmla="val 10526" name="adj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117600" y="1993900"/>
            <a:ext cx="1879600" cy="330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22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01 登录页前端</a:t>
            </a:r>
          </a:p>
        </p:txBody>
      </p:sp>
      <p:sp>
        <p:nvSpPr>
          <p:cNvPr id="8" name="rect 6"/>
          <p:cNvSpPr/>
          <p:nvPr/>
        </p:nvSpPr>
        <p:spPr>
          <a:xfrm>
            <a:off x="1117600" y="2590800"/>
            <a:ext cx="3352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B9C9D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邮箱、密码、提交中状态、错误提示</a:t>
            </a:r>
          </a:p>
        </p:txBody>
      </p:sp>
      <p:sp>
        <p:nvSpPr>
          <p:cNvPr id="9" name="rect 7"/>
          <p:cNvSpPr/>
          <p:nvPr/>
        </p:nvSpPr>
        <p:spPr>
          <a:xfrm>
            <a:off x="1117600" y="3022600"/>
            <a:ext cx="1422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600">
                <a:solidFill>
                  <a:srgbClr val="7FD7D2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LoginPage.jsx</a:t>
            </a:r>
          </a:p>
        </p:txBody>
      </p:sp>
      <p:sp>
        <p:nvSpPr>
          <p:cNvPr id="10" name="roundRect 2"/>
          <p:cNvSpPr/>
          <p:nvPr/>
        </p:nvSpPr>
        <p:spPr>
          <a:xfrm>
            <a:off x="1117600" y="3505200"/>
            <a:ext cx="1498600" cy="63500"/>
          </a:xfrm>
          <a:prstGeom prst="roundRect">
            <a:avLst>
              <a:gd fmla="val 50000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Rect 3"/>
          <p:cNvSpPr/>
          <p:nvPr/>
        </p:nvSpPr>
        <p:spPr>
          <a:xfrm>
            <a:off x="6451600" y="1727200"/>
            <a:ext cx="5029200" cy="2413000"/>
          </a:xfrm>
          <a:prstGeom prst="roundRect">
            <a:avLst>
              <a:gd fmla="val 10526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8"/>
          <p:cNvSpPr/>
          <p:nvPr/>
        </p:nvSpPr>
        <p:spPr>
          <a:xfrm>
            <a:off x="6858000" y="1993900"/>
            <a:ext cx="1930400" cy="330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22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02 前后端联调</a:t>
            </a:r>
          </a:p>
        </p:txBody>
      </p:sp>
      <p:sp>
        <p:nvSpPr>
          <p:cNvPr id="13" name="rect 9"/>
          <p:cNvSpPr/>
          <p:nvPr/>
        </p:nvSpPr>
        <p:spPr>
          <a:xfrm>
            <a:off x="6858000" y="2590800"/>
            <a:ext cx="3581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Axios 请求登录 API，接收并保存 JWT</a:t>
            </a:r>
          </a:p>
        </p:txBody>
      </p:sp>
      <p:sp>
        <p:nvSpPr>
          <p:cNvPr id="14" name="rect 10"/>
          <p:cNvSpPr/>
          <p:nvPr/>
        </p:nvSpPr>
        <p:spPr>
          <a:xfrm>
            <a:off x="6858000" y="3022600"/>
            <a:ext cx="25527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6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client.js · AuthContext.jsx</a:t>
            </a:r>
          </a:p>
        </p:txBody>
      </p:sp>
      <p:sp>
        <p:nvSpPr>
          <p:cNvPr id="15" name="roundRect 4"/>
          <p:cNvSpPr/>
          <p:nvPr/>
        </p:nvSpPr>
        <p:spPr>
          <a:xfrm>
            <a:off x="6858000" y="3505200"/>
            <a:ext cx="1498600" cy="63500"/>
          </a:xfrm>
          <a:prstGeom prst="roundRect">
            <a:avLst>
              <a:gd fmla="val 50000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11"/>
          <p:cNvSpPr/>
          <p:nvPr/>
        </p:nvSpPr>
        <p:spPr>
          <a:xfrm>
            <a:off x="711200" y="4483100"/>
            <a:ext cx="14732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实际改动落点</a:t>
            </a:r>
          </a:p>
        </p:txBody>
      </p:sp>
      <p:sp>
        <p:nvSpPr>
          <p:cNvPr id="17" name="roundRect 5"/>
          <p:cNvSpPr/>
          <p:nvPr/>
        </p:nvSpPr>
        <p:spPr>
          <a:xfrm>
            <a:off x="711200" y="5054600"/>
            <a:ext cx="2413000" cy="5080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 12"/>
          <p:cNvSpPr/>
          <p:nvPr/>
        </p:nvSpPr>
        <p:spPr>
          <a:xfrm>
            <a:off x="965200" y="5194300"/>
            <a:ext cx="1295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LoginPage.jsx</a:t>
            </a:r>
          </a:p>
        </p:txBody>
      </p:sp>
      <p:sp>
        <p:nvSpPr>
          <p:cNvPr id="19" name="roundRect 6"/>
          <p:cNvSpPr/>
          <p:nvPr/>
        </p:nvSpPr>
        <p:spPr>
          <a:xfrm>
            <a:off x="3327400" y="5054600"/>
            <a:ext cx="2413000" cy="5080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 13"/>
          <p:cNvSpPr/>
          <p:nvPr/>
        </p:nvSpPr>
        <p:spPr>
          <a:xfrm>
            <a:off x="3581400" y="5194300"/>
            <a:ext cx="1041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api/client.js</a:t>
            </a:r>
          </a:p>
        </p:txBody>
      </p:sp>
      <p:sp>
        <p:nvSpPr>
          <p:cNvPr id="21" name="roundRect 7"/>
          <p:cNvSpPr/>
          <p:nvPr/>
        </p:nvSpPr>
        <p:spPr>
          <a:xfrm>
            <a:off x="6451600" y="5054600"/>
            <a:ext cx="2413000" cy="5080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 14"/>
          <p:cNvSpPr/>
          <p:nvPr/>
        </p:nvSpPr>
        <p:spPr>
          <a:xfrm>
            <a:off x="6705600" y="5194300"/>
            <a:ext cx="1435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AuthContext.jsx</a:t>
            </a:r>
          </a:p>
        </p:txBody>
      </p:sp>
      <p:sp>
        <p:nvSpPr>
          <p:cNvPr id="23" name="roundRect 8"/>
          <p:cNvSpPr/>
          <p:nvPr/>
        </p:nvSpPr>
        <p:spPr>
          <a:xfrm>
            <a:off x="9067800" y="5054600"/>
            <a:ext cx="2413000" cy="5080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15"/>
          <p:cNvSpPr/>
          <p:nvPr/>
        </p:nvSpPr>
        <p:spPr>
          <a:xfrm>
            <a:off x="9321800" y="5194300"/>
            <a:ext cx="723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App.jsx</a:t>
            </a:r>
          </a:p>
        </p:txBody>
      </p:sp>
      <p:cxnSp>
        <p:nvCxnSpPr>
          <p:cNvPr id="25" name="line 1"/>
          <p:cNvCxnSpPr/>
          <p:nvPr/>
        </p:nvCxnSpPr>
        <p:spPr>
          <a:xfrm>
            <a:off x="711200" y="6242050"/>
            <a:ext cx="10769600" cy="12700"/>
          </a:xfrm>
          <a:prstGeom prst="line">
            <a:avLst/>
          </a:prstGeom>
          <a:noFill/>
          <a:ln w="12700">
            <a:solidFill>
              <a:srgbClr val="DCE5EF"/>
            </a:solidFill>
          </a:ln>
        </p:spPr>
      </p:cxnSp>
      <p:sp>
        <p:nvSpPr>
          <p:cNvPr id="26" name="rect 16"/>
          <p:cNvSpPr/>
          <p:nvPr/>
        </p:nvSpPr>
        <p:spPr>
          <a:xfrm>
            <a:off x="711200" y="6362700"/>
            <a:ext cx="2260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71869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费曼学习平台 · 前后端联调</a:t>
            </a:r>
          </a:p>
        </p:txBody>
      </p:sp>
      <p:sp>
        <p:nvSpPr>
          <p:cNvPr id="27" name="rect 17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71869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711200" y="330200"/>
            <a:ext cx="70104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登录页：从表单到反馈，交互是完整的</a:t>
            </a:r>
          </a:p>
        </p:txBody>
      </p:sp>
      <p:sp>
        <p:nvSpPr>
          <p:cNvPr id="4" name="rect 3"/>
          <p:cNvSpPr/>
          <p:nvPr/>
        </p:nvSpPr>
        <p:spPr>
          <a:xfrm>
            <a:off x="711200" y="952500"/>
            <a:ext cx="67945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不是静态 Demo：提交时会请求 API，失败会给出提示，成功会继续跳转。</a:t>
            </a:r>
          </a:p>
        </p:txBody>
      </p:sp>
      <p:sp>
        <p:nvSpPr>
          <p:cNvPr id="5" name="roundRect 1"/>
          <p:cNvSpPr/>
          <p:nvPr/>
        </p:nvSpPr>
        <p:spPr>
          <a:xfrm>
            <a:off x="711200" y="1676400"/>
            <a:ext cx="5461000" cy="3937000"/>
          </a:xfrm>
          <a:prstGeom prst="roundRect">
            <a:avLst>
              <a:gd fmla="val 7097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Rect 2"/>
          <p:cNvSpPr/>
          <p:nvPr/>
        </p:nvSpPr>
        <p:spPr>
          <a:xfrm>
            <a:off x="1092200" y="2032000"/>
            <a:ext cx="4699000" cy="3225800"/>
          </a:xfrm>
          <a:prstGeom prst="roundRect">
            <a:avLst>
              <a:gd fmla="val 6299" name="adj"/>
            </a:avLst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4"/>
          <p:cNvSpPr/>
          <p:nvPr/>
        </p:nvSpPr>
        <p:spPr>
          <a:xfrm>
            <a:off x="1498600" y="2362200"/>
            <a:ext cx="12446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  <a:buNone/>
            </a:pPr>
            <a:r>
              <a:rPr lang="en-US" sz="1100">
                <a:solidFill>
                  <a:srgbClr val="1BA6A6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WELCOME BACK</a:t>
            </a:r>
          </a:p>
        </p:txBody>
      </p:sp>
      <p:sp>
        <p:nvSpPr>
          <p:cNvPr id="8" name="rect 5"/>
          <p:cNvSpPr/>
          <p:nvPr/>
        </p:nvSpPr>
        <p:spPr>
          <a:xfrm>
            <a:off x="1498600" y="2628900"/>
            <a:ext cx="2641600" cy="381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  <a:buNone/>
            </a:pPr>
            <a:r>
              <a:rPr lang="zh-CN" sz="25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继续你的学习旅程</a:t>
            </a:r>
          </a:p>
        </p:txBody>
      </p:sp>
      <p:sp>
        <p:nvSpPr>
          <p:cNvPr id="9" name="rect 6"/>
          <p:cNvSpPr/>
          <p:nvPr/>
        </p:nvSpPr>
        <p:spPr>
          <a:xfrm>
            <a:off x="1498600" y="3124200"/>
            <a:ext cx="19304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1869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把今天学到的内容讲出来。</a:t>
            </a:r>
          </a:p>
        </p:txBody>
      </p:sp>
      <p:sp>
        <p:nvSpPr>
          <p:cNvPr id="10" name="roundRect 3"/>
          <p:cNvSpPr/>
          <p:nvPr/>
        </p:nvSpPr>
        <p:spPr>
          <a:xfrm>
            <a:off x="1498600" y="3581400"/>
            <a:ext cx="3886200" cy="482600"/>
          </a:xfrm>
          <a:prstGeom prst="roundRect">
            <a:avLst>
              <a:gd fmla="val 21053" name="adj"/>
            </a:avLst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7"/>
          <p:cNvSpPr/>
          <p:nvPr/>
        </p:nvSpPr>
        <p:spPr>
          <a:xfrm>
            <a:off x="1676400" y="3721100"/>
            <a:ext cx="18923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9AA9A8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邮箱 · you@example.com</a:t>
            </a:r>
          </a:p>
        </p:txBody>
      </p:sp>
      <p:sp>
        <p:nvSpPr>
          <p:cNvPr id="12" name="roundRect 4"/>
          <p:cNvSpPr/>
          <p:nvPr/>
        </p:nvSpPr>
        <p:spPr>
          <a:xfrm>
            <a:off x="1498600" y="4191000"/>
            <a:ext cx="3886200" cy="482600"/>
          </a:xfrm>
          <a:prstGeom prst="roundRect">
            <a:avLst>
              <a:gd fmla="val 21053" name="adj"/>
            </a:avLst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8"/>
          <p:cNvSpPr/>
          <p:nvPr/>
        </p:nvSpPr>
        <p:spPr>
          <a:xfrm>
            <a:off x="1676400" y="4330700"/>
            <a:ext cx="1498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9AA9A8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密码 · 输入登录密码</a:t>
            </a:r>
          </a:p>
        </p:txBody>
      </p:sp>
      <p:sp>
        <p:nvSpPr>
          <p:cNvPr id="14" name="roundRect 5"/>
          <p:cNvSpPr/>
          <p:nvPr/>
        </p:nvSpPr>
        <p:spPr>
          <a:xfrm>
            <a:off x="1498600" y="4800600"/>
            <a:ext cx="3886200" cy="355600"/>
          </a:xfrm>
          <a:prstGeom prst="roundRect">
            <a:avLst>
              <a:gd fmla="val 50000" name="adj"/>
            </a:avLst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9"/>
          <p:cNvSpPr/>
          <p:nvPr/>
        </p:nvSpPr>
        <p:spPr>
          <a:xfrm>
            <a:off x="3086100" y="4876800"/>
            <a:ext cx="711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zh-CN" sz="12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登录平台</a:t>
            </a:r>
          </a:p>
        </p:txBody>
      </p:sp>
      <p:sp>
        <p:nvSpPr>
          <p:cNvPr id="16" name="rect 10"/>
          <p:cNvSpPr/>
          <p:nvPr/>
        </p:nvSpPr>
        <p:spPr>
          <a:xfrm>
            <a:off x="6908800" y="1866900"/>
            <a:ext cx="1117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 b="1">
                <a:solidFill>
                  <a:srgbClr val="7FD7D2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页面交互</a:t>
            </a:r>
          </a:p>
        </p:txBody>
      </p:sp>
      <p:sp>
        <p:nvSpPr>
          <p:cNvPr id="17" name="ellipse 1"/>
          <p:cNvSpPr/>
          <p:nvPr/>
        </p:nvSpPr>
        <p:spPr>
          <a:xfrm>
            <a:off x="6946900" y="2590800"/>
            <a:ext cx="279400" cy="2794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8" name="rect 11"/>
          <p:cNvSpPr/>
          <p:nvPr/>
        </p:nvSpPr>
        <p:spPr>
          <a:xfrm>
            <a:off x="7035800" y="2616200"/>
            <a:ext cx="165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1</a:t>
            </a:r>
          </a:p>
        </p:txBody>
      </p:sp>
      <p:sp>
        <p:nvSpPr>
          <p:cNvPr id="19" name="rect 12"/>
          <p:cNvSpPr/>
          <p:nvPr/>
        </p:nvSpPr>
        <p:spPr>
          <a:xfrm>
            <a:off x="7416800" y="2578100"/>
            <a:ext cx="1524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输入邮箱和密码</a:t>
            </a:r>
          </a:p>
        </p:txBody>
      </p:sp>
      <p:sp>
        <p:nvSpPr>
          <p:cNvPr id="20" name="ellipse 2"/>
          <p:cNvSpPr/>
          <p:nvPr/>
        </p:nvSpPr>
        <p:spPr>
          <a:xfrm>
            <a:off x="6946900" y="3251200"/>
            <a:ext cx="279400" cy="2794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1" name="rect 13"/>
          <p:cNvSpPr/>
          <p:nvPr/>
        </p:nvSpPr>
        <p:spPr>
          <a:xfrm>
            <a:off x="7035800" y="3276600"/>
            <a:ext cx="20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2</a:t>
            </a:r>
          </a:p>
        </p:txBody>
      </p:sp>
      <p:sp>
        <p:nvSpPr>
          <p:cNvPr id="22" name="rect 14"/>
          <p:cNvSpPr/>
          <p:nvPr/>
        </p:nvSpPr>
        <p:spPr>
          <a:xfrm>
            <a:off x="7416800" y="3238500"/>
            <a:ext cx="17272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提交中：按钮禁用</a:t>
            </a:r>
          </a:p>
        </p:txBody>
      </p:sp>
      <p:sp>
        <p:nvSpPr>
          <p:cNvPr id="23" name="ellipse 3"/>
          <p:cNvSpPr/>
          <p:nvPr/>
        </p:nvSpPr>
        <p:spPr>
          <a:xfrm>
            <a:off x="6946900" y="3911600"/>
            <a:ext cx="279400" cy="2794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4" name="rect 15"/>
          <p:cNvSpPr/>
          <p:nvPr/>
        </p:nvSpPr>
        <p:spPr>
          <a:xfrm>
            <a:off x="7035800" y="3937000"/>
            <a:ext cx="20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3</a:t>
            </a:r>
          </a:p>
        </p:txBody>
      </p:sp>
      <p:sp>
        <p:nvSpPr>
          <p:cNvPr id="25" name="rect 16"/>
          <p:cNvSpPr/>
          <p:nvPr/>
        </p:nvSpPr>
        <p:spPr>
          <a:xfrm>
            <a:off x="7416800" y="3898900"/>
            <a:ext cx="19685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失败：显示 API 错误</a:t>
            </a:r>
          </a:p>
        </p:txBody>
      </p:sp>
      <p:sp>
        <p:nvSpPr>
          <p:cNvPr id="26" name="ellipse 4"/>
          <p:cNvSpPr/>
          <p:nvPr/>
        </p:nvSpPr>
        <p:spPr>
          <a:xfrm>
            <a:off x="6946900" y="4572000"/>
            <a:ext cx="279400" cy="2794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7" name="rect 17"/>
          <p:cNvSpPr/>
          <p:nvPr/>
        </p:nvSpPr>
        <p:spPr>
          <a:xfrm>
            <a:off x="7035800" y="4597400"/>
            <a:ext cx="20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4</a:t>
            </a:r>
          </a:p>
        </p:txBody>
      </p:sp>
      <p:sp>
        <p:nvSpPr>
          <p:cNvPr id="28" name="rect 18"/>
          <p:cNvSpPr/>
          <p:nvPr/>
        </p:nvSpPr>
        <p:spPr>
          <a:xfrm>
            <a:off x="7416800" y="4559300"/>
            <a:ext cx="1930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成功：跳转学习空间</a:t>
            </a:r>
          </a:p>
        </p:txBody>
      </p:sp>
      <p:sp>
        <p:nvSpPr>
          <p:cNvPr id="29" name="rect 19"/>
          <p:cNvSpPr/>
          <p:nvPr/>
        </p:nvSpPr>
        <p:spPr>
          <a:xfrm>
            <a:off x="711200" y="5930900"/>
            <a:ext cx="586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对应实现：form submit · submitting · getApiErrorMessage · navigate</a:t>
            </a:r>
          </a:p>
        </p:txBody>
      </p:sp>
      <p:sp>
        <p:nvSpPr>
          <p:cNvPr id="30" name="rect 20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91A7BD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711200" y="330200"/>
            <a:ext cx="53848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一次登录请求，完整走过四层</a:t>
            </a:r>
          </a:p>
        </p:txBody>
      </p:sp>
      <p:sp>
        <p:nvSpPr>
          <p:cNvPr id="5" name="rect 4"/>
          <p:cNvSpPr/>
          <p:nvPr/>
        </p:nvSpPr>
        <p:spPr>
          <a:xfrm>
            <a:off x="711200" y="939800"/>
            <a:ext cx="55499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页面只负责采集输入；状态和 Token 由 Context 统一管理。</a:t>
            </a:r>
          </a:p>
        </p:txBody>
      </p:sp>
      <p:sp>
        <p:nvSpPr>
          <p:cNvPr id="6" name="roundRect 1"/>
          <p:cNvSpPr/>
          <p:nvPr/>
        </p:nvSpPr>
        <p:spPr>
          <a:xfrm>
            <a:off x="711200" y="1955800"/>
            <a:ext cx="2362200" cy="1422400"/>
          </a:xfrm>
          <a:prstGeom prst="roundRect">
            <a:avLst>
              <a:gd fmla="val 16071" name="adj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016000" y="2247900"/>
            <a:ext cx="15621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① LoginPage</a:t>
            </a:r>
          </a:p>
        </p:txBody>
      </p:sp>
      <p:sp>
        <p:nvSpPr>
          <p:cNvPr id="8" name="rect 6"/>
          <p:cNvSpPr/>
          <p:nvPr/>
        </p:nvSpPr>
        <p:spPr>
          <a:xfrm>
            <a:off x="1016000" y="2705100"/>
            <a:ext cx="10033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1400">
                <a:solidFill>
                  <a:srgbClr val="B9C9DB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login(form)</a:t>
            </a:r>
          </a:p>
        </p:txBody>
      </p:sp>
      <p:sp>
        <p:nvSpPr>
          <p:cNvPr id="9" name="rect 7"/>
          <p:cNvSpPr/>
          <p:nvPr/>
        </p:nvSpPr>
        <p:spPr>
          <a:xfrm>
            <a:off x="3200400" y="2667000"/>
            <a:ext cx="431800" cy="12700"/>
          </a:xfrm>
          <a:custGeom>
            <a:avLst/>
            <a:gdLst/>
            <a:ahLst/>
            <a:cxnLst/>
            <a:rect l="0" t="0" r="0" b="0"/>
            <a:pathLst>
              <a:path w="34" h="1">
                <a:moveTo>
                  <a:pt x="0" y="0"/>
                </a:moveTo>
                <a:lnTo>
                  <a:pt x="34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0" name="rect 8"/>
          <p:cNvSpPr/>
          <p:nvPr/>
        </p:nvSpPr>
        <p:spPr>
          <a:xfrm>
            <a:off x="3556000" y="25527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1" name="roundRect 2"/>
          <p:cNvSpPr/>
          <p:nvPr/>
        </p:nvSpPr>
        <p:spPr>
          <a:xfrm>
            <a:off x="3784600" y="1955800"/>
            <a:ext cx="2362200" cy="1422400"/>
          </a:xfrm>
          <a:prstGeom prst="roundRect">
            <a:avLst>
              <a:gd fmla="val 16071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9"/>
          <p:cNvSpPr/>
          <p:nvPr/>
        </p:nvSpPr>
        <p:spPr>
          <a:xfrm>
            <a:off x="4089400" y="2247900"/>
            <a:ext cx="17653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8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② AuthContext</a:t>
            </a:r>
          </a:p>
        </p:txBody>
      </p:sp>
      <p:sp>
        <p:nvSpPr>
          <p:cNvPr id="13" name="rect 10"/>
          <p:cNvSpPr/>
          <p:nvPr/>
        </p:nvSpPr>
        <p:spPr>
          <a:xfrm>
            <a:off x="4089400" y="2705100"/>
            <a:ext cx="1168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调用登录方法</a:t>
            </a:r>
          </a:p>
        </p:txBody>
      </p:sp>
      <p:sp>
        <p:nvSpPr>
          <p:cNvPr id="14" name="rect 11"/>
          <p:cNvSpPr/>
          <p:nvPr/>
        </p:nvSpPr>
        <p:spPr>
          <a:xfrm>
            <a:off x="6273800" y="2667000"/>
            <a:ext cx="431800" cy="12700"/>
          </a:xfrm>
          <a:custGeom>
            <a:avLst/>
            <a:gdLst/>
            <a:ahLst/>
            <a:cxnLst/>
            <a:rect l="0" t="0" r="0" b="0"/>
            <a:pathLst>
              <a:path w="34" h="1">
                <a:moveTo>
                  <a:pt x="0" y="0"/>
                </a:moveTo>
                <a:lnTo>
                  <a:pt x="34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5" name="rect 12"/>
          <p:cNvSpPr/>
          <p:nvPr/>
        </p:nvSpPr>
        <p:spPr>
          <a:xfrm>
            <a:off x="6629400" y="25527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6" name="roundRect 3"/>
          <p:cNvSpPr/>
          <p:nvPr/>
        </p:nvSpPr>
        <p:spPr>
          <a:xfrm>
            <a:off x="6858000" y="1955800"/>
            <a:ext cx="2362200" cy="1422400"/>
          </a:xfrm>
          <a:prstGeom prst="roundRect">
            <a:avLst>
              <a:gd fmla="val 16071" name="adj"/>
            </a:avLst>
          </a:prstGeom>
          <a:solidFill>
            <a:srgbClr val="123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3"/>
          <p:cNvSpPr/>
          <p:nvPr/>
        </p:nvSpPr>
        <p:spPr>
          <a:xfrm>
            <a:off x="7162800" y="2247900"/>
            <a:ext cx="10033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③ Axios</a:t>
            </a:r>
          </a:p>
        </p:txBody>
      </p:sp>
      <p:sp>
        <p:nvSpPr>
          <p:cNvPr id="18" name="rect 14"/>
          <p:cNvSpPr/>
          <p:nvPr/>
        </p:nvSpPr>
        <p:spPr>
          <a:xfrm>
            <a:off x="7162800" y="2705100"/>
            <a:ext cx="1651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1400">
                <a:solidFill>
                  <a:srgbClr val="B9C9DB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POST /users/login</a:t>
            </a:r>
          </a:p>
        </p:txBody>
      </p:sp>
      <p:sp>
        <p:nvSpPr>
          <p:cNvPr id="19" name="rect 15"/>
          <p:cNvSpPr/>
          <p:nvPr/>
        </p:nvSpPr>
        <p:spPr>
          <a:xfrm>
            <a:off x="9347200" y="2667000"/>
            <a:ext cx="431800" cy="12700"/>
          </a:xfrm>
          <a:custGeom>
            <a:avLst/>
            <a:gdLst/>
            <a:ahLst/>
            <a:cxnLst/>
            <a:rect l="0" t="0" r="0" b="0"/>
            <a:pathLst>
              <a:path w="34" h="1">
                <a:moveTo>
                  <a:pt x="0" y="0"/>
                </a:moveTo>
                <a:lnTo>
                  <a:pt x="34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0" name="rect 16"/>
          <p:cNvSpPr/>
          <p:nvPr/>
        </p:nvSpPr>
        <p:spPr>
          <a:xfrm>
            <a:off x="9702800" y="25527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1" name="roundRect 4"/>
          <p:cNvSpPr/>
          <p:nvPr/>
        </p:nvSpPr>
        <p:spPr>
          <a:xfrm>
            <a:off x="9931400" y="1955800"/>
            <a:ext cx="1549400" cy="1422400"/>
          </a:xfrm>
          <a:prstGeom prst="roundRect">
            <a:avLst>
              <a:gd fmla="val 16071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 17"/>
          <p:cNvSpPr/>
          <p:nvPr/>
        </p:nvSpPr>
        <p:spPr>
          <a:xfrm>
            <a:off x="10160000" y="2247900"/>
            <a:ext cx="8636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④ 后端</a:t>
            </a:r>
          </a:p>
        </p:txBody>
      </p:sp>
      <p:sp>
        <p:nvSpPr>
          <p:cNvPr id="23" name="rect 18"/>
          <p:cNvSpPr/>
          <p:nvPr/>
        </p:nvSpPr>
        <p:spPr>
          <a:xfrm>
            <a:off x="10160000" y="2705100"/>
            <a:ext cx="977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14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data.token</a:t>
            </a:r>
          </a:p>
        </p:txBody>
      </p:sp>
      <p:sp>
        <p:nvSpPr>
          <p:cNvPr id="24" name="roundRect 5"/>
          <p:cNvSpPr/>
          <p:nvPr/>
        </p:nvSpPr>
        <p:spPr>
          <a:xfrm>
            <a:off x="711200" y="3962400"/>
            <a:ext cx="10769600" cy="14224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 19"/>
          <p:cNvSpPr/>
          <p:nvPr/>
        </p:nvSpPr>
        <p:spPr>
          <a:xfrm>
            <a:off x="1066800" y="4178300"/>
            <a:ext cx="10668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9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返回之后</a:t>
            </a:r>
          </a:p>
        </p:txBody>
      </p:sp>
      <p:sp>
        <p:nvSpPr>
          <p:cNvPr id="26" name="rect 20"/>
          <p:cNvSpPr/>
          <p:nvPr/>
        </p:nvSpPr>
        <p:spPr>
          <a:xfrm>
            <a:off x="1066800" y="4686300"/>
            <a:ext cx="68453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保存 Token → </a:t>
            </a:r>
            <a:r>
              <a:rPr lang="en-US" sz="1600" b="1">
                <a:solidFill>
                  <a:srgbClr val="147A7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localStorage</a:t>
            </a:r>
            <a:r>
              <a:rPr lang="zh-CN" sz="16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 → 更新认证状态 → </a:t>
            </a:r>
            <a:r>
              <a:rPr lang="en-US" sz="1600" b="1">
                <a:solidFill>
                  <a:srgbClr val="A26711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navigate()</a:t>
            </a:r>
            <a:r>
              <a:rPr lang="zh-CN" sz="16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 跳转学习空间</a:t>
            </a:r>
          </a:p>
        </p:txBody>
      </p:sp>
      <p:sp>
        <p:nvSpPr>
          <p:cNvPr id="27" name="rect 21"/>
          <p:cNvSpPr/>
          <p:nvPr/>
        </p:nvSpPr>
        <p:spPr>
          <a:xfrm>
            <a:off x="711200" y="5930900"/>
            <a:ext cx="62103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实际请求：apiClient.post('/users/login', credentials) · 后端返回 data.token</a:t>
            </a:r>
          </a:p>
        </p:txBody>
      </p:sp>
      <p:sp>
        <p:nvSpPr>
          <p:cNvPr id="28" name="rect 22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71869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711200" y="330200"/>
            <a:ext cx="61976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登录状态：刷新后仍然知道你是谁</a:t>
            </a:r>
          </a:p>
        </p:txBody>
      </p:sp>
      <p:sp>
        <p:nvSpPr>
          <p:cNvPr id="4" name="rect 3"/>
          <p:cNvSpPr/>
          <p:nvPr/>
        </p:nvSpPr>
        <p:spPr>
          <a:xfrm>
            <a:off x="711200" y="952500"/>
            <a:ext cx="5181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四个前端部件协作，把一次登录变成可复用的全局状态。</a:t>
            </a:r>
          </a:p>
        </p:txBody>
      </p:sp>
      <p:sp>
        <p:nvSpPr>
          <p:cNvPr id="5" name="roundRect 1"/>
          <p:cNvSpPr/>
          <p:nvPr/>
        </p:nvSpPr>
        <p:spPr>
          <a:xfrm>
            <a:off x="711200" y="1955800"/>
            <a:ext cx="2336800" cy="1498600"/>
          </a:xfrm>
          <a:prstGeom prst="roundRect">
            <a:avLst>
              <a:gd fmla="val 15254" name="adj"/>
            </a:avLst>
          </a:prstGeom>
          <a:solidFill>
            <a:srgbClr val="123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 4"/>
          <p:cNvSpPr/>
          <p:nvPr/>
        </p:nvSpPr>
        <p:spPr>
          <a:xfrm>
            <a:off x="1016000" y="2222500"/>
            <a:ext cx="14605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AuthContext</a:t>
            </a:r>
          </a:p>
        </p:txBody>
      </p:sp>
      <p:sp>
        <p:nvSpPr>
          <p:cNvPr id="7" name="rect 5"/>
          <p:cNvSpPr/>
          <p:nvPr/>
        </p:nvSpPr>
        <p:spPr>
          <a:xfrm>
            <a:off x="1016000" y="2679700"/>
            <a:ext cx="172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1400">
                <a:solidFill>
                  <a:srgbClr val="A9BED1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token · user · login</a:t>
            </a:r>
          </a:p>
        </p:txBody>
      </p:sp>
      <p:sp>
        <p:nvSpPr>
          <p:cNvPr id="8" name="rect 6"/>
          <p:cNvSpPr/>
          <p:nvPr/>
        </p:nvSpPr>
        <p:spPr>
          <a:xfrm>
            <a:off x="3175000" y="2705100"/>
            <a:ext cx="406400" cy="12700"/>
          </a:xfrm>
          <a:custGeom>
            <a:avLst/>
            <a:gdLst/>
            <a:ahLst/>
            <a:cxnLst/>
            <a:rect l="0" t="0" r="0" b="0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9" name="rect 7"/>
          <p:cNvSpPr/>
          <p:nvPr/>
        </p:nvSpPr>
        <p:spPr>
          <a:xfrm>
            <a:off x="3505200" y="25908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0" name="roundRect 2"/>
          <p:cNvSpPr/>
          <p:nvPr/>
        </p:nvSpPr>
        <p:spPr>
          <a:xfrm>
            <a:off x="3733800" y="1955800"/>
            <a:ext cx="2336800" cy="1498600"/>
          </a:xfrm>
          <a:prstGeom prst="roundRect">
            <a:avLst>
              <a:gd fmla="val 15254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8"/>
          <p:cNvSpPr/>
          <p:nvPr/>
        </p:nvSpPr>
        <p:spPr>
          <a:xfrm>
            <a:off x="4038600" y="2222500"/>
            <a:ext cx="14732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8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localStorage</a:t>
            </a:r>
          </a:p>
        </p:txBody>
      </p:sp>
      <p:sp>
        <p:nvSpPr>
          <p:cNvPr id="12" name="rect 9"/>
          <p:cNvSpPr/>
          <p:nvPr/>
        </p:nvSpPr>
        <p:spPr>
          <a:xfrm>
            <a:off x="4038600" y="2679700"/>
            <a:ext cx="1358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14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feynman_token</a:t>
            </a:r>
          </a:p>
        </p:txBody>
      </p:sp>
      <p:sp>
        <p:nvSpPr>
          <p:cNvPr id="13" name="rect 10"/>
          <p:cNvSpPr/>
          <p:nvPr/>
        </p:nvSpPr>
        <p:spPr>
          <a:xfrm>
            <a:off x="6197600" y="2705100"/>
            <a:ext cx="406400" cy="12700"/>
          </a:xfrm>
          <a:custGeom>
            <a:avLst/>
            <a:gdLst/>
            <a:ahLst/>
            <a:cxnLst/>
            <a:rect l="0" t="0" r="0" b="0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4" name="rect 11"/>
          <p:cNvSpPr/>
          <p:nvPr/>
        </p:nvSpPr>
        <p:spPr>
          <a:xfrm>
            <a:off x="6527800" y="25908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5" name="roundRect 3"/>
          <p:cNvSpPr/>
          <p:nvPr/>
        </p:nvSpPr>
        <p:spPr>
          <a:xfrm>
            <a:off x="6756400" y="1955800"/>
            <a:ext cx="2336800" cy="1498600"/>
          </a:xfrm>
          <a:prstGeom prst="roundRect">
            <a:avLst>
              <a:gd fmla="val 15254" name="adj"/>
            </a:avLst>
          </a:prstGeom>
          <a:solidFill>
            <a:srgbClr val="123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12"/>
          <p:cNvSpPr/>
          <p:nvPr/>
        </p:nvSpPr>
        <p:spPr>
          <a:xfrm>
            <a:off x="7061200" y="2222500"/>
            <a:ext cx="14605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Axios 拦截器</a:t>
            </a:r>
          </a:p>
        </p:txBody>
      </p:sp>
      <p:sp>
        <p:nvSpPr>
          <p:cNvPr id="17" name="rect 13"/>
          <p:cNvSpPr/>
          <p:nvPr/>
        </p:nvSpPr>
        <p:spPr>
          <a:xfrm>
            <a:off x="7061200" y="2679700"/>
            <a:ext cx="1816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自动加 x-auth-token</a:t>
            </a:r>
          </a:p>
        </p:txBody>
      </p:sp>
      <p:sp>
        <p:nvSpPr>
          <p:cNvPr id="18" name="rect 14"/>
          <p:cNvSpPr/>
          <p:nvPr/>
        </p:nvSpPr>
        <p:spPr>
          <a:xfrm>
            <a:off x="9220200" y="2705100"/>
            <a:ext cx="406400" cy="12700"/>
          </a:xfrm>
          <a:custGeom>
            <a:avLst/>
            <a:gdLst/>
            <a:ahLst/>
            <a:cxnLst/>
            <a:rect l="0" t="0" r="0" b="0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9" name="rect 15"/>
          <p:cNvSpPr/>
          <p:nvPr/>
        </p:nvSpPr>
        <p:spPr>
          <a:xfrm>
            <a:off x="9550400" y="25908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0" name="roundRect 4"/>
          <p:cNvSpPr/>
          <p:nvPr/>
        </p:nvSpPr>
        <p:spPr>
          <a:xfrm>
            <a:off x="9779000" y="1955800"/>
            <a:ext cx="1701800" cy="1498600"/>
          </a:xfrm>
          <a:prstGeom prst="roundRect">
            <a:avLst>
              <a:gd fmla="val 15254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6"/>
          <p:cNvSpPr/>
          <p:nvPr/>
        </p:nvSpPr>
        <p:spPr>
          <a:xfrm>
            <a:off x="9931400" y="2247900"/>
            <a:ext cx="13335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6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Route Guard</a:t>
            </a:r>
          </a:p>
        </p:txBody>
      </p:sp>
      <p:sp>
        <p:nvSpPr>
          <p:cNvPr id="22" name="rect 17"/>
          <p:cNvSpPr/>
          <p:nvPr/>
        </p:nvSpPr>
        <p:spPr>
          <a:xfrm>
            <a:off x="9931400" y="2692400"/>
            <a:ext cx="1397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无 Token → 登录</a:t>
            </a:r>
          </a:p>
        </p:txBody>
      </p:sp>
      <p:sp>
        <p:nvSpPr>
          <p:cNvPr id="23" name="roundRect 5"/>
          <p:cNvSpPr/>
          <p:nvPr/>
        </p:nvSpPr>
        <p:spPr>
          <a:xfrm>
            <a:off x="711200" y="4038600"/>
            <a:ext cx="10769600" cy="1422400"/>
          </a:xfrm>
          <a:prstGeom prst="roundRect">
            <a:avLst>
              <a:gd fmla="val 16071" name="adj"/>
            </a:avLst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18"/>
          <p:cNvSpPr/>
          <p:nvPr/>
        </p:nvSpPr>
        <p:spPr>
          <a:xfrm>
            <a:off x="1066800" y="4254500"/>
            <a:ext cx="10668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9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实现效果</a:t>
            </a:r>
          </a:p>
        </p:txBody>
      </p:sp>
      <p:sp>
        <p:nvSpPr>
          <p:cNvPr id="25" name="rect 19"/>
          <p:cNvSpPr/>
          <p:nvPr/>
        </p:nvSpPr>
        <p:spPr>
          <a:xfrm>
            <a:off x="1066800" y="4762500"/>
            <a:ext cx="68453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登录成功保存 Token；刷新页面恢复状态；访问受保护页面前先检查登录。</a:t>
            </a:r>
          </a:p>
        </p:txBody>
      </p:sp>
      <p:sp>
        <p:nvSpPr>
          <p:cNvPr id="26" name="rect 20"/>
          <p:cNvSpPr/>
          <p:nvPr/>
        </p:nvSpPr>
        <p:spPr>
          <a:xfrm>
            <a:off x="711200" y="5930900"/>
            <a:ext cx="6667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对应实现：AuthContext.jsx · client.js 请求拦截器 · ProtectedRoute.jsx · App.jsx</a:t>
            </a:r>
          </a:p>
        </p:txBody>
      </p:sp>
      <p:sp>
        <p:nvSpPr>
          <p:cNvPr id="27" name="rect 21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91A7BD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711200" y="330200"/>
            <a:ext cx="53848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联调结果：请求已经到达后端</a:t>
            </a:r>
          </a:p>
        </p:txBody>
      </p:sp>
      <p:sp>
        <p:nvSpPr>
          <p:cNvPr id="5" name="rect 4"/>
          <p:cNvSpPr/>
          <p:nvPr/>
        </p:nvSpPr>
        <p:spPr>
          <a:xfrm>
            <a:off x="711200" y="939800"/>
            <a:ext cx="61722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前端工程能构建、开发服务器能访问、API 地址和请求链路已接通。</a:t>
            </a:r>
          </a:p>
        </p:txBody>
      </p:sp>
      <p:sp>
        <p:nvSpPr>
          <p:cNvPr id="6" name="roundRect 1"/>
          <p:cNvSpPr/>
          <p:nvPr/>
        </p:nvSpPr>
        <p:spPr>
          <a:xfrm>
            <a:off x="711200" y="1727200"/>
            <a:ext cx="3225800" cy="2717800"/>
          </a:xfrm>
          <a:prstGeom prst="roundRect">
            <a:avLst>
              <a:gd fmla="val 8411" name="adj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066800" y="2006600"/>
            <a:ext cx="8255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9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已完成</a:t>
            </a:r>
          </a:p>
        </p:txBody>
      </p:sp>
      <p:sp>
        <p:nvSpPr>
          <p:cNvPr id="8" name="ellipse 1"/>
          <p:cNvSpPr/>
          <p:nvPr/>
        </p:nvSpPr>
        <p:spPr>
          <a:xfrm>
            <a:off x="1041400" y="2654300"/>
            <a:ext cx="254000" cy="2540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9" name="rect 6"/>
          <p:cNvSpPr/>
          <p:nvPr/>
        </p:nvSpPr>
        <p:spPr>
          <a:xfrm>
            <a:off x="1117600" y="2679700"/>
            <a:ext cx="2159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10" name="rect 7"/>
          <p:cNvSpPr/>
          <p:nvPr/>
        </p:nvSpPr>
        <p:spPr>
          <a:xfrm>
            <a:off x="1473200" y="2641600"/>
            <a:ext cx="13208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5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npm run build</a:t>
            </a:r>
          </a:p>
        </p:txBody>
      </p:sp>
      <p:sp>
        <p:nvSpPr>
          <p:cNvPr id="11" name="ellipse 2"/>
          <p:cNvSpPr/>
          <p:nvPr/>
        </p:nvSpPr>
        <p:spPr>
          <a:xfrm>
            <a:off x="1041400" y="3187700"/>
            <a:ext cx="254000" cy="2540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2" name="rect 8"/>
          <p:cNvSpPr/>
          <p:nvPr/>
        </p:nvSpPr>
        <p:spPr>
          <a:xfrm>
            <a:off x="1117600" y="3213100"/>
            <a:ext cx="2159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13" name="rect 9"/>
          <p:cNvSpPr/>
          <p:nvPr/>
        </p:nvSpPr>
        <p:spPr>
          <a:xfrm>
            <a:off x="1473200" y="3175000"/>
            <a:ext cx="1600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Vite :5173 可访问</a:t>
            </a:r>
          </a:p>
        </p:txBody>
      </p:sp>
      <p:sp>
        <p:nvSpPr>
          <p:cNvPr id="14" name="ellipse 3"/>
          <p:cNvSpPr/>
          <p:nvPr/>
        </p:nvSpPr>
        <p:spPr>
          <a:xfrm>
            <a:off x="1041400" y="3721100"/>
            <a:ext cx="254000" cy="2540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5" name="rect 10"/>
          <p:cNvSpPr/>
          <p:nvPr/>
        </p:nvSpPr>
        <p:spPr>
          <a:xfrm>
            <a:off x="1117600" y="3746500"/>
            <a:ext cx="2159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16" name="rect 11"/>
          <p:cNvSpPr/>
          <p:nvPr/>
        </p:nvSpPr>
        <p:spPr>
          <a:xfrm>
            <a:off x="1473200" y="3708400"/>
            <a:ext cx="1689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后端 :3000 可访问</a:t>
            </a:r>
          </a:p>
        </p:txBody>
      </p:sp>
      <p:sp>
        <p:nvSpPr>
          <p:cNvPr id="17" name="ellipse 4"/>
          <p:cNvSpPr/>
          <p:nvPr/>
        </p:nvSpPr>
        <p:spPr>
          <a:xfrm>
            <a:off x="1041400" y="4254500"/>
            <a:ext cx="254000" cy="2540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8" name="rect 12"/>
          <p:cNvSpPr/>
          <p:nvPr/>
        </p:nvSpPr>
        <p:spPr>
          <a:xfrm>
            <a:off x="1117600" y="4279900"/>
            <a:ext cx="2159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19" name="rect 13"/>
          <p:cNvSpPr/>
          <p:nvPr/>
        </p:nvSpPr>
        <p:spPr>
          <a:xfrm>
            <a:off x="1473200" y="4241800"/>
            <a:ext cx="1435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请求已到达后端</a:t>
            </a:r>
          </a:p>
        </p:txBody>
      </p:sp>
      <p:sp>
        <p:nvSpPr>
          <p:cNvPr id="20" name="rect 14"/>
          <p:cNvSpPr/>
          <p:nvPr/>
        </p:nvSpPr>
        <p:spPr>
          <a:xfrm>
            <a:off x="4445000" y="3086100"/>
            <a:ext cx="762000" cy="12700"/>
          </a:xfrm>
          <a:custGeom>
            <a:avLst/>
            <a:gdLst/>
            <a:ahLst/>
            <a:cxnLst/>
            <a:rect l="0" t="0" r="0" b="0"/>
            <a:pathLst>
              <a:path w="60" h="1">
                <a:moveTo>
                  <a:pt x="0" y="0"/>
                </a:moveTo>
                <a:lnTo>
                  <a:pt x="60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1" name="rect 15"/>
          <p:cNvSpPr/>
          <p:nvPr/>
        </p:nvSpPr>
        <p:spPr>
          <a:xfrm>
            <a:off x="5130800" y="29718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2" name="roundRect 2"/>
          <p:cNvSpPr/>
          <p:nvPr/>
        </p:nvSpPr>
        <p:spPr>
          <a:xfrm>
            <a:off x="5664200" y="1727200"/>
            <a:ext cx="5816600" cy="2717800"/>
          </a:xfrm>
          <a:prstGeom prst="roundRect">
            <a:avLst>
              <a:gd fmla="val 8411" name="adj"/>
            </a:avLst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 16"/>
          <p:cNvSpPr/>
          <p:nvPr/>
        </p:nvSpPr>
        <p:spPr>
          <a:xfrm>
            <a:off x="6070600" y="2006600"/>
            <a:ext cx="10668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9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当前限制</a:t>
            </a:r>
          </a:p>
        </p:txBody>
      </p:sp>
      <p:sp>
        <p:nvSpPr>
          <p:cNvPr id="24" name="rect 17"/>
          <p:cNvSpPr/>
          <p:nvPr/>
        </p:nvSpPr>
        <p:spPr>
          <a:xfrm>
            <a:off x="6070600" y="2616200"/>
            <a:ext cx="3213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测试环境未提供可用的 MONGO_URI</a:t>
            </a:r>
          </a:p>
        </p:txBody>
      </p:sp>
      <p:sp>
        <p:nvSpPr>
          <p:cNvPr id="25" name="rect 18"/>
          <p:cNvSpPr/>
          <p:nvPr/>
        </p:nvSpPr>
        <p:spPr>
          <a:xfrm>
            <a:off x="6070600" y="3098800"/>
            <a:ext cx="3568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所以真实注册 / 登录暂未完成持久化验证</a:t>
            </a:r>
          </a:p>
        </p:txBody>
      </p:sp>
      <p:sp>
        <p:nvSpPr>
          <p:cNvPr id="26" name="roundRect 3"/>
          <p:cNvSpPr/>
          <p:nvPr/>
        </p:nvSpPr>
        <p:spPr>
          <a:xfrm>
            <a:off x="6070600" y="3708400"/>
            <a:ext cx="4775200" cy="431800"/>
          </a:xfrm>
          <a:prstGeom prst="roundRect">
            <a:avLst>
              <a:gd fmla="val 50000" name="adj"/>
            </a:avLst>
          </a:prstGeom>
          <a:solidFill>
            <a:srgbClr val="FFF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 19"/>
          <p:cNvSpPr/>
          <p:nvPr/>
        </p:nvSpPr>
        <p:spPr>
          <a:xfrm>
            <a:off x="7239000" y="3810000"/>
            <a:ext cx="2438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>
                <a:solidFill>
                  <a:srgbClr val="A2671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联调链路通 · 数据库验收待补</a:t>
            </a:r>
          </a:p>
        </p:txBody>
      </p:sp>
      <p:sp>
        <p:nvSpPr>
          <p:cNvPr id="28" name="rect 20"/>
          <p:cNvSpPr/>
          <p:nvPr/>
        </p:nvSpPr>
        <p:spPr>
          <a:xfrm>
            <a:off x="711200" y="5219700"/>
            <a:ext cx="14732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验证过的路径</a:t>
            </a:r>
          </a:p>
        </p:txBody>
      </p:sp>
      <p:sp>
        <p:nvSpPr>
          <p:cNvPr id="29" name="rect 21"/>
          <p:cNvSpPr/>
          <p:nvPr/>
        </p:nvSpPr>
        <p:spPr>
          <a:xfrm>
            <a:off x="711200" y="5676900"/>
            <a:ext cx="6184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页面 → Axios → /api/users/login → 后端响应 → 前端错误提示 / 跳转</a:t>
            </a:r>
          </a:p>
        </p:txBody>
      </p:sp>
      <p:sp>
        <p:nvSpPr>
          <p:cNvPr id="30" name="rect 22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71869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711200" y="330200"/>
            <a:ext cx="82296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本次成果：登录骨架完成，真实验收待数据库</a:t>
            </a:r>
          </a:p>
        </p:txBody>
      </p:sp>
      <p:sp>
        <p:nvSpPr>
          <p:cNvPr id="4" name="rect 3"/>
          <p:cNvSpPr/>
          <p:nvPr/>
        </p:nvSpPr>
        <p:spPr>
          <a:xfrm>
            <a:off x="711200" y="952500"/>
            <a:ext cx="4978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先把页面、请求、状态串起来，再补上真实数据环境。</a:t>
            </a:r>
          </a:p>
        </p:txBody>
      </p:sp>
      <p:sp>
        <p:nvSpPr>
          <p:cNvPr id="5" name="roundRect 1"/>
          <p:cNvSpPr/>
          <p:nvPr/>
        </p:nvSpPr>
        <p:spPr>
          <a:xfrm>
            <a:off x="711200" y="1676400"/>
            <a:ext cx="5029200" cy="3429000"/>
          </a:xfrm>
          <a:prstGeom prst="roundRect">
            <a:avLst>
              <a:gd fmla="val 6667" name="adj"/>
            </a:avLst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 4"/>
          <p:cNvSpPr/>
          <p:nvPr/>
        </p:nvSpPr>
        <p:spPr>
          <a:xfrm>
            <a:off x="1066800" y="1892300"/>
            <a:ext cx="863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已完成</a:t>
            </a:r>
          </a:p>
        </p:txBody>
      </p:sp>
      <p:sp>
        <p:nvSpPr>
          <p:cNvPr id="7" name="ellipse 1"/>
          <p:cNvSpPr/>
          <p:nvPr/>
        </p:nvSpPr>
        <p:spPr>
          <a:xfrm>
            <a:off x="1016000" y="2565400"/>
            <a:ext cx="254000" cy="2540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rect 5"/>
          <p:cNvSpPr/>
          <p:nvPr/>
        </p:nvSpPr>
        <p:spPr>
          <a:xfrm>
            <a:off x="1092200" y="2590800"/>
            <a:ext cx="2159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9" name="rect 6"/>
          <p:cNvSpPr/>
          <p:nvPr/>
        </p:nvSpPr>
        <p:spPr>
          <a:xfrm>
            <a:off x="1473200" y="2552700"/>
            <a:ext cx="1816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登录页面与表单交互</a:t>
            </a:r>
          </a:p>
        </p:txBody>
      </p:sp>
      <p:sp>
        <p:nvSpPr>
          <p:cNvPr id="10" name="ellipse 2"/>
          <p:cNvSpPr/>
          <p:nvPr/>
        </p:nvSpPr>
        <p:spPr>
          <a:xfrm>
            <a:off x="1016000" y="3098800"/>
            <a:ext cx="254000" cy="2540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1" name="rect 7"/>
          <p:cNvSpPr/>
          <p:nvPr/>
        </p:nvSpPr>
        <p:spPr>
          <a:xfrm>
            <a:off x="1092200" y="3124200"/>
            <a:ext cx="2159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12" name="rect 8"/>
          <p:cNvSpPr/>
          <p:nvPr/>
        </p:nvSpPr>
        <p:spPr>
          <a:xfrm>
            <a:off x="1473200" y="3086100"/>
            <a:ext cx="2019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Axios 登录 API 请求链</a:t>
            </a:r>
          </a:p>
        </p:txBody>
      </p:sp>
      <p:sp>
        <p:nvSpPr>
          <p:cNvPr id="13" name="ellipse 3"/>
          <p:cNvSpPr/>
          <p:nvPr/>
        </p:nvSpPr>
        <p:spPr>
          <a:xfrm>
            <a:off x="1016000" y="3632200"/>
            <a:ext cx="254000" cy="2540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4" name="rect 9"/>
          <p:cNvSpPr/>
          <p:nvPr/>
        </p:nvSpPr>
        <p:spPr>
          <a:xfrm>
            <a:off x="1092200" y="3657600"/>
            <a:ext cx="2159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15" name="rect 10"/>
          <p:cNvSpPr/>
          <p:nvPr/>
        </p:nvSpPr>
        <p:spPr>
          <a:xfrm>
            <a:off x="1473200" y="3619500"/>
            <a:ext cx="2146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Context 保存 JWT 状态</a:t>
            </a:r>
          </a:p>
        </p:txBody>
      </p:sp>
      <p:sp>
        <p:nvSpPr>
          <p:cNvPr id="16" name="ellipse 4"/>
          <p:cNvSpPr/>
          <p:nvPr/>
        </p:nvSpPr>
        <p:spPr>
          <a:xfrm>
            <a:off x="1016000" y="4165600"/>
            <a:ext cx="254000" cy="2540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7" name="rect 11"/>
          <p:cNvSpPr/>
          <p:nvPr/>
        </p:nvSpPr>
        <p:spPr>
          <a:xfrm>
            <a:off x="1092200" y="4191000"/>
            <a:ext cx="2159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18" name="rect 12"/>
          <p:cNvSpPr/>
          <p:nvPr/>
        </p:nvSpPr>
        <p:spPr>
          <a:xfrm>
            <a:off x="1473200" y="4152900"/>
            <a:ext cx="2197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路由守卫与前端构建验证</a:t>
            </a:r>
          </a:p>
        </p:txBody>
      </p:sp>
      <p:sp>
        <p:nvSpPr>
          <p:cNvPr id="19" name="roundRect 2"/>
          <p:cNvSpPr/>
          <p:nvPr/>
        </p:nvSpPr>
        <p:spPr>
          <a:xfrm>
            <a:off x="6248400" y="1676400"/>
            <a:ext cx="5232400" cy="3429000"/>
          </a:xfrm>
          <a:prstGeom prst="roundRect">
            <a:avLst>
              <a:gd fmla="val 6667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 13"/>
          <p:cNvSpPr/>
          <p:nvPr/>
        </p:nvSpPr>
        <p:spPr>
          <a:xfrm>
            <a:off x="6629400" y="1892300"/>
            <a:ext cx="863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下一步</a:t>
            </a:r>
          </a:p>
        </p:txBody>
      </p:sp>
      <p:sp>
        <p:nvSpPr>
          <p:cNvPr id="21" name="ellipse 5"/>
          <p:cNvSpPr/>
          <p:nvPr/>
        </p:nvSpPr>
        <p:spPr>
          <a:xfrm>
            <a:off x="6578600" y="2565400"/>
            <a:ext cx="254000" cy="2540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2" name="rect 14"/>
          <p:cNvSpPr/>
          <p:nvPr/>
        </p:nvSpPr>
        <p:spPr>
          <a:xfrm>
            <a:off x="6654800" y="2590800"/>
            <a:ext cx="1524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!</a:t>
            </a:r>
          </a:p>
        </p:txBody>
      </p:sp>
      <p:sp>
        <p:nvSpPr>
          <p:cNvPr id="23" name="rect 15"/>
          <p:cNvSpPr/>
          <p:nvPr/>
        </p:nvSpPr>
        <p:spPr>
          <a:xfrm>
            <a:off x="7035800" y="2552700"/>
            <a:ext cx="1803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接入可用 MongoDB</a:t>
            </a:r>
          </a:p>
        </p:txBody>
      </p:sp>
      <p:sp>
        <p:nvSpPr>
          <p:cNvPr id="24" name="ellipse 6"/>
          <p:cNvSpPr/>
          <p:nvPr/>
        </p:nvSpPr>
        <p:spPr>
          <a:xfrm>
            <a:off x="6578600" y="3098800"/>
            <a:ext cx="254000" cy="2540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5" name="rect 16"/>
          <p:cNvSpPr/>
          <p:nvPr/>
        </p:nvSpPr>
        <p:spPr>
          <a:xfrm>
            <a:off x="6654800" y="3124200"/>
            <a:ext cx="1524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!</a:t>
            </a:r>
          </a:p>
        </p:txBody>
      </p:sp>
      <p:sp>
        <p:nvSpPr>
          <p:cNvPr id="26" name="rect 17"/>
          <p:cNvSpPr/>
          <p:nvPr/>
        </p:nvSpPr>
        <p:spPr>
          <a:xfrm>
            <a:off x="7035800" y="3086100"/>
            <a:ext cx="2235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完成真实注册 / 登录验收</a:t>
            </a:r>
          </a:p>
        </p:txBody>
      </p:sp>
      <p:sp>
        <p:nvSpPr>
          <p:cNvPr id="27" name="ellipse 7"/>
          <p:cNvSpPr/>
          <p:nvPr/>
        </p:nvSpPr>
        <p:spPr>
          <a:xfrm>
            <a:off x="6578600" y="3632200"/>
            <a:ext cx="254000" cy="2540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8" name="rect 18"/>
          <p:cNvSpPr/>
          <p:nvPr/>
        </p:nvSpPr>
        <p:spPr>
          <a:xfrm>
            <a:off x="6654800" y="3657600"/>
            <a:ext cx="1524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!</a:t>
            </a:r>
          </a:p>
        </p:txBody>
      </p:sp>
      <p:sp>
        <p:nvSpPr>
          <p:cNvPr id="29" name="rect 19"/>
          <p:cNvSpPr/>
          <p:nvPr/>
        </p:nvSpPr>
        <p:spPr>
          <a:xfrm>
            <a:off x="7035800" y="3619500"/>
            <a:ext cx="22225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验证登录后知识点 CRUD</a:t>
            </a:r>
          </a:p>
        </p:txBody>
      </p:sp>
      <p:sp>
        <p:nvSpPr>
          <p:cNvPr id="30" name="ellipse 8"/>
          <p:cNvSpPr/>
          <p:nvPr/>
        </p:nvSpPr>
        <p:spPr>
          <a:xfrm>
            <a:off x="6578600" y="4165600"/>
            <a:ext cx="254000" cy="2540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1" name="rect 20"/>
          <p:cNvSpPr/>
          <p:nvPr/>
        </p:nvSpPr>
        <p:spPr>
          <a:xfrm>
            <a:off x="6654800" y="4191000"/>
            <a:ext cx="1524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!</a:t>
            </a:r>
          </a:p>
        </p:txBody>
      </p:sp>
      <p:sp>
        <p:nvSpPr>
          <p:cNvPr id="32" name="rect 21"/>
          <p:cNvSpPr/>
          <p:nvPr/>
        </p:nvSpPr>
        <p:spPr>
          <a:xfrm>
            <a:off x="7035800" y="4152900"/>
            <a:ext cx="2006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补充编辑与富文本渲染</a:t>
            </a:r>
          </a:p>
        </p:txBody>
      </p:sp>
      <p:sp>
        <p:nvSpPr>
          <p:cNvPr id="33" name="roundRect 3"/>
          <p:cNvSpPr/>
          <p:nvPr/>
        </p:nvSpPr>
        <p:spPr>
          <a:xfrm>
            <a:off x="711200" y="5588000"/>
            <a:ext cx="10769600" cy="558800"/>
          </a:xfrm>
          <a:prstGeom prst="roundRect">
            <a:avLst>
              <a:gd fmla="val 50000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 22"/>
          <p:cNvSpPr/>
          <p:nvPr/>
        </p:nvSpPr>
        <p:spPr>
          <a:xfrm>
            <a:off x="3378200" y="5727700"/>
            <a:ext cx="5435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  <a:buNone/>
            </a:pPr>
            <a:r>
              <a:rPr lang="zh-CN" sz="16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一句话：这次把“登录”从页面按钮做成了可联调的前端功能</a:t>
            </a:r>
          </a:p>
        </p:txBody>
      </p:sp>
      <p:sp>
        <p:nvSpPr>
          <p:cNvPr id="35" name="rect 23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91A7BD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12700">
          <a:solidFill>
            <a:srgbClr val="4472C4">
              <a:alpha val="100000"/>
            </a:srgbClr>
          </a:solidFill>
        </a:ln>
        <a:ln w="19050">
          <a:solidFill>
            <a:srgbClr val="44546A">
              <a:alpha val="100000"/>
            </a:srgbClr>
          </a:solidFill>
        </a:ln>
        <a:ln w="28575">
          <a:solidFill>
            <a:srgbClr val="000000">
              <a:alpha val="100000"/>
            </a:srgbClr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7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认证与核心业务API</vt:lpstr>
    </vt:vector>
  </TitlesOfParts>
  <Company>Univer.ai</Company>
  <LinksUpToDate>false</LinksUpToDate>
  <SharedDoc>false</SharedDoc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认证与核心业务API</dc:title>
  <dc:creator>Univer.ai</dc:creator>
  <cp:lastModifiedBy>Univer.ai</cp:lastModifiedBy>
  <dcterms:created xsi:type="dcterms:W3CDTF">2026-01-01T00:00:00Z</dcterms:created>
  <dcterms:modified xsi:type="dcterms:W3CDTF">2026-01-01T00:00:00Z</dcterms:modified>
</cp:coreProperties>
</file>