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4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E472A38-ECBA-4A21-9B48-189ED0036B84}"/>
              </a:ext>
            </a:extLst>
          </p:cNvPr>
          <p:cNvSpPr txBox="1"/>
          <p:nvPr/>
        </p:nvSpPr>
        <p:spPr>
          <a:xfrm>
            <a:off x="762000" y="619125"/>
            <a:ext cx="10477500" cy="428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900">
                <a:solidFill>
                  <a:srgbClr val="F6F5F0"/>
                </a:solidFill>
                <a:latin typeface="Hiragino Sans GB"/>
                <a:ea typeface="Hiragino Sans GB"/>
              </a:rPr>
              <a:t>第九课  /  学习总结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E1F2BF-9FBC-4C30-9773-5A97A73CDE09}"/>
              </a:ext>
            </a:extLst>
          </p:cNvPr>
          <p:cNvSpPr txBox="1"/>
          <p:nvPr/>
        </p:nvSpPr>
        <p:spPr>
          <a:xfrm>
            <a:off x="762000" y="1857375"/>
            <a:ext cx="10668000" cy="1619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6F5F0"/>
                </a:solidFill>
                <a:latin typeface="Hiragino Sans GB"/>
                <a:ea typeface="Hiragino Sans GB"/>
              </a:rPr>
              <a:t>AI出题与智能测评系统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91D638-38F4-4AE2-8161-06155808B3AD}"/>
              </a:ext>
            </a:extLst>
          </p:cNvPr>
          <p:cNvSpPr txBox="1"/>
          <p:nvPr/>
        </p:nvSpPr>
        <p:spPr>
          <a:xfrm>
            <a:off x="781050" y="3857625"/>
            <a:ext cx="10477500" cy="476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600">
                <a:solidFill>
                  <a:srgbClr val="F6F5F0"/>
                </a:solidFill>
                <a:latin typeface="Hiragino Sans GB"/>
                <a:ea typeface="Hiragino Sans GB"/>
              </a:rPr>
              <a:t>第九课学习总结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1A520C8-A849-4A01-B265-A142818B80C2}"/>
              </a:ext>
            </a:extLst>
          </p:cNvPr>
          <p:cNvSpPr txBox="1"/>
          <p:nvPr/>
        </p:nvSpPr>
        <p:spPr>
          <a:xfrm>
            <a:off x="781050" y="4714875"/>
            <a:ext cx="10477500" cy="133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000">
                <a:solidFill>
                  <a:srgbClr val="F6F5F0"/>
                </a:solidFill>
                <a:latin typeface="Hiragino Sans GB"/>
                <a:ea typeface="Hiragino Sans GB"/>
              </a:rPr>
              <a:t>费曼学习平台｜完成情景演示</a:t>
            </a:r>
            <a:br/>
            <a:r>
              <a:rPr sz="2000">
                <a:solidFill>
                  <a:srgbClr val="F6F5F0"/>
                </a:solidFill>
                <a:latin typeface="Hiragino Sans GB"/>
                <a:ea typeface="Hiragino Sans GB"/>
              </a:rPr>
              <a:t>包含基础流程与简答题挑战任务</a:t>
            </a:r>
            <a:br/>
            <a:r>
              <a:rPr sz="2000">
                <a:solidFill>
                  <a:srgbClr val="F6F5F0"/>
                </a:solidFill>
                <a:latin typeface="Hiragino Sans GB"/>
                <a:ea typeface="Hiragino Sans GB"/>
              </a:rPr>
              <a:t>说明：按已完成设定整理，未核验实际代码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F8648F-51A4-42D5-BEBD-9E7336449601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F6F5F0"/>
                </a:solidFill>
                <a:latin typeface="Hiragino Sans GB"/>
                <a:ea typeface="Hiragino Sans GB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35B18F3-F6CB-4DFB-9551-449FF654FC92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第九课的学习闭环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0E8FFA-B462-4091-A6D8-A93518E68F85}"/>
              </a:ext>
            </a:extLst>
          </p:cNvPr>
          <p:cNvSpPr txBox="1"/>
          <p:nvPr/>
        </p:nvSpPr>
        <p:spPr>
          <a:xfrm>
            <a:off x="685800" y="1714500"/>
            <a:ext cx="10668000" cy="71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6A68"/>
                </a:solidFill>
                <a:latin typeface="Hiragino Sans GB"/>
                <a:ea typeface="Hiragino Sans GB"/>
              </a:rPr>
              <a:t>知识点 → 出题 → 作答 → 反馈 → 复习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E3EB5D-C07D-4481-898F-AB3046922082}"/>
              </a:ext>
            </a:extLst>
          </p:cNvPr>
          <p:cNvSpPr txBox="1"/>
          <p:nvPr/>
        </p:nvSpPr>
        <p:spPr>
          <a:xfrm>
            <a:off x="685800" y="2714625"/>
            <a:ext cx="10668000" cy="3095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知识点内容限定出题范围，难度决定考查深度。</a:t>
            </a:r>
            <a:br/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单选题检验概念辨析，简答题检验解释与应用。</a:t>
            </a:r>
            <a:br/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依据答题反馈安排复习，再次练习验证理解。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0A3CA2-7006-4049-81D4-4169AAF6B8AE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38DBF36-1449-470C-8CAD-8CA20265C652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结构化出题与 Prompt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F4BE55-6EA5-4714-BA20-EA5673637C22}"/>
              </a:ext>
            </a:extLst>
          </p:cNvPr>
          <p:cNvSpPr txBox="1"/>
          <p:nvPr/>
        </p:nvSpPr>
        <p:spPr>
          <a:xfrm>
            <a:off x="6858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输入约束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836A04-20D8-4639-B660-9EDD60E102CB}"/>
              </a:ext>
            </a:extLst>
          </p:cNvPr>
          <p:cNvSpPr txBox="1"/>
          <p:nvPr/>
        </p:nvSpPr>
        <p:spPr>
          <a:xfrm>
            <a:off x="6858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提供知识点内容、题型与难度。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要求题目只围绕给定材料，避免知识点漂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移。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输出限定为 JSON，单选题只设一个正确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选项。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A85DC98-C7EC-494E-B13B-501E16DE7200}"/>
              </a:ext>
            </a:extLst>
          </p:cNvPr>
          <p:cNvSpPr txBox="1"/>
          <p:nvPr/>
        </p:nvSpPr>
        <p:spPr>
          <a:xfrm>
            <a:off x="64389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输出字段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19A070-BC2F-4877-B2FF-CC19C6F6BE9A}"/>
              </a:ext>
            </a:extLst>
          </p:cNvPr>
          <p:cNvSpPr txBox="1"/>
          <p:nvPr/>
        </p:nvSpPr>
        <p:spPr>
          <a:xfrm>
            <a:off x="64389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单选题：type、difficulty、question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、options、answer、explanation。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简答题：question、answer_key_points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后端同时检查字段、类型和允许值。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436CA9-08A6-4658-ACC6-C59BE9448B69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C843F17-ECEA-447D-854F-EA8AF57D2681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前后端接口协作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3A9D3B-B24F-4F42-A81A-760D39046557}"/>
              </a:ext>
            </a:extLst>
          </p:cNvPr>
          <p:cNvSpPr txBox="1"/>
          <p:nvPr/>
        </p:nvSpPr>
        <p:spPr>
          <a:xfrm>
            <a:off x="6858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出题接口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4A9DCA-3FEF-4B22-9A2A-706E4FAD26F9}"/>
              </a:ext>
            </a:extLst>
          </p:cNvPr>
          <p:cNvSpPr txBox="1"/>
          <p:nvPr/>
        </p:nvSpPr>
        <p:spPr>
          <a:xfrm>
            <a:off x="6858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POST /api/ai/generate-question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接收知识点与难度；进阶增加 type。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校验输入后调用模型，解析并校验题目。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A04CA6A-A84B-476B-AF81-0D5317F2AEAE}"/>
              </a:ext>
            </a:extLst>
          </p:cNvPr>
          <p:cNvSpPr txBox="1"/>
          <p:nvPr/>
        </p:nvSpPr>
        <p:spPr>
          <a:xfrm>
            <a:off x="64389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评分接口（进阶）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74428D-9A39-4C55-A702-3F63200E448D}"/>
              </a:ext>
            </a:extLst>
          </p:cNvPr>
          <p:cNvSpPr txBox="1"/>
          <p:nvPr/>
        </p:nvSpPr>
        <p:spPr>
          <a:xfrm>
            <a:off x="64389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POST /api/ai/grade-answer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依据题目、答案要点与学生回答评分。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项目应用应由服务端保存并读取评分依据。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0AF2C14-57B9-49F7-999F-4D46EAD077EB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F6B11E8-6194-4F6F-8BFF-551E63644DA7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答题页面与状态管理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675668D-D2BB-4E70-A096-FD6306A294CB}"/>
              </a:ext>
            </a:extLst>
          </p:cNvPr>
          <p:cNvSpPr txBox="1"/>
          <p:nvPr/>
        </p:nvSpPr>
        <p:spPr>
          <a:xfrm>
            <a:off x="6858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页面需要保存什么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7DFC3E9-6589-439A-BC31-9D945C096B07}"/>
              </a:ext>
            </a:extLst>
          </p:cNvPr>
          <p:cNvSpPr txBox="1"/>
          <p:nvPr/>
        </p:nvSpPr>
        <p:spPr>
          <a:xfrm>
            <a:off x="6858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knowledgePoint：本次学习内容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question / selectedOption：题目与选择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isLoading / result：加载状态与测评结果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5E9AD8-E9A9-42F5-B309-DB80534C0667}"/>
              </a:ext>
            </a:extLst>
          </p:cNvPr>
          <p:cNvSpPr txBox="1"/>
          <p:nvPr/>
        </p:nvSpPr>
        <p:spPr>
          <a:xfrm>
            <a:off x="64389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换题时需要重置什么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EF83FF-9A8B-4651-A098-307ACEFCE6F7}"/>
              </a:ext>
            </a:extLst>
          </p:cNvPr>
          <p:cNvSpPr txBox="1"/>
          <p:nvPr/>
        </p:nvSpPr>
        <p:spPr>
          <a:xfrm>
            <a:off x="64389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清空旧题、旧答案和旧评分。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未作答时拦截提交，处理中禁用重复提交。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出题失败给出提示，并允许重新尝试。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9D0F3B-1D7B-4978-AE53-E8527C99C4CF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B24DB00-558A-4146-B112-3B74F50185F5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单选题判分与简答题评分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625F8F-D242-4C8F-B956-AA0A981AE285}"/>
              </a:ext>
            </a:extLst>
          </p:cNvPr>
          <p:cNvSpPr txBox="1"/>
          <p:nvPr/>
        </p:nvSpPr>
        <p:spPr>
          <a:xfrm>
            <a:off x="6858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基础：确定性判分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692C75-3A16-455D-A640-8A4566588C3F}"/>
              </a:ext>
            </a:extLst>
          </p:cNvPr>
          <p:cNvSpPr txBox="1"/>
          <p:nvPr/>
        </p:nvSpPr>
        <p:spPr>
          <a:xfrm>
            <a:off x="6858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讲义示例在前端比较选项与正确答案。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优点：简单、即时；适合教学演示。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正式测评建议服务端判分，提交前隐藏答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案。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5C4EEC-270F-41C9-82BA-A385D07F1DB1}"/>
              </a:ext>
            </a:extLst>
          </p:cNvPr>
          <p:cNvSpPr txBox="1"/>
          <p:nvPr/>
        </p:nvSpPr>
        <p:spPr>
          <a:xfrm>
            <a:off x="64389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进阶：AI 按要点评分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75B979A-C083-4D73-8559-2D88DDC6FD4E}"/>
              </a:ext>
            </a:extLst>
          </p:cNvPr>
          <p:cNvSpPr txBox="1"/>
          <p:nvPr/>
        </p:nvSpPr>
        <p:spPr>
          <a:xfrm>
            <a:off x="64389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把题目、答案要点与学生回答交给 AI。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按语义判断，允许同义表达和不同表述顺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序。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讲义返回 isCorrect 与 explanation；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数值分为本次自测扩展。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4F68DFE-4359-4120-A63A-1CB00734E469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C2CEA4F-5842-4007-BCBD-53FE8B4EFABF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结果反馈与复习状态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B9F8DD-BBD0-43FB-AA21-67E2332BD125}"/>
              </a:ext>
            </a:extLst>
          </p:cNvPr>
          <p:cNvSpPr txBox="1"/>
          <p:nvPr/>
        </p:nvSpPr>
        <p:spPr>
          <a:xfrm>
            <a:off x="685800" y="1714500"/>
            <a:ext cx="10668000" cy="71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6A68"/>
                </a:solidFill>
                <a:latin typeface="Hiragino Sans GB"/>
                <a:ea typeface="Hiragino Sans GB"/>
              </a:rPr>
              <a:t>回答错误 → 更新 reviewList → 再练习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5B9799-A470-4D1B-845F-DC1D83F06DAA}"/>
              </a:ext>
            </a:extLst>
          </p:cNvPr>
          <p:cNvSpPr txBox="1"/>
          <p:nvPr/>
        </p:nvSpPr>
        <p:spPr>
          <a:xfrm>
            <a:off x="685800" y="2714625"/>
            <a:ext cx="10668000" cy="3095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反馈包含正确性、原因和需要补充的知识点。</a:t>
            </a:r>
            <a:br/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错题触发 reviewList=true，并确认后端保存成功。</a:t>
            </a:r>
            <a:br/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保存失败时提示重试，不能直接显示“已加入复习”。</a:t>
            </a:r>
            <a:br/>
            <a:r>
              <a:rPr sz="2300">
                <a:solidFill>
                  <a:srgbClr val="152B3C"/>
                </a:solidFill>
                <a:latin typeface="Hiragino Sans GB"/>
                <a:ea typeface="Hiragino Sans GB"/>
              </a:rPr>
              <a:t>答对一次不必自动标记 mastered，应先定义掌握规则。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0A18CB4-7ABF-4E12-8A61-F6F19EFEB16E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FFE63B4-4540-4AFB-BD16-4FF160910C94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52B3C"/>
                </a:solidFill>
                <a:latin typeface="Hiragino Sans GB"/>
                <a:ea typeface="Hiragino Sans GB"/>
              </a:rPr>
              <a:t>异常处理与评分边界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71A129-08E8-4D11-AA50-F257D15DF5A0}"/>
              </a:ext>
            </a:extLst>
          </p:cNvPr>
          <p:cNvSpPr txBox="1"/>
          <p:nvPr/>
        </p:nvSpPr>
        <p:spPr>
          <a:xfrm>
            <a:off x="6858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模型与网络异常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469E6EA-1BEA-4EB0-AAEC-0BC9CDD444D5}"/>
              </a:ext>
            </a:extLst>
          </p:cNvPr>
          <p:cNvSpPr txBox="1"/>
          <p:nvPr/>
        </p:nvSpPr>
        <p:spPr>
          <a:xfrm>
            <a:off x="6858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JSON 能解析，还要检查字段和答案合法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性。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处理超时、空结果与格式错误。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失败时保留学生作答，提供可理解的重试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提示。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A40CB0-756C-4861-BE29-E48E3A6B311A}"/>
              </a:ext>
            </a:extLst>
          </p:cNvPr>
          <p:cNvSpPr txBox="1"/>
          <p:nvPr/>
        </p:nvSpPr>
        <p:spPr>
          <a:xfrm>
            <a:off x="6438900" y="1752600"/>
            <a:ext cx="509587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66A68"/>
                </a:solidFill>
                <a:latin typeface="Hiragino Sans GB"/>
                <a:ea typeface="Hiragino Sans GB"/>
              </a:rPr>
              <a:t>评分与数据可信性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5EEAEBB-75EF-4C42-B304-6450D2E83DE3}"/>
              </a:ext>
            </a:extLst>
          </p:cNvPr>
          <p:cNvSpPr txBox="1"/>
          <p:nvPr/>
        </p:nvSpPr>
        <p:spPr>
          <a:xfrm>
            <a:off x="6438900" y="2524125"/>
            <a:ext cx="5095875" cy="3286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模型评分需有要点、理由与复核入口。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不信任前端传来的标准答案和用户编号。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学习材料及学生答案作为数据，避免改变</a:t>
            </a:r>
            <a:br/>
            <a:r>
              <a:rPr sz="2100">
                <a:solidFill>
                  <a:srgbClr val="152B3C"/>
                </a:solidFill>
                <a:latin typeface="Hiragino Sans GB"/>
                <a:ea typeface="Hiragino Sans GB"/>
              </a:rPr>
              <a:t>评分规则。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95C1822-399A-4BB9-A8A8-1C5A2E626410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667885"/>
                </a:solidFill>
                <a:latin typeface="Hiragino Sans GB"/>
                <a:ea typeface="Hiragino Sans GB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999EDD3-0B8A-40E9-A1BD-83F15AFEB2F0}"/>
              </a:ext>
            </a:extLst>
          </p:cNvPr>
          <p:cNvSpPr txBox="1"/>
          <p:nvPr/>
        </p:nvSpPr>
        <p:spPr>
          <a:xfrm>
            <a:off x="666750" y="476250"/>
            <a:ext cx="10858500" cy="857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F6F5F0"/>
                </a:solidFill>
                <a:latin typeface="Hiragino Sans GB"/>
                <a:ea typeface="Hiragino Sans GB"/>
              </a:rPr>
              <a:t>第九课完成情景总结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CA5D89-313D-4A90-B08E-377997E37366}"/>
              </a:ext>
            </a:extLst>
          </p:cNvPr>
          <p:cNvSpPr txBox="1"/>
          <p:nvPr/>
        </p:nvSpPr>
        <p:spPr>
          <a:xfrm>
            <a:off x="685800" y="1714500"/>
            <a:ext cx="10668000" cy="71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6F5F0"/>
                </a:solidFill>
                <a:latin typeface="Hiragino Sans GB"/>
                <a:ea typeface="Hiragino Sans GB"/>
              </a:rPr>
              <a:t>已完成设定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F120496-3109-4A1F-A844-0915DC4D1BE7}"/>
              </a:ext>
            </a:extLst>
          </p:cNvPr>
          <p:cNvSpPr txBox="1"/>
          <p:nvPr/>
        </p:nvSpPr>
        <p:spPr>
          <a:xfrm>
            <a:off x="685800" y="2714625"/>
            <a:ext cx="10668000" cy="3095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300">
                <a:solidFill>
                  <a:srgbClr val="F6F5F0"/>
                </a:solidFill>
                <a:latin typeface="Hiragino Sans GB"/>
                <a:ea typeface="Hiragino Sans GB"/>
              </a:rPr>
              <a:t>基础流程：选择难度、生成单选题、作答判分、错题复习。</a:t>
            </a:r>
            <a:br/>
            <a:r>
              <a:rPr sz="2300">
                <a:solidFill>
                  <a:srgbClr val="F6F5F0"/>
                </a:solidFill>
                <a:latin typeface="Hiragino Sans GB"/>
                <a:ea typeface="Hiragino Sans GB"/>
              </a:rPr>
              <a:t>挑战流程：简答题生成、按答案要点评分、展示解释。</a:t>
            </a:r>
            <a:br/>
            <a:br/>
            <a:r>
              <a:rPr sz="2300">
                <a:solidFill>
                  <a:srgbClr val="F6F5F0"/>
                </a:solidFill>
                <a:latin typeface="Hiragino Sans GB"/>
                <a:ea typeface="Hiragino Sans GB"/>
              </a:rPr>
              <a:t>下一步自测：独立回答 8 题，再按同一量表复评。</a:t>
            </a:r>
            <a:br/>
            <a:r>
              <a:rPr sz="2300">
                <a:solidFill>
                  <a:srgbClr val="F6F5F0"/>
                </a:solidFill>
                <a:latin typeface="Hiragino Sans GB"/>
                <a:ea typeface="Hiragino Sans GB"/>
              </a:rPr>
              <a:t>课程材料中的功能描述为假设完成状态，不作为实际实现或验收证明。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A03BA2-470F-40DD-9FD0-E983EB1797E9}"/>
              </a:ext>
            </a:extLst>
          </p:cNvPr>
          <p:cNvSpPr txBox="1"/>
          <p:nvPr/>
        </p:nvSpPr>
        <p:spPr>
          <a:xfrm>
            <a:off x="10715625" y="6305550"/>
            <a:ext cx="904875" cy="26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F6F5F0"/>
                </a:solidFill>
                <a:latin typeface="Hiragino Sans GB"/>
                <a:ea typeface="Hiragino Sans GB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宽屏</PresentationFormat>
  <Paragraphs>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Hiragino Sans GB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Acnlvou Celestial</cp:lastModifiedBy>
  <cp:revision>1</cp:revision>
  <dcterms:modified xsi:type="dcterms:W3CDTF">2026-10-30T03:26:22Z</dcterms:modified>
</cp:coreProperties>
</file>