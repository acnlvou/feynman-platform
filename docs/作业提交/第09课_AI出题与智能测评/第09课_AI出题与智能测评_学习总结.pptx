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slides/slide1.xml" ContentType="application/vnd.openxmlformats-officedocument.presentationml.slide+xml"/>
  <Override PartName="/ppt/theme/theme1.xml" ContentType="application/vnd.openxmlformats-officedocument.them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sldSz cx="12192000" cy="6858000"/>
  <p:notesSz cx="6858000" cy="9144000"/>
</p:presentation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/>
    <p:bodyStyle/>
    <p:otherStyle/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52B3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>
            <a:extLst>
              <a:ext uri="{FF2B5EF4-FFF2-40B4-BE49-F238E27FC236}">
                <a16:creationId xmlns:a16="http://schemas.microsoft.com/office/drawing/2014/main" id="{8E472A38-ECBA-4A21-9B48-189ED0036B84}"/>
              </a:ext>
            </a:extLst>
          </p:cNvPr>
          <p:cNvSpPr txBox="1"/>
          <p:nvPr/>
        </p:nvSpPr>
        <p:spPr>
          <a:xfrm>
            <a:off x="762000" y="619125"/>
            <a:ext cx="10477500" cy="428625"/>
          </a:xfrm>
          <a:prstGeom prst="rect">
            <a:avLst/>
          </a:prstGeom>
        </p:spPr>
        <p:txBody>
          <a:bodyPr wrap="square" rtlCol="0" lIns="0" tIns="0" rIns="0" bIns="0" anchor="t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</a:pPr>
            <a:r>
              <a:rPr sz="1900">
                <a:solidFill>
                  <a:srgbClr val="F6F5F0"/>
                </a:solidFill>
                <a:latin typeface="Hiragino Sans GB"/>
                <a:ea typeface="Hiragino Sans GB"/>
              </a:rPr>
              <a:t>第九课  /  学习总结</a:t>
            </a: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2CE1F2BF-9FBC-4C30-9773-5A97A73CDE09}"/>
              </a:ext>
            </a:extLst>
          </p:cNvPr>
          <p:cNvSpPr txBox="1"/>
          <p:nvPr/>
        </p:nvSpPr>
        <p:spPr>
          <a:xfrm>
            <a:off x="762000" y="1857375"/>
            <a:ext cx="10668000" cy="1619250"/>
          </a:xfrm>
          <a:prstGeom prst="rect">
            <a:avLst/>
          </a:prstGeom>
        </p:spPr>
        <p:txBody>
          <a:bodyPr wrap="square" rtlCol="0" lIns="0" tIns="0" rIns="0" bIns="0" anchor="t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</a:pPr>
            <a:r>
              <a:rPr sz="4600" b="1">
                <a:solidFill>
                  <a:srgbClr val="F6F5F0"/>
                </a:solidFill>
                <a:latin typeface="Hiragino Sans GB"/>
                <a:ea typeface="Hiragino Sans GB"/>
              </a:rPr>
              <a:t>AI出题与智能测评系统</a:t>
            </a:r>
          </a:p>
        </p:txBody>
      </p:sp>
      <p:sp>
        <p:nvSpPr>
          <p:cNvPr id="5" name="TextBox 5">
            <a:extLst>
              <a:ext uri="{FF2B5EF4-FFF2-40B4-BE49-F238E27FC236}">
                <a16:creationId xmlns:a16="http://schemas.microsoft.com/office/drawing/2014/main" id="{C091D638-38F4-4AE2-8161-06155808B3AD}"/>
              </a:ext>
            </a:extLst>
          </p:cNvPr>
          <p:cNvSpPr txBox="1"/>
          <p:nvPr/>
        </p:nvSpPr>
        <p:spPr>
          <a:xfrm>
            <a:off x="781050" y="3857625"/>
            <a:ext cx="10477500" cy="476250"/>
          </a:xfrm>
          <a:prstGeom prst="rect">
            <a:avLst/>
          </a:prstGeom>
        </p:spPr>
        <p:txBody>
          <a:bodyPr wrap="square" rtlCol="0" lIns="0" tIns="0" rIns="0" bIns="0" anchor="t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</a:pPr>
            <a:r>
              <a:rPr sz="2600">
                <a:solidFill>
                  <a:srgbClr val="F6F5F0"/>
                </a:solidFill>
                <a:latin typeface="Hiragino Sans GB"/>
                <a:ea typeface="Hiragino Sans GB"/>
              </a:rPr>
              <a:t>第九课学习总结</a:t>
            </a:r>
          </a:p>
        </p:txBody>
      </p:sp>
      <p:sp>
        <p:nvSpPr>
          <p:cNvPr id="6" name="TextBox 6">
            <a:extLst>
              <a:ext uri="{FF2B5EF4-FFF2-40B4-BE49-F238E27FC236}">
                <a16:creationId xmlns:a16="http://schemas.microsoft.com/office/drawing/2014/main" id="{31A520C8-A849-4A01-B265-A142818B80C2}"/>
              </a:ext>
            </a:extLst>
          </p:cNvPr>
          <p:cNvSpPr txBox="1"/>
          <p:nvPr/>
        </p:nvSpPr>
        <p:spPr>
          <a:xfrm>
            <a:off x="781050" y="4714875"/>
            <a:ext cx="10477500" cy="1333500"/>
          </a:xfrm>
          <a:prstGeom prst="rect">
            <a:avLst/>
          </a:prstGeom>
        </p:spPr>
        <p:txBody>
          <a:bodyPr wrap="square" rtlCol="0" lIns="0" tIns="0" rIns="0" bIns="0" anchor="t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</a:pPr>
            <a:r>
              <a:rPr sz="2000">
                <a:solidFill>
                  <a:srgbClr val="F6F5F0"/>
                </a:solidFill>
                <a:latin typeface="Hiragino Sans GB"/>
                <a:ea typeface="Hiragino Sans GB"/>
              </a:rPr>
              <a:t>费曼学习平台｜完成情景演示</a:t>
            </a:r>
            <a:br/>
            <a:r>
              <a:rPr sz="2000">
                <a:solidFill>
                  <a:srgbClr val="F6F5F0"/>
                </a:solidFill>
                <a:latin typeface="Hiragino Sans GB"/>
                <a:ea typeface="Hiragino Sans GB"/>
              </a:rPr>
              <a:t>包含基础流程与简答题挑战任务</a:t>
            </a:r>
            <a:br/>
            <a:r>
              <a:rPr sz="2000">
                <a:solidFill>
                  <a:srgbClr val="F6F5F0"/>
                </a:solidFill>
                <a:latin typeface="Hiragino Sans GB"/>
                <a:ea typeface="Hiragino Sans GB"/>
              </a:rPr>
              <a:t>说明：按已完成设定整理，未核验实际代码</a:t>
            </a:r>
          </a:p>
        </p:txBody>
      </p:sp>
      <p:sp>
        <p:nvSpPr>
          <p:cNvPr id="7" name="TextBox 7">
            <a:extLst>
              <a:ext uri="{FF2B5EF4-FFF2-40B4-BE49-F238E27FC236}">
                <a16:creationId xmlns:a16="http://schemas.microsoft.com/office/drawing/2014/main" id="{F5F8648F-51A4-42D5-BEBD-9E7336449601}"/>
              </a:ext>
            </a:extLst>
          </p:cNvPr>
          <p:cNvSpPr txBox="1"/>
          <p:nvPr/>
        </p:nvSpPr>
        <p:spPr>
          <a:xfrm>
            <a:off x="10715625" y="6305550"/>
            <a:ext cx="904875" cy="266700"/>
          </a:xfrm>
          <a:prstGeom prst="rect">
            <a:avLst/>
          </a:prstGeom>
        </p:spPr>
        <p:txBody>
          <a:bodyPr wrap="square" rtlCol="0" lIns="0" tIns="0" rIns="0" bIns="0" anchor="t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</a:pPr>
            <a:r>
              <a:rPr sz="1200">
                <a:solidFill>
                  <a:srgbClr val="F6F5F0"/>
                </a:solidFill>
                <a:latin typeface="Hiragino Sans GB"/>
                <a:ea typeface="Hiragino Sans GB"/>
              </a:rPr>
              <a:t>01 / 13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5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>
            <a:extLst>
              <a:ext uri="{FF2B5EF4-FFF2-40B4-BE49-F238E27FC236}">
                <a16:creationId xmlns:a16="http://schemas.microsoft.com/office/drawing/2014/main" id="{E35B18F3-F6CB-4DFB-9551-449FF654FC92}"/>
              </a:ext>
            </a:extLst>
          </p:cNvPr>
          <p:cNvSpPr txBox="1"/>
          <p:nvPr/>
        </p:nvSpPr>
        <p:spPr>
          <a:xfrm>
            <a:off x="666750" y="476250"/>
            <a:ext cx="10858500" cy="857250"/>
          </a:xfrm>
          <a:prstGeom prst="rect">
            <a:avLst/>
          </a:prstGeom>
        </p:spPr>
        <p:txBody>
          <a:bodyPr wrap="square" rtlCol="0" lIns="0" tIns="0" rIns="0" bIns="0" anchor="t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</a:pPr>
            <a:r>
              <a:rPr sz="3400" b="1">
                <a:solidFill>
                  <a:srgbClr val="152B3C"/>
                </a:solidFill>
                <a:latin typeface="Hiragino Sans GB"/>
                <a:ea typeface="Hiragino Sans GB"/>
              </a:rPr>
              <a:t>第九课的学习闭环</a:t>
            </a: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140E8FFA-B462-4091-A6D8-A93518E68F85}"/>
              </a:ext>
            </a:extLst>
          </p:cNvPr>
          <p:cNvSpPr txBox="1"/>
          <p:nvPr/>
        </p:nvSpPr>
        <p:spPr>
          <a:xfrm>
            <a:off x="685800" y="1714500"/>
            <a:ext cx="10668000" cy="714375"/>
          </a:xfrm>
          <a:prstGeom prst="rect">
            <a:avLst/>
          </a:prstGeom>
        </p:spPr>
        <p:txBody>
          <a:bodyPr wrap="square" rtlCol="0" lIns="0" tIns="0" rIns="0" bIns="0" anchor="t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</a:pPr>
            <a:r>
              <a:rPr sz="2700" b="1">
                <a:solidFill>
                  <a:srgbClr val="166A68"/>
                </a:solidFill>
                <a:latin typeface="Hiragino Sans GB"/>
                <a:ea typeface="Hiragino Sans GB"/>
              </a:rPr>
              <a:t>知识点 → 出题 → 作答 → 反馈 → 复习</a:t>
            </a:r>
          </a:p>
        </p:txBody>
      </p:sp>
      <p:sp>
        <p:nvSpPr>
          <p:cNvPr id="5" name="TextBox 5">
            <a:extLst>
              <a:ext uri="{FF2B5EF4-FFF2-40B4-BE49-F238E27FC236}">
                <a16:creationId xmlns:a16="http://schemas.microsoft.com/office/drawing/2014/main" id="{E0E3EB5D-C07D-4481-898F-AB3046922082}"/>
              </a:ext>
            </a:extLst>
          </p:cNvPr>
          <p:cNvSpPr txBox="1"/>
          <p:nvPr/>
        </p:nvSpPr>
        <p:spPr>
          <a:xfrm>
            <a:off x="685800" y="2714625"/>
            <a:ext cx="10668000" cy="3095625"/>
          </a:xfrm>
          <a:prstGeom prst="rect">
            <a:avLst/>
          </a:prstGeom>
        </p:spPr>
        <p:txBody>
          <a:bodyPr wrap="square" rtlCol="0" lIns="0" tIns="0" rIns="0" bIns="0" anchor="t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</a:pPr>
            <a:r>
              <a:rPr sz="2300">
                <a:solidFill>
                  <a:srgbClr val="152B3C"/>
                </a:solidFill>
                <a:latin typeface="Hiragino Sans GB"/>
                <a:ea typeface="Hiragino Sans GB"/>
              </a:rPr>
              <a:t>知识点内容限定出题范围，难度决定考查深度。</a:t>
            </a:r>
            <a:br/>
            <a:r>
              <a:rPr sz="2300">
                <a:solidFill>
                  <a:srgbClr val="152B3C"/>
                </a:solidFill>
                <a:latin typeface="Hiragino Sans GB"/>
                <a:ea typeface="Hiragino Sans GB"/>
              </a:rPr>
              <a:t>单选题检验概念辨析，简答题检验解释与应用。</a:t>
            </a:r>
            <a:br/>
            <a:r>
              <a:rPr sz="2300">
                <a:solidFill>
                  <a:srgbClr val="152B3C"/>
                </a:solidFill>
                <a:latin typeface="Hiragino Sans GB"/>
                <a:ea typeface="Hiragino Sans GB"/>
              </a:rPr>
              <a:t>依据答题反馈安排复习，再次练习验证理解。</a:t>
            </a:r>
          </a:p>
        </p:txBody>
      </p:sp>
      <p:sp>
        <p:nvSpPr>
          <p:cNvPr id="6" name="TextBox 6">
            <a:extLst>
              <a:ext uri="{FF2B5EF4-FFF2-40B4-BE49-F238E27FC236}">
                <a16:creationId xmlns:a16="http://schemas.microsoft.com/office/drawing/2014/main" id="{470A3CA2-7006-4049-81D4-4169AAF6B8AE}"/>
              </a:ext>
            </a:extLst>
          </p:cNvPr>
          <p:cNvSpPr txBox="1"/>
          <p:nvPr/>
        </p:nvSpPr>
        <p:spPr>
          <a:xfrm>
            <a:off x="10715625" y="6305550"/>
            <a:ext cx="904875" cy="266700"/>
          </a:xfrm>
          <a:prstGeom prst="rect">
            <a:avLst/>
          </a:prstGeom>
        </p:spPr>
        <p:txBody>
          <a:bodyPr wrap="square" rtlCol="0" lIns="0" tIns="0" rIns="0" bIns="0" anchor="t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</a:pPr>
            <a:r>
              <a:rPr sz="1200">
                <a:solidFill>
                  <a:srgbClr val="667885"/>
                </a:solidFill>
                <a:latin typeface="Hiragino Sans GB"/>
                <a:ea typeface="Hiragino Sans GB"/>
              </a:rPr>
              <a:t>02 / 13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5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>
            <a:extLst>
              <a:ext uri="{FF2B5EF4-FFF2-40B4-BE49-F238E27FC236}">
                <a16:creationId xmlns:a16="http://schemas.microsoft.com/office/drawing/2014/main" id="{D38DBF36-1449-470C-8CAD-8CA20265C652}"/>
              </a:ext>
            </a:extLst>
          </p:cNvPr>
          <p:cNvSpPr txBox="1"/>
          <p:nvPr/>
        </p:nvSpPr>
        <p:spPr>
          <a:xfrm>
            <a:off x="666750" y="476250"/>
            <a:ext cx="10858500" cy="857250"/>
          </a:xfrm>
          <a:prstGeom prst="rect">
            <a:avLst/>
          </a:prstGeom>
        </p:spPr>
        <p:txBody>
          <a:bodyPr wrap="square" rtlCol="0" lIns="0" tIns="0" rIns="0" bIns="0" anchor="t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</a:pPr>
            <a:r>
              <a:rPr sz="3400" b="1">
                <a:solidFill>
                  <a:srgbClr val="152B3C"/>
                </a:solidFill>
                <a:latin typeface="Hiragino Sans GB"/>
                <a:ea typeface="Hiragino Sans GB"/>
              </a:rPr>
              <a:t>结构化出题与 Prompt</a:t>
            </a: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E7F4BE55-6EA5-4714-BA20-EA5673637C22}"/>
              </a:ext>
            </a:extLst>
          </p:cNvPr>
          <p:cNvSpPr txBox="1"/>
          <p:nvPr/>
        </p:nvSpPr>
        <p:spPr>
          <a:xfrm>
            <a:off x="685800" y="1752600"/>
            <a:ext cx="5095875" cy="514350"/>
          </a:xfrm>
          <a:prstGeom prst="rect">
            <a:avLst/>
          </a:prstGeom>
        </p:spPr>
        <p:txBody>
          <a:bodyPr wrap="square" rtlCol="0" lIns="0" tIns="0" rIns="0" bIns="0" anchor="t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</a:pPr>
            <a:r>
              <a:rPr sz="2500" b="1">
                <a:solidFill>
                  <a:srgbClr val="166A68"/>
                </a:solidFill>
                <a:latin typeface="Hiragino Sans GB"/>
                <a:ea typeface="Hiragino Sans GB"/>
              </a:rPr>
              <a:t>输入约束</a:t>
            </a:r>
          </a:p>
        </p:txBody>
      </p:sp>
      <p:sp>
        <p:nvSpPr>
          <p:cNvPr id="5" name="TextBox 5">
            <a:extLst>
              <a:ext uri="{FF2B5EF4-FFF2-40B4-BE49-F238E27FC236}">
                <a16:creationId xmlns:a16="http://schemas.microsoft.com/office/drawing/2014/main" id="{65836A04-20D8-4639-B660-9EDD60E102CB}"/>
              </a:ext>
            </a:extLst>
          </p:cNvPr>
          <p:cNvSpPr txBox="1"/>
          <p:nvPr/>
        </p:nvSpPr>
        <p:spPr>
          <a:xfrm>
            <a:off x="685800" y="2524125"/>
            <a:ext cx="5095875" cy="3286125"/>
          </a:xfrm>
          <a:prstGeom prst="rect">
            <a:avLst/>
          </a:prstGeom>
        </p:spPr>
        <p:txBody>
          <a:bodyPr wrap="square" rtlCol="0" lIns="0" tIns="0" rIns="0" bIns="0" anchor="t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</a:pPr>
            <a:r>
              <a:rPr sz="2100">
                <a:solidFill>
                  <a:srgbClr val="152B3C"/>
                </a:solidFill>
                <a:latin typeface="Hiragino Sans GB"/>
                <a:ea typeface="Hiragino Sans GB"/>
              </a:rPr>
              <a:t>提供知识点内容、题型与难度。</a:t>
            </a:r>
            <a:br/>
            <a:r>
              <a:rPr sz="2100">
                <a:solidFill>
                  <a:srgbClr val="152B3C"/>
                </a:solidFill>
                <a:latin typeface="Hiragino Sans GB"/>
                <a:ea typeface="Hiragino Sans GB"/>
              </a:rPr>
              <a:t>要求题目只围绕给定材料，避免知识点漂</a:t>
            </a:r>
            <a:br/>
            <a:r>
              <a:rPr sz="2100">
                <a:solidFill>
                  <a:srgbClr val="152B3C"/>
                </a:solidFill>
                <a:latin typeface="Hiragino Sans GB"/>
                <a:ea typeface="Hiragino Sans GB"/>
              </a:rPr>
              <a:t>移。</a:t>
            </a:r>
            <a:br/>
            <a:r>
              <a:rPr sz="2100">
                <a:solidFill>
                  <a:srgbClr val="152B3C"/>
                </a:solidFill>
                <a:latin typeface="Hiragino Sans GB"/>
                <a:ea typeface="Hiragino Sans GB"/>
              </a:rPr>
              <a:t>输出限定为 JSON，单选题只设一个正确</a:t>
            </a:r>
            <a:br/>
            <a:r>
              <a:rPr sz="2100">
                <a:solidFill>
                  <a:srgbClr val="152B3C"/>
                </a:solidFill>
                <a:latin typeface="Hiragino Sans GB"/>
                <a:ea typeface="Hiragino Sans GB"/>
              </a:rPr>
              <a:t>选项。</a:t>
            </a:r>
          </a:p>
        </p:txBody>
      </p:sp>
      <p:sp>
        <p:nvSpPr>
          <p:cNvPr id="6" name="TextBox 6">
            <a:extLst>
              <a:ext uri="{FF2B5EF4-FFF2-40B4-BE49-F238E27FC236}">
                <a16:creationId xmlns:a16="http://schemas.microsoft.com/office/drawing/2014/main" id="{DA85DC98-C7EC-494E-B13B-501E16DE7200}"/>
              </a:ext>
            </a:extLst>
          </p:cNvPr>
          <p:cNvSpPr txBox="1"/>
          <p:nvPr/>
        </p:nvSpPr>
        <p:spPr>
          <a:xfrm>
            <a:off x="6438900" y="1752600"/>
            <a:ext cx="5095875" cy="514350"/>
          </a:xfrm>
          <a:prstGeom prst="rect">
            <a:avLst/>
          </a:prstGeom>
        </p:spPr>
        <p:txBody>
          <a:bodyPr wrap="square" rtlCol="0" lIns="0" tIns="0" rIns="0" bIns="0" anchor="t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</a:pPr>
            <a:r>
              <a:rPr sz="2500" b="1">
                <a:solidFill>
                  <a:srgbClr val="166A68"/>
                </a:solidFill>
                <a:latin typeface="Hiragino Sans GB"/>
                <a:ea typeface="Hiragino Sans GB"/>
              </a:rPr>
              <a:t>输出字段</a:t>
            </a:r>
          </a:p>
        </p:txBody>
      </p:sp>
      <p:sp>
        <p:nvSpPr>
          <p:cNvPr id="7" name="TextBox 7">
            <a:extLst>
              <a:ext uri="{FF2B5EF4-FFF2-40B4-BE49-F238E27FC236}">
                <a16:creationId xmlns:a16="http://schemas.microsoft.com/office/drawing/2014/main" id="{7319A070-BC2F-4877-B2FF-CC19C6F6BE9A}"/>
              </a:ext>
            </a:extLst>
          </p:cNvPr>
          <p:cNvSpPr txBox="1"/>
          <p:nvPr/>
        </p:nvSpPr>
        <p:spPr>
          <a:xfrm>
            <a:off x="6438900" y="2524125"/>
            <a:ext cx="5095875" cy="3286125"/>
          </a:xfrm>
          <a:prstGeom prst="rect">
            <a:avLst/>
          </a:prstGeom>
        </p:spPr>
        <p:txBody>
          <a:bodyPr wrap="square" rtlCol="0" lIns="0" tIns="0" rIns="0" bIns="0" anchor="t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</a:pPr>
            <a:r>
              <a:rPr sz="2100">
                <a:solidFill>
                  <a:srgbClr val="152B3C"/>
                </a:solidFill>
                <a:latin typeface="Hiragino Sans GB"/>
                <a:ea typeface="Hiragino Sans GB"/>
              </a:rPr>
              <a:t>单选题：type、difficulty、question</a:t>
            </a:r>
            <a:br/>
            <a:r>
              <a:rPr sz="2100">
                <a:solidFill>
                  <a:srgbClr val="152B3C"/>
                </a:solidFill>
                <a:latin typeface="Hiragino Sans GB"/>
                <a:ea typeface="Hiragino Sans GB"/>
              </a:rPr>
              <a:t>、options、answer、explanation。</a:t>
            </a:r>
            <a:br/>
            <a:r>
              <a:rPr sz="2100">
                <a:solidFill>
                  <a:srgbClr val="152B3C"/>
                </a:solidFill>
                <a:latin typeface="Hiragino Sans GB"/>
                <a:ea typeface="Hiragino Sans GB"/>
              </a:rPr>
              <a:t>简答题：question、answer_key_points</a:t>
            </a:r>
            <a:br/>
            <a:r>
              <a:rPr sz="2100">
                <a:solidFill>
                  <a:srgbClr val="152B3C"/>
                </a:solidFill>
                <a:latin typeface="Hiragino Sans GB"/>
                <a:ea typeface="Hiragino Sans GB"/>
              </a:rPr>
              <a:t>。</a:t>
            </a:r>
            <a:br/>
            <a:r>
              <a:rPr sz="2100">
                <a:solidFill>
                  <a:srgbClr val="152B3C"/>
                </a:solidFill>
                <a:latin typeface="Hiragino Sans GB"/>
                <a:ea typeface="Hiragino Sans GB"/>
              </a:rPr>
              <a:t>后端同时检查字段、类型和允许值。</a:t>
            </a:r>
          </a:p>
        </p:txBody>
      </p:sp>
      <p:sp>
        <p:nvSpPr>
          <p:cNvPr id="8" name="TextBox 8">
            <a:extLst>
              <a:ext uri="{FF2B5EF4-FFF2-40B4-BE49-F238E27FC236}">
                <a16:creationId xmlns:a16="http://schemas.microsoft.com/office/drawing/2014/main" id="{EB436CA9-08A6-4658-ACC6-C59BE9448B69}"/>
              </a:ext>
            </a:extLst>
          </p:cNvPr>
          <p:cNvSpPr txBox="1"/>
          <p:nvPr/>
        </p:nvSpPr>
        <p:spPr>
          <a:xfrm>
            <a:off x="10715625" y="6305550"/>
            <a:ext cx="904875" cy="266700"/>
          </a:xfrm>
          <a:prstGeom prst="rect">
            <a:avLst/>
          </a:prstGeom>
        </p:spPr>
        <p:txBody>
          <a:bodyPr wrap="square" rtlCol="0" lIns="0" tIns="0" rIns="0" bIns="0" anchor="t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</a:pPr>
            <a:r>
              <a:rPr sz="1200">
                <a:solidFill>
                  <a:srgbClr val="667885"/>
                </a:solidFill>
                <a:latin typeface="Hiragino Sans GB"/>
                <a:ea typeface="Hiragino Sans GB"/>
              </a:rPr>
              <a:t>03 / 13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5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>
            <a:extLst>
              <a:ext uri="{FF2B5EF4-FFF2-40B4-BE49-F238E27FC236}">
                <a16:creationId xmlns:a16="http://schemas.microsoft.com/office/drawing/2014/main" id="{FC843F17-ECEA-447D-854F-EA8AF57D2681}"/>
              </a:ext>
            </a:extLst>
          </p:cNvPr>
          <p:cNvSpPr txBox="1"/>
          <p:nvPr/>
        </p:nvSpPr>
        <p:spPr>
          <a:xfrm>
            <a:off x="666750" y="476250"/>
            <a:ext cx="10858500" cy="857250"/>
          </a:xfrm>
          <a:prstGeom prst="rect">
            <a:avLst/>
          </a:prstGeom>
        </p:spPr>
        <p:txBody>
          <a:bodyPr wrap="square" rtlCol="0" lIns="0" tIns="0" rIns="0" bIns="0" anchor="t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</a:pPr>
            <a:r>
              <a:rPr sz="3400" b="1">
                <a:solidFill>
                  <a:srgbClr val="152B3C"/>
                </a:solidFill>
                <a:latin typeface="Hiragino Sans GB"/>
                <a:ea typeface="Hiragino Sans GB"/>
              </a:rPr>
              <a:t>前后端接口协作</a:t>
            </a: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423A9D3B-B24F-4F42-A81A-760D39046557}"/>
              </a:ext>
            </a:extLst>
          </p:cNvPr>
          <p:cNvSpPr txBox="1"/>
          <p:nvPr/>
        </p:nvSpPr>
        <p:spPr>
          <a:xfrm>
            <a:off x="685800" y="1752600"/>
            <a:ext cx="5095875" cy="514350"/>
          </a:xfrm>
          <a:prstGeom prst="rect">
            <a:avLst/>
          </a:prstGeom>
        </p:spPr>
        <p:txBody>
          <a:bodyPr wrap="square" rtlCol="0" lIns="0" tIns="0" rIns="0" bIns="0" anchor="t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</a:pPr>
            <a:r>
              <a:rPr sz="2500" b="1">
                <a:solidFill>
                  <a:srgbClr val="166A68"/>
                </a:solidFill>
                <a:latin typeface="Hiragino Sans GB"/>
                <a:ea typeface="Hiragino Sans GB"/>
              </a:rPr>
              <a:t>出题接口</a:t>
            </a:r>
          </a:p>
        </p:txBody>
      </p:sp>
      <p:sp>
        <p:nvSpPr>
          <p:cNvPr id="5" name="TextBox 5">
            <a:extLst>
              <a:ext uri="{FF2B5EF4-FFF2-40B4-BE49-F238E27FC236}">
                <a16:creationId xmlns:a16="http://schemas.microsoft.com/office/drawing/2014/main" id="{554A9DCA-3FEF-4B22-9A2A-706E4FAD26F9}"/>
              </a:ext>
            </a:extLst>
          </p:cNvPr>
          <p:cNvSpPr txBox="1"/>
          <p:nvPr/>
        </p:nvSpPr>
        <p:spPr>
          <a:xfrm>
            <a:off x="685800" y="2524125"/>
            <a:ext cx="5095875" cy="3286125"/>
          </a:xfrm>
          <a:prstGeom prst="rect">
            <a:avLst/>
          </a:prstGeom>
        </p:spPr>
        <p:txBody>
          <a:bodyPr wrap="square" rtlCol="0" lIns="0" tIns="0" rIns="0" bIns="0" anchor="t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</a:pPr>
            <a:r>
              <a:rPr sz="2100">
                <a:solidFill>
                  <a:srgbClr val="152B3C"/>
                </a:solidFill>
                <a:latin typeface="Hiragino Sans GB"/>
                <a:ea typeface="Hiragino Sans GB"/>
              </a:rPr>
              <a:t>POST /api/ai/generate-question</a:t>
            </a:r>
            <a:br/>
            <a:r>
              <a:rPr sz="2100">
                <a:solidFill>
                  <a:srgbClr val="152B3C"/>
                </a:solidFill>
                <a:latin typeface="Hiragino Sans GB"/>
                <a:ea typeface="Hiragino Sans GB"/>
              </a:rPr>
              <a:t>接收知识点与难度；进阶增加 type。</a:t>
            </a:r>
            <a:br/>
            <a:r>
              <a:rPr sz="2100">
                <a:solidFill>
                  <a:srgbClr val="152B3C"/>
                </a:solidFill>
                <a:latin typeface="Hiragino Sans GB"/>
                <a:ea typeface="Hiragino Sans GB"/>
              </a:rPr>
              <a:t>校验输入后调用模型，解析并校验题目。</a:t>
            </a:r>
          </a:p>
        </p:txBody>
      </p:sp>
      <p:sp>
        <p:nvSpPr>
          <p:cNvPr id="6" name="TextBox 6">
            <a:extLst>
              <a:ext uri="{FF2B5EF4-FFF2-40B4-BE49-F238E27FC236}">
                <a16:creationId xmlns:a16="http://schemas.microsoft.com/office/drawing/2014/main" id="{AA04CA6A-A84B-476B-AF81-0D5317F2AEAE}"/>
              </a:ext>
            </a:extLst>
          </p:cNvPr>
          <p:cNvSpPr txBox="1"/>
          <p:nvPr/>
        </p:nvSpPr>
        <p:spPr>
          <a:xfrm>
            <a:off x="6438900" y="1752600"/>
            <a:ext cx="5095875" cy="514350"/>
          </a:xfrm>
          <a:prstGeom prst="rect">
            <a:avLst/>
          </a:prstGeom>
        </p:spPr>
        <p:txBody>
          <a:bodyPr wrap="square" rtlCol="0" lIns="0" tIns="0" rIns="0" bIns="0" anchor="t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</a:pPr>
            <a:r>
              <a:rPr sz="2500" b="1">
                <a:solidFill>
                  <a:srgbClr val="166A68"/>
                </a:solidFill>
                <a:latin typeface="Hiragino Sans GB"/>
                <a:ea typeface="Hiragino Sans GB"/>
              </a:rPr>
              <a:t>评分接口（进阶）</a:t>
            </a:r>
          </a:p>
        </p:txBody>
      </p:sp>
      <p:sp>
        <p:nvSpPr>
          <p:cNvPr id="7" name="TextBox 7">
            <a:extLst>
              <a:ext uri="{FF2B5EF4-FFF2-40B4-BE49-F238E27FC236}">
                <a16:creationId xmlns:a16="http://schemas.microsoft.com/office/drawing/2014/main" id="{1F74428D-9A39-4C55-A702-3F63200E448D}"/>
              </a:ext>
            </a:extLst>
          </p:cNvPr>
          <p:cNvSpPr txBox="1"/>
          <p:nvPr/>
        </p:nvSpPr>
        <p:spPr>
          <a:xfrm>
            <a:off x="6438900" y="2524125"/>
            <a:ext cx="5095875" cy="3286125"/>
          </a:xfrm>
          <a:prstGeom prst="rect">
            <a:avLst/>
          </a:prstGeom>
        </p:spPr>
        <p:txBody>
          <a:bodyPr wrap="square" rtlCol="0" lIns="0" tIns="0" rIns="0" bIns="0" anchor="t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</a:pPr>
            <a:r>
              <a:rPr sz="2100">
                <a:solidFill>
                  <a:srgbClr val="152B3C"/>
                </a:solidFill>
                <a:latin typeface="Hiragino Sans GB"/>
                <a:ea typeface="Hiragino Sans GB"/>
              </a:rPr>
              <a:t>POST /api/ai/grade-answer</a:t>
            </a:r>
            <a:br/>
            <a:r>
              <a:rPr sz="2100">
                <a:solidFill>
                  <a:srgbClr val="152B3C"/>
                </a:solidFill>
                <a:latin typeface="Hiragino Sans GB"/>
                <a:ea typeface="Hiragino Sans GB"/>
              </a:rPr>
              <a:t>依据题目、答案要点与学生回答评分。</a:t>
            </a:r>
            <a:br/>
            <a:r>
              <a:rPr sz="2100">
                <a:solidFill>
                  <a:srgbClr val="152B3C"/>
                </a:solidFill>
                <a:latin typeface="Hiragino Sans GB"/>
                <a:ea typeface="Hiragino Sans GB"/>
              </a:rPr>
              <a:t>项目应用应由服务端保存并读取评分依据。</a:t>
            </a:r>
          </a:p>
        </p:txBody>
      </p:sp>
      <p:sp>
        <p:nvSpPr>
          <p:cNvPr id="8" name="TextBox 8">
            <a:extLst>
              <a:ext uri="{FF2B5EF4-FFF2-40B4-BE49-F238E27FC236}">
                <a16:creationId xmlns:a16="http://schemas.microsoft.com/office/drawing/2014/main" id="{C0AF2C14-57B9-49F7-999F-4D46EAD077EB}"/>
              </a:ext>
            </a:extLst>
          </p:cNvPr>
          <p:cNvSpPr txBox="1"/>
          <p:nvPr/>
        </p:nvSpPr>
        <p:spPr>
          <a:xfrm>
            <a:off x="10715625" y="6305550"/>
            <a:ext cx="904875" cy="266700"/>
          </a:xfrm>
          <a:prstGeom prst="rect">
            <a:avLst/>
          </a:prstGeom>
        </p:spPr>
        <p:txBody>
          <a:bodyPr wrap="square" rtlCol="0" lIns="0" tIns="0" rIns="0" bIns="0" anchor="t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</a:pPr>
            <a:r>
              <a:rPr sz="1200">
                <a:solidFill>
                  <a:srgbClr val="667885"/>
                </a:solidFill>
                <a:latin typeface="Hiragino Sans GB"/>
                <a:ea typeface="Hiragino Sans GB"/>
              </a:rPr>
              <a:t>04 / 13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5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>
            <a:extLst>
              <a:ext uri="{FF2B5EF4-FFF2-40B4-BE49-F238E27FC236}">
                <a16:creationId xmlns:a16="http://schemas.microsoft.com/office/drawing/2014/main" id="{FF6B11E8-6194-4F6F-8BFF-551E63644DA7}"/>
              </a:ext>
            </a:extLst>
          </p:cNvPr>
          <p:cNvSpPr txBox="1"/>
          <p:nvPr/>
        </p:nvSpPr>
        <p:spPr>
          <a:xfrm>
            <a:off x="666750" y="476250"/>
            <a:ext cx="10858500" cy="857250"/>
          </a:xfrm>
          <a:prstGeom prst="rect">
            <a:avLst/>
          </a:prstGeom>
        </p:spPr>
        <p:txBody>
          <a:bodyPr wrap="square" rtlCol="0" lIns="0" tIns="0" rIns="0" bIns="0" anchor="t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</a:pPr>
            <a:r>
              <a:rPr sz="3400" b="1">
                <a:solidFill>
                  <a:srgbClr val="152B3C"/>
                </a:solidFill>
                <a:latin typeface="Hiragino Sans GB"/>
                <a:ea typeface="Hiragino Sans GB"/>
              </a:rPr>
              <a:t>答题页面与状态管理</a:t>
            </a: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C675668D-D2BB-4E70-A096-FD6306A294CB}"/>
              </a:ext>
            </a:extLst>
          </p:cNvPr>
          <p:cNvSpPr txBox="1"/>
          <p:nvPr/>
        </p:nvSpPr>
        <p:spPr>
          <a:xfrm>
            <a:off x="685800" y="1752600"/>
            <a:ext cx="5095875" cy="514350"/>
          </a:xfrm>
          <a:prstGeom prst="rect">
            <a:avLst/>
          </a:prstGeom>
        </p:spPr>
        <p:txBody>
          <a:bodyPr wrap="square" rtlCol="0" lIns="0" tIns="0" rIns="0" bIns="0" anchor="t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</a:pPr>
            <a:r>
              <a:rPr sz="2500" b="1">
                <a:solidFill>
                  <a:srgbClr val="166A68"/>
                </a:solidFill>
                <a:latin typeface="Hiragino Sans GB"/>
                <a:ea typeface="Hiragino Sans GB"/>
              </a:rPr>
              <a:t>页面需要保存什么</a:t>
            </a:r>
          </a:p>
        </p:txBody>
      </p:sp>
      <p:sp>
        <p:nvSpPr>
          <p:cNvPr id="5" name="TextBox 5">
            <a:extLst>
              <a:ext uri="{FF2B5EF4-FFF2-40B4-BE49-F238E27FC236}">
                <a16:creationId xmlns:a16="http://schemas.microsoft.com/office/drawing/2014/main" id="{97DFC3E9-6589-439A-BC31-9D945C096B07}"/>
              </a:ext>
            </a:extLst>
          </p:cNvPr>
          <p:cNvSpPr txBox="1"/>
          <p:nvPr/>
        </p:nvSpPr>
        <p:spPr>
          <a:xfrm>
            <a:off x="685800" y="2524125"/>
            <a:ext cx="5095875" cy="3286125"/>
          </a:xfrm>
          <a:prstGeom prst="rect">
            <a:avLst/>
          </a:prstGeom>
        </p:spPr>
        <p:txBody>
          <a:bodyPr wrap="square" rtlCol="0" lIns="0" tIns="0" rIns="0" bIns="0" anchor="t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</a:pPr>
            <a:r>
              <a:rPr sz="2100">
                <a:solidFill>
                  <a:srgbClr val="152B3C"/>
                </a:solidFill>
                <a:latin typeface="Hiragino Sans GB"/>
                <a:ea typeface="Hiragino Sans GB"/>
              </a:rPr>
              <a:t>knowledgePoint：本次学习内容</a:t>
            </a:r>
            <a:br/>
            <a:r>
              <a:rPr sz="2100">
                <a:solidFill>
                  <a:srgbClr val="152B3C"/>
                </a:solidFill>
                <a:latin typeface="Hiragino Sans GB"/>
                <a:ea typeface="Hiragino Sans GB"/>
              </a:rPr>
              <a:t>question / selectedOption：题目与选择</a:t>
            </a:r>
            <a:br/>
            <a:r>
              <a:rPr sz="2100">
                <a:solidFill>
                  <a:srgbClr val="152B3C"/>
                </a:solidFill>
                <a:latin typeface="Hiragino Sans GB"/>
                <a:ea typeface="Hiragino Sans GB"/>
              </a:rPr>
              <a:t>isLoading / result：加载状态与测评结果</a:t>
            </a:r>
          </a:p>
        </p:txBody>
      </p:sp>
      <p:sp>
        <p:nvSpPr>
          <p:cNvPr id="6" name="TextBox 6">
            <a:extLst>
              <a:ext uri="{FF2B5EF4-FFF2-40B4-BE49-F238E27FC236}">
                <a16:creationId xmlns:a16="http://schemas.microsoft.com/office/drawing/2014/main" id="{9D5E9AD8-E9A9-42F5-B309-DB80534C0667}"/>
              </a:ext>
            </a:extLst>
          </p:cNvPr>
          <p:cNvSpPr txBox="1"/>
          <p:nvPr/>
        </p:nvSpPr>
        <p:spPr>
          <a:xfrm>
            <a:off x="6438900" y="1752600"/>
            <a:ext cx="5095875" cy="514350"/>
          </a:xfrm>
          <a:prstGeom prst="rect">
            <a:avLst/>
          </a:prstGeom>
        </p:spPr>
        <p:txBody>
          <a:bodyPr wrap="square" rtlCol="0" lIns="0" tIns="0" rIns="0" bIns="0" anchor="t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</a:pPr>
            <a:r>
              <a:rPr sz="2500" b="1">
                <a:solidFill>
                  <a:srgbClr val="166A68"/>
                </a:solidFill>
                <a:latin typeface="Hiragino Sans GB"/>
                <a:ea typeface="Hiragino Sans GB"/>
              </a:rPr>
              <a:t>换题时需要重置什么</a:t>
            </a:r>
          </a:p>
        </p:txBody>
      </p:sp>
      <p:sp>
        <p:nvSpPr>
          <p:cNvPr id="7" name="TextBox 7">
            <a:extLst>
              <a:ext uri="{FF2B5EF4-FFF2-40B4-BE49-F238E27FC236}">
                <a16:creationId xmlns:a16="http://schemas.microsoft.com/office/drawing/2014/main" id="{FFEF83FF-9A8B-4651-A098-307ACEFCE6F7}"/>
              </a:ext>
            </a:extLst>
          </p:cNvPr>
          <p:cNvSpPr txBox="1"/>
          <p:nvPr/>
        </p:nvSpPr>
        <p:spPr>
          <a:xfrm>
            <a:off x="6438900" y="2524125"/>
            <a:ext cx="5095875" cy="3286125"/>
          </a:xfrm>
          <a:prstGeom prst="rect">
            <a:avLst/>
          </a:prstGeom>
        </p:spPr>
        <p:txBody>
          <a:bodyPr wrap="square" rtlCol="0" lIns="0" tIns="0" rIns="0" bIns="0" anchor="t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</a:pPr>
            <a:r>
              <a:rPr sz="2100">
                <a:solidFill>
                  <a:srgbClr val="152B3C"/>
                </a:solidFill>
                <a:latin typeface="Hiragino Sans GB"/>
                <a:ea typeface="Hiragino Sans GB"/>
              </a:rPr>
              <a:t>清空旧题、旧答案和旧评分。</a:t>
            </a:r>
            <a:br/>
            <a:r>
              <a:rPr sz="2100">
                <a:solidFill>
                  <a:srgbClr val="152B3C"/>
                </a:solidFill>
                <a:latin typeface="Hiragino Sans GB"/>
                <a:ea typeface="Hiragino Sans GB"/>
              </a:rPr>
              <a:t>未作答时拦截提交，处理中禁用重复提交。</a:t>
            </a:r>
            <a:br/>
            <a:r>
              <a:rPr sz="2100">
                <a:solidFill>
                  <a:srgbClr val="152B3C"/>
                </a:solidFill>
                <a:latin typeface="Hiragino Sans GB"/>
                <a:ea typeface="Hiragino Sans GB"/>
              </a:rPr>
              <a:t>出题失败给出提示，并允许重新尝试。</a:t>
            </a:r>
          </a:p>
        </p:txBody>
      </p:sp>
      <p:sp>
        <p:nvSpPr>
          <p:cNvPr id="8" name="TextBox 8">
            <a:extLst>
              <a:ext uri="{FF2B5EF4-FFF2-40B4-BE49-F238E27FC236}">
                <a16:creationId xmlns:a16="http://schemas.microsoft.com/office/drawing/2014/main" id="{0F9D0F3B-1D7B-4978-AE53-E8527C99C4CF}"/>
              </a:ext>
            </a:extLst>
          </p:cNvPr>
          <p:cNvSpPr txBox="1"/>
          <p:nvPr/>
        </p:nvSpPr>
        <p:spPr>
          <a:xfrm>
            <a:off x="10715625" y="6305550"/>
            <a:ext cx="904875" cy="266700"/>
          </a:xfrm>
          <a:prstGeom prst="rect">
            <a:avLst/>
          </a:prstGeom>
        </p:spPr>
        <p:txBody>
          <a:bodyPr wrap="square" rtlCol="0" lIns="0" tIns="0" rIns="0" bIns="0" anchor="t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</a:pPr>
            <a:r>
              <a:rPr sz="1200">
                <a:solidFill>
                  <a:srgbClr val="667885"/>
                </a:solidFill>
                <a:latin typeface="Hiragino Sans GB"/>
                <a:ea typeface="Hiragino Sans GB"/>
              </a:rPr>
              <a:t>05 / 13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5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>
            <a:extLst>
              <a:ext uri="{FF2B5EF4-FFF2-40B4-BE49-F238E27FC236}">
                <a16:creationId xmlns:a16="http://schemas.microsoft.com/office/drawing/2014/main" id="{9B24DB00-558A-4146-B112-3B74F50185F5}"/>
              </a:ext>
            </a:extLst>
          </p:cNvPr>
          <p:cNvSpPr txBox="1"/>
          <p:nvPr/>
        </p:nvSpPr>
        <p:spPr>
          <a:xfrm>
            <a:off x="666750" y="476250"/>
            <a:ext cx="10858500" cy="857250"/>
          </a:xfrm>
          <a:prstGeom prst="rect">
            <a:avLst/>
          </a:prstGeom>
        </p:spPr>
        <p:txBody>
          <a:bodyPr wrap="square" rtlCol="0" lIns="0" tIns="0" rIns="0" bIns="0" anchor="t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</a:pPr>
            <a:r>
              <a:rPr sz="3400" b="1">
                <a:solidFill>
                  <a:srgbClr val="152B3C"/>
                </a:solidFill>
                <a:latin typeface="Hiragino Sans GB"/>
                <a:ea typeface="Hiragino Sans GB"/>
              </a:rPr>
              <a:t>单选题判分与简答题评分</a:t>
            </a: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27625F8F-D242-4C8F-B956-AA0A981AE285}"/>
              </a:ext>
            </a:extLst>
          </p:cNvPr>
          <p:cNvSpPr txBox="1"/>
          <p:nvPr/>
        </p:nvSpPr>
        <p:spPr>
          <a:xfrm>
            <a:off x="685800" y="1752600"/>
            <a:ext cx="5095875" cy="514350"/>
          </a:xfrm>
          <a:prstGeom prst="rect">
            <a:avLst/>
          </a:prstGeom>
        </p:spPr>
        <p:txBody>
          <a:bodyPr wrap="square" rtlCol="0" lIns="0" tIns="0" rIns="0" bIns="0" anchor="t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</a:pPr>
            <a:r>
              <a:rPr sz="2500" b="1">
                <a:solidFill>
                  <a:srgbClr val="166A68"/>
                </a:solidFill>
                <a:latin typeface="Hiragino Sans GB"/>
                <a:ea typeface="Hiragino Sans GB"/>
              </a:rPr>
              <a:t>基础：确定性判分</a:t>
            </a:r>
          </a:p>
        </p:txBody>
      </p:sp>
      <p:sp>
        <p:nvSpPr>
          <p:cNvPr id="5" name="TextBox 5">
            <a:extLst>
              <a:ext uri="{FF2B5EF4-FFF2-40B4-BE49-F238E27FC236}">
                <a16:creationId xmlns:a16="http://schemas.microsoft.com/office/drawing/2014/main" id="{30692C75-3A16-455D-A640-8A4566588C3F}"/>
              </a:ext>
            </a:extLst>
          </p:cNvPr>
          <p:cNvSpPr txBox="1"/>
          <p:nvPr/>
        </p:nvSpPr>
        <p:spPr>
          <a:xfrm>
            <a:off x="685800" y="2524125"/>
            <a:ext cx="5095875" cy="3286125"/>
          </a:xfrm>
          <a:prstGeom prst="rect">
            <a:avLst/>
          </a:prstGeom>
        </p:spPr>
        <p:txBody>
          <a:bodyPr wrap="square" rtlCol="0" lIns="0" tIns="0" rIns="0" bIns="0" anchor="t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</a:pPr>
            <a:r>
              <a:rPr sz="2100">
                <a:solidFill>
                  <a:srgbClr val="152B3C"/>
                </a:solidFill>
                <a:latin typeface="Hiragino Sans GB"/>
                <a:ea typeface="Hiragino Sans GB"/>
              </a:rPr>
              <a:t>讲义示例在前端比较选项与正确答案。</a:t>
            </a:r>
            <a:br/>
            <a:r>
              <a:rPr sz="2100">
                <a:solidFill>
                  <a:srgbClr val="152B3C"/>
                </a:solidFill>
                <a:latin typeface="Hiragino Sans GB"/>
                <a:ea typeface="Hiragino Sans GB"/>
              </a:rPr>
              <a:t>优点：简单、即时；适合教学演示。</a:t>
            </a:r>
            <a:br/>
            <a:r>
              <a:rPr sz="2100">
                <a:solidFill>
                  <a:srgbClr val="152B3C"/>
                </a:solidFill>
                <a:latin typeface="Hiragino Sans GB"/>
                <a:ea typeface="Hiragino Sans GB"/>
              </a:rPr>
              <a:t>正式测评建议服务端判分，提交前隐藏答</a:t>
            </a:r>
            <a:br/>
            <a:r>
              <a:rPr sz="2100">
                <a:solidFill>
                  <a:srgbClr val="152B3C"/>
                </a:solidFill>
                <a:latin typeface="Hiragino Sans GB"/>
                <a:ea typeface="Hiragino Sans GB"/>
              </a:rPr>
              <a:t>案。</a:t>
            </a:r>
          </a:p>
        </p:txBody>
      </p:sp>
      <p:sp>
        <p:nvSpPr>
          <p:cNvPr id="6" name="TextBox 6">
            <a:extLst>
              <a:ext uri="{FF2B5EF4-FFF2-40B4-BE49-F238E27FC236}">
                <a16:creationId xmlns:a16="http://schemas.microsoft.com/office/drawing/2014/main" id="{0D5C4EEC-270F-41C9-82BA-A385D07F1DB1}"/>
              </a:ext>
            </a:extLst>
          </p:cNvPr>
          <p:cNvSpPr txBox="1"/>
          <p:nvPr/>
        </p:nvSpPr>
        <p:spPr>
          <a:xfrm>
            <a:off x="6438900" y="1752600"/>
            <a:ext cx="5095875" cy="514350"/>
          </a:xfrm>
          <a:prstGeom prst="rect">
            <a:avLst/>
          </a:prstGeom>
        </p:spPr>
        <p:txBody>
          <a:bodyPr wrap="square" rtlCol="0" lIns="0" tIns="0" rIns="0" bIns="0" anchor="t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</a:pPr>
            <a:r>
              <a:rPr sz="2500" b="1">
                <a:solidFill>
                  <a:srgbClr val="166A68"/>
                </a:solidFill>
                <a:latin typeface="Hiragino Sans GB"/>
                <a:ea typeface="Hiragino Sans GB"/>
              </a:rPr>
              <a:t>进阶：AI 按要点评分</a:t>
            </a:r>
          </a:p>
        </p:txBody>
      </p:sp>
      <p:sp>
        <p:nvSpPr>
          <p:cNvPr id="7" name="TextBox 7">
            <a:extLst>
              <a:ext uri="{FF2B5EF4-FFF2-40B4-BE49-F238E27FC236}">
                <a16:creationId xmlns:a16="http://schemas.microsoft.com/office/drawing/2014/main" id="{675B979A-C083-4D73-8559-2D88DDC6FD4E}"/>
              </a:ext>
            </a:extLst>
          </p:cNvPr>
          <p:cNvSpPr txBox="1"/>
          <p:nvPr/>
        </p:nvSpPr>
        <p:spPr>
          <a:xfrm>
            <a:off x="6438900" y="2524125"/>
            <a:ext cx="5095875" cy="3286125"/>
          </a:xfrm>
          <a:prstGeom prst="rect">
            <a:avLst/>
          </a:prstGeom>
        </p:spPr>
        <p:txBody>
          <a:bodyPr wrap="square" rtlCol="0" lIns="0" tIns="0" rIns="0" bIns="0" anchor="t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</a:pPr>
            <a:r>
              <a:rPr sz="2100">
                <a:solidFill>
                  <a:srgbClr val="152B3C"/>
                </a:solidFill>
                <a:latin typeface="Hiragino Sans GB"/>
                <a:ea typeface="Hiragino Sans GB"/>
              </a:rPr>
              <a:t>把题目、答案要点与学生回答交给 AI。</a:t>
            </a:r>
            <a:br/>
            <a:r>
              <a:rPr sz="2100">
                <a:solidFill>
                  <a:srgbClr val="152B3C"/>
                </a:solidFill>
                <a:latin typeface="Hiragino Sans GB"/>
                <a:ea typeface="Hiragino Sans GB"/>
              </a:rPr>
              <a:t>按语义判断，允许同义表达和不同表述顺</a:t>
            </a:r>
            <a:br/>
            <a:r>
              <a:rPr sz="2100">
                <a:solidFill>
                  <a:srgbClr val="152B3C"/>
                </a:solidFill>
                <a:latin typeface="Hiragino Sans GB"/>
                <a:ea typeface="Hiragino Sans GB"/>
              </a:rPr>
              <a:t>序。</a:t>
            </a:r>
            <a:br/>
            <a:r>
              <a:rPr sz="2100">
                <a:solidFill>
                  <a:srgbClr val="152B3C"/>
                </a:solidFill>
                <a:latin typeface="Hiragino Sans GB"/>
                <a:ea typeface="Hiragino Sans GB"/>
              </a:rPr>
              <a:t>讲义返回 isCorrect 与 explanation；</a:t>
            </a:r>
            <a:br/>
            <a:r>
              <a:rPr sz="2100">
                <a:solidFill>
                  <a:srgbClr val="152B3C"/>
                </a:solidFill>
                <a:latin typeface="Hiragino Sans GB"/>
                <a:ea typeface="Hiragino Sans GB"/>
              </a:rPr>
              <a:t>数值分为本次自测扩展。</a:t>
            </a:r>
          </a:p>
        </p:txBody>
      </p:sp>
      <p:sp>
        <p:nvSpPr>
          <p:cNvPr id="8" name="TextBox 8">
            <a:extLst>
              <a:ext uri="{FF2B5EF4-FFF2-40B4-BE49-F238E27FC236}">
                <a16:creationId xmlns:a16="http://schemas.microsoft.com/office/drawing/2014/main" id="{74F68DFE-4359-4120-A63A-1CB00734E469}"/>
              </a:ext>
            </a:extLst>
          </p:cNvPr>
          <p:cNvSpPr txBox="1"/>
          <p:nvPr/>
        </p:nvSpPr>
        <p:spPr>
          <a:xfrm>
            <a:off x="10715625" y="6305550"/>
            <a:ext cx="904875" cy="266700"/>
          </a:xfrm>
          <a:prstGeom prst="rect">
            <a:avLst/>
          </a:prstGeom>
        </p:spPr>
        <p:txBody>
          <a:bodyPr wrap="square" rtlCol="0" lIns="0" tIns="0" rIns="0" bIns="0" anchor="t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</a:pPr>
            <a:r>
              <a:rPr sz="1200">
                <a:solidFill>
                  <a:srgbClr val="667885"/>
                </a:solidFill>
                <a:latin typeface="Hiragino Sans GB"/>
                <a:ea typeface="Hiragino Sans GB"/>
              </a:rPr>
              <a:t>06 / 13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5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>
            <a:extLst>
              <a:ext uri="{FF2B5EF4-FFF2-40B4-BE49-F238E27FC236}">
                <a16:creationId xmlns:a16="http://schemas.microsoft.com/office/drawing/2014/main" id="{2C2CEA4F-5842-4007-BCBD-53FE8B4EFABF}"/>
              </a:ext>
            </a:extLst>
          </p:cNvPr>
          <p:cNvSpPr txBox="1"/>
          <p:nvPr/>
        </p:nvSpPr>
        <p:spPr>
          <a:xfrm>
            <a:off x="666750" y="476250"/>
            <a:ext cx="10858500" cy="857250"/>
          </a:xfrm>
          <a:prstGeom prst="rect">
            <a:avLst/>
          </a:prstGeom>
        </p:spPr>
        <p:txBody>
          <a:bodyPr wrap="square" rtlCol="0" lIns="0" tIns="0" rIns="0" bIns="0" anchor="t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</a:pPr>
            <a:r>
              <a:rPr sz="3400" b="1">
                <a:solidFill>
                  <a:srgbClr val="152B3C"/>
                </a:solidFill>
                <a:latin typeface="Hiragino Sans GB"/>
                <a:ea typeface="Hiragino Sans GB"/>
              </a:rPr>
              <a:t>结果反馈与复习状态</a:t>
            </a: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09B9F8DD-BBD0-43FB-AA21-67E2332BD125}"/>
              </a:ext>
            </a:extLst>
          </p:cNvPr>
          <p:cNvSpPr txBox="1"/>
          <p:nvPr/>
        </p:nvSpPr>
        <p:spPr>
          <a:xfrm>
            <a:off x="685800" y="1714500"/>
            <a:ext cx="10668000" cy="714375"/>
          </a:xfrm>
          <a:prstGeom prst="rect">
            <a:avLst/>
          </a:prstGeom>
        </p:spPr>
        <p:txBody>
          <a:bodyPr wrap="square" rtlCol="0" lIns="0" tIns="0" rIns="0" bIns="0" anchor="t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</a:pPr>
            <a:r>
              <a:rPr sz="2700" b="1">
                <a:solidFill>
                  <a:srgbClr val="166A68"/>
                </a:solidFill>
                <a:latin typeface="Hiragino Sans GB"/>
                <a:ea typeface="Hiragino Sans GB"/>
              </a:rPr>
              <a:t>回答错误 → 更新 reviewList → 再练习</a:t>
            </a:r>
          </a:p>
        </p:txBody>
      </p:sp>
      <p:sp>
        <p:nvSpPr>
          <p:cNvPr id="5" name="TextBox 5">
            <a:extLst>
              <a:ext uri="{FF2B5EF4-FFF2-40B4-BE49-F238E27FC236}">
                <a16:creationId xmlns:a16="http://schemas.microsoft.com/office/drawing/2014/main" id="{015B9799-A470-4D1B-845F-DC1D83F06DAA}"/>
              </a:ext>
            </a:extLst>
          </p:cNvPr>
          <p:cNvSpPr txBox="1"/>
          <p:nvPr/>
        </p:nvSpPr>
        <p:spPr>
          <a:xfrm>
            <a:off x="685800" y="2714625"/>
            <a:ext cx="10668000" cy="3095625"/>
          </a:xfrm>
          <a:prstGeom prst="rect">
            <a:avLst/>
          </a:prstGeom>
        </p:spPr>
        <p:txBody>
          <a:bodyPr wrap="square" rtlCol="0" lIns="0" tIns="0" rIns="0" bIns="0" anchor="t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</a:pPr>
            <a:r>
              <a:rPr sz="2300">
                <a:solidFill>
                  <a:srgbClr val="152B3C"/>
                </a:solidFill>
                <a:latin typeface="Hiragino Sans GB"/>
                <a:ea typeface="Hiragino Sans GB"/>
              </a:rPr>
              <a:t>反馈包含正确性、原因和需要补充的知识点。</a:t>
            </a:r>
            <a:br/>
            <a:r>
              <a:rPr sz="2300">
                <a:solidFill>
                  <a:srgbClr val="152B3C"/>
                </a:solidFill>
                <a:latin typeface="Hiragino Sans GB"/>
                <a:ea typeface="Hiragino Sans GB"/>
              </a:rPr>
              <a:t>错题触发 reviewList=true，并确认后端保存成功。</a:t>
            </a:r>
            <a:br/>
            <a:r>
              <a:rPr sz="2300">
                <a:solidFill>
                  <a:srgbClr val="152B3C"/>
                </a:solidFill>
                <a:latin typeface="Hiragino Sans GB"/>
                <a:ea typeface="Hiragino Sans GB"/>
              </a:rPr>
              <a:t>保存失败时提示重试，不能直接显示“已加入复习”。</a:t>
            </a:r>
            <a:br/>
            <a:r>
              <a:rPr sz="2300">
                <a:solidFill>
                  <a:srgbClr val="152B3C"/>
                </a:solidFill>
                <a:latin typeface="Hiragino Sans GB"/>
                <a:ea typeface="Hiragino Sans GB"/>
              </a:rPr>
              <a:t>答对一次不必自动标记 mastered，应先定义掌握规则。</a:t>
            </a:r>
          </a:p>
        </p:txBody>
      </p:sp>
      <p:sp>
        <p:nvSpPr>
          <p:cNvPr id="6" name="TextBox 6">
            <a:extLst>
              <a:ext uri="{FF2B5EF4-FFF2-40B4-BE49-F238E27FC236}">
                <a16:creationId xmlns:a16="http://schemas.microsoft.com/office/drawing/2014/main" id="{B0A18CB4-7ABF-4E12-8A61-F6F19EFEB16E}"/>
              </a:ext>
            </a:extLst>
          </p:cNvPr>
          <p:cNvSpPr txBox="1"/>
          <p:nvPr/>
        </p:nvSpPr>
        <p:spPr>
          <a:xfrm>
            <a:off x="10715625" y="6305550"/>
            <a:ext cx="904875" cy="266700"/>
          </a:xfrm>
          <a:prstGeom prst="rect">
            <a:avLst/>
          </a:prstGeom>
        </p:spPr>
        <p:txBody>
          <a:bodyPr wrap="square" rtlCol="0" lIns="0" tIns="0" rIns="0" bIns="0" anchor="t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</a:pPr>
            <a:r>
              <a:rPr sz="1200">
                <a:solidFill>
                  <a:srgbClr val="667885"/>
                </a:solidFill>
                <a:latin typeface="Hiragino Sans GB"/>
                <a:ea typeface="Hiragino Sans GB"/>
              </a:rPr>
              <a:t>07 / 13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5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>
            <a:extLst>
              <a:ext uri="{FF2B5EF4-FFF2-40B4-BE49-F238E27FC236}">
                <a16:creationId xmlns:a16="http://schemas.microsoft.com/office/drawing/2014/main" id="{1FFE63B4-4540-4AFB-BD16-4FF160910C94}"/>
              </a:ext>
            </a:extLst>
          </p:cNvPr>
          <p:cNvSpPr txBox="1"/>
          <p:nvPr/>
        </p:nvSpPr>
        <p:spPr>
          <a:xfrm>
            <a:off x="666750" y="476250"/>
            <a:ext cx="10858500" cy="857250"/>
          </a:xfrm>
          <a:prstGeom prst="rect">
            <a:avLst/>
          </a:prstGeom>
        </p:spPr>
        <p:txBody>
          <a:bodyPr wrap="square" rtlCol="0" lIns="0" tIns="0" rIns="0" bIns="0" anchor="t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</a:pPr>
            <a:r>
              <a:rPr sz="3400" b="1">
                <a:solidFill>
                  <a:srgbClr val="152B3C"/>
                </a:solidFill>
                <a:latin typeface="Hiragino Sans GB"/>
                <a:ea typeface="Hiragino Sans GB"/>
              </a:rPr>
              <a:t>异常处理与评分边界</a:t>
            </a: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F871A129-08E8-4D11-AA50-F257D15DF5A0}"/>
              </a:ext>
            </a:extLst>
          </p:cNvPr>
          <p:cNvSpPr txBox="1"/>
          <p:nvPr/>
        </p:nvSpPr>
        <p:spPr>
          <a:xfrm>
            <a:off x="685800" y="1752600"/>
            <a:ext cx="5095875" cy="514350"/>
          </a:xfrm>
          <a:prstGeom prst="rect">
            <a:avLst/>
          </a:prstGeom>
        </p:spPr>
        <p:txBody>
          <a:bodyPr wrap="square" rtlCol="0" lIns="0" tIns="0" rIns="0" bIns="0" anchor="t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</a:pPr>
            <a:r>
              <a:rPr sz="2500" b="1">
                <a:solidFill>
                  <a:srgbClr val="166A68"/>
                </a:solidFill>
                <a:latin typeface="Hiragino Sans GB"/>
                <a:ea typeface="Hiragino Sans GB"/>
              </a:rPr>
              <a:t>模型与网络异常</a:t>
            </a:r>
          </a:p>
        </p:txBody>
      </p:sp>
      <p:sp>
        <p:nvSpPr>
          <p:cNvPr id="5" name="TextBox 5">
            <a:extLst>
              <a:ext uri="{FF2B5EF4-FFF2-40B4-BE49-F238E27FC236}">
                <a16:creationId xmlns:a16="http://schemas.microsoft.com/office/drawing/2014/main" id="{B469E6EA-1BEA-4EB0-AAEC-0BC9CDD444D5}"/>
              </a:ext>
            </a:extLst>
          </p:cNvPr>
          <p:cNvSpPr txBox="1"/>
          <p:nvPr/>
        </p:nvSpPr>
        <p:spPr>
          <a:xfrm>
            <a:off x="685800" y="2524125"/>
            <a:ext cx="5095875" cy="3286125"/>
          </a:xfrm>
          <a:prstGeom prst="rect">
            <a:avLst/>
          </a:prstGeom>
        </p:spPr>
        <p:txBody>
          <a:bodyPr wrap="square" rtlCol="0" lIns="0" tIns="0" rIns="0" bIns="0" anchor="t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</a:pPr>
            <a:r>
              <a:rPr sz="2100">
                <a:solidFill>
                  <a:srgbClr val="152B3C"/>
                </a:solidFill>
                <a:latin typeface="Hiragino Sans GB"/>
                <a:ea typeface="Hiragino Sans GB"/>
              </a:rPr>
              <a:t>JSON 能解析，还要检查字段和答案合法</a:t>
            </a:r>
            <a:br/>
            <a:r>
              <a:rPr sz="2100">
                <a:solidFill>
                  <a:srgbClr val="152B3C"/>
                </a:solidFill>
                <a:latin typeface="Hiragino Sans GB"/>
                <a:ea typeface="Hiragino Sans GB"/>
              </a:rPr>
              <a:t>性。</a:t>
            </a:r>
            <a:br/>
            <a:r>
              <a:rPr sz="2100">
                <a:solidFill>
                  <a:srgbClr val="152B3C"/>
                </a:solidFill>
                <a:latin typeface="Hiragino Sans GB"/>
                <a:ea typeface="Hiragino Sans GB"/>
              </a:rPr>
              <a:t>处理超时、空结果与格式错误。</a:t>
            </a:r>
            <a:br/>
            <a:r>
              <a:rPr sz="2100">
                <a:solidFill>
                  <a:srgbClr val="152B3C"/>
                </a:solidFill>
                <a:latin typeface="Hiragino Sans GB"/>
                <a:ea typeface="Hiragino Sans GB"/>
              </a:rPr>
              <a:t>失败时保留学生作答，提供可理解的重试</a:t>
            </a:r>
            <a:br/>
            <a:r>
              <a:rPr sz="2100">
                <a:solidFill>
                  <a:srgbClr val="152B3C"/>
                </a:solidFill>
                <a:latin typeface="Hiragino Sans GB"/>
                <a:ea typeface="Hiragino Sans GB"/>
              </a:rPr>
              <a:t>提示。</a:t>
            </a:r>
          </a:p>
        </p:txBody>
      </p:sp>
      <p:sp>
        <p:nvSpPr>
          <p:cNvPr id="6" name="TextBox 6">
            <a:extLst>
              <a:ext uri="{FF2B5EF4-FFF2-40B4-BE49-F238E27FC236}">
                <a16:creationId xmlns:a16="http://schemas.microsoft.com/office/drawing/2014/main" id="{B1A40CB0-756C-4861-BE29-E48E3A6B311A}"/>
              </a:ext>
            </a:extLst>
          </p:cNvPr>
          <p:cNvSpPr txBox="1"/>
          <p:nvPr/>
        </p:nvSpPr>
        <p:spPr>
          <a:xfrm>
            <a:off x="6438900" y="1752600"/>
            <a:ext cx="5095875" cy="514350"/>
          </a:xfrm>
          <a:prstGeom prst="rect">
            <a:avLst/>
          </a:prstGeom>
        </p:spPr>
        <p:txBody>
          <a:bodyPr wrap="square" rtlCol="0" lIns="0" tIns="0" rIns="0" bIns="0" anchor="t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</a:pPr>
            <a:r>
              <a:rPr sz="2500" b="1">
                <a:solidFill>
                  <a:srgbClr val="166A68"/>
                </a:solidFill>
                <a:latin typeface="Hiragino Sans GB"/>
                <a:ea typeface="Hiragino Sans GB"/>
              </a:rPr>
              <a:t>评分与数据可信性</a:t>
            </a:r>
          </a:p>
        </p:txBody>
      </p:sp>
      <p:sp>
        <p:nvSpPr>
          <p:cNvPr id="7" name="TextBox 7">
            <a:extLst>
              <a:ext uri="{FF2B5EF4-FFF2-40B4-BE49-F238E27FC236}">
                <a16:creationId xmlns:a16="http://schemas.microsoft.com/office/drawing/2014/main" id="{45EEAEBB-75EF-4C42-B304-6450D2E83DE3}"/>
              </a:ext>
            </a:extLst>
          </p:cNvPr>
          <p:cNvSpPr txBox="1"/>
          <p:nvPr/>
        </p:nvSpPr>
        <p:spPr>
          <a:xfrm>
            <a:off x="6438900" y="2524125"/>
            <a:ext cx="5095875" cy="3286125"/>
          </a:xfrm>
          <a:prstGeom prst="rect">
            <a:avLst/>
          </a:prstGeom>
        </p:spPr>
        <p:txBody>
          <a:bodyPr wrap="square" rtlCol="0" lIns="0" tIns="0" rIns="0" bIns="0" anchor="t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</a:pPr>
            <a:r>
              <a:rPr sz="2100">
                <a:solidFill>
                  <a:srgbClr val="152B3C"/>
                </a:solidFill>
                <a:latin typeface="Hiragino Sans GB"/>
                <a:ea typeface="Hiragino Sans GB"/>
              </a:rPr>
              <a:t>模型评分需有要点、理由与复核入口。</a:t>
            </a:r>
            <a:br/>
            <a:r>
              <a:rPr sz="2100">
                <a:solidFill>
                  <a:srgbClr val="152B3C"/>
                </a:solidFill>
                <a:latin typeface="Hiragino Sans GB"/>
                <a:ea typeface="Hiragino Sans GB"/>
              </a:rPr>
              <a:t>不信任前端传来的标准答案和用户编号。</a:t>
            </a:r>
            <a:br/>
            <a:r>
              <a:rPr sz="2100">
                <a:solidFill>
                  <a:srgbClr val="152B3C"/>
                </a:solidFill>
                <a:latin typeface="Hiragino Sans GB"/>
                <a:ea typeface="Hiragino Sans GB"/>
              </a:rPr>
              <a:t>学习材料及学生答案作为数据，避免改变</a:t>
            </a:r>
            <a:br/>
            <a:r>
              <a:rPr sz="2100">
                <a:solidFill>
                  <a:srgbClr val="152B3C"/>
                </a:solidFill>
                <a:latin typeface="Hiragino Sans GB"/>
                <a:ea typeface="Hiragino Sans GB"/>
              </a:rPr>
              <a:t>评分规则。</a:t>
            </a:r>
          </a:p>
        </p:txBody>
      </p:sp>
      <p:sp>
        <p:nvSpPr>
          <p:cNvPr id="8" name="TextBox 8">
            <a:extLst>
              <a:ext uri="{FF2B5EF4-FFF2-40B4-BE49-F238E27FC236}">
                <a16:creationId xmlns:a16="http://schemas.microsoft.com/office/drawing/2014/main" id="{095C1822-399A-4BB9-A8A8-1C5A2E626410}"/>
              </a:ext>
            </a:extLst>
          </p:cNvPr>
          <p:cNvSpPr txBox="1"/>
          <p:nvPr/>
        </p:nvSpPr>
        <p:spPr>
          <a:xfrm>
            <a:off x="10715625" y="6305550"/>
            <a:ext cx="904875" cy="266700"/>
          </a:xfrm>
          <a:prstGeom prst="rect">
            <a:avLst/>
          </a:prstGeom>
        </p:spPr>
        <p:txBody>
          <a:bodyPr wrap="square" rtlCol="0" lIns="0" tIns="0" rIns="0" bIns="0" anchor="t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</a:pPr>
            <a:r>
              <a:rPr sz="1200">
                <a:solidFill>
                  <a:srgbClr val="667885"/>
                </a:solidFill>
                <a:latin typeface="Hiragino Sans GB"/>
                <a:ea typeface="Hiragino Sans GB"/>
              </a:rPr>
              <a:t>08 / 13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5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>
            <a:extLst>
              <a:ext uri="{FF2B5EF4-FFF2-40B4-BE49-F238E27FC236}">
                <a16:creationId xmlns:a16="http://schemas.microsoft.com/office/drawing/2014/main" id="{433C1197-4939-4CFA-9917-2996A467AF33}"/>
              </a:ext>
            </a:extLst>
          </p:cNvPr>
          <p:cNvSpPr txBox="1"/>
          <p:nvPr/>
        </p:nvSpPr>
        <p:spPr>
          <a:xfrm>
            <a:off x="666750" y="476250"/>
            <a:ext cx="10858500" cy="857250"/>
          </a:xfrm>
          <a:prstGeom prst="rect">
            <a:avLst/>
          </a:prstGeom>
        </p:spPr>
        <p:txBody>
          <a:bodyPr wrap="square" rtlCol="0" lIns="0" tIns="0" rIns="0" bIns="0" anchor="t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</a:pPr>
            <a:r>
              <a:rPr sz="3400" b="1">
                <a:solidFill>
                  <a:srgbClr val="152B3C"/>
                </a:solidFill>
                <a:latin typeface="Hiragino Sans GB"/>
                <a:ea typeface="Hiragino Sans GB"/>
              </a:rPr>
              <a:t>自测题：单选题</a:t>
            </a: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A8784FA7-3FE1-4F1A-8B46-4E2CC698A6A5}"/>
              </a:ext>
            </a:extLst>
          </p:cNvPr>
          <p:cNvSpPr txBox="1"/>
          <p:nvPr/>
        </p:nvSpPr>
        <p:spPr>
          <a:xfrm>
            <a:off x="685800" y="1752600"/>
            <a:ext cx="5095875" cy="514350"/>
          </a:xfrm>
          <a:prstGeom prst="rect">
            <a:avLst/>
          </a:prstGeom>
        </p:spPr>
        <p:txBody>
          <a:bodyPr wrap="square" rtlCol="0" lIns="0" tIns="0" rIns="0" bIns="0" anchor="t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</a:pPr>
            <a:r>
              <a:rPr sz="2500" b="1">
                <a:solidFill>
                  <a:srgbClr val="166A68"/>
                </a:solidFill>
                <a:latin typeface="Hiragino Sans GB"/>
                <a:ea typeface="Hiragino Sans GB"/>
              </a:rPr>
              <a:t>01—02｜每题 5 分</a:t>
            </a:r>
          </a:p>
        </p:txBody>
      </p:sp>
      <p:sp>
        <p:nvSpPr>
          <p:cNvPr id="5" name="TextBox 5">
            <a:extLst>
              <a:ext uri="{FF2B5EF4-FFF2-40B4-BE49-F238E27FC236}">
                <a16:creationId xmlns:a16="http://schemas.microsoft.com/office/drawing/2014/main" id="{987C4F70-E727-4B73-929B-0218AA041588}"/>
              </a:ext>
            </a:extLst>
          </p:cNvPr>
          <p:cNvSpPr txBox="1"/>
          <p:nvPr/>
        </p:nvSpPr>
        <p:spPr>
          <a:xfrm>
            <a:off x="685800" y="2524125"/>
            <a:ext cx="5095875" cy="3286125"/>
          </a:xfrm>
          <a:prstGeom prst="rect">
            <a:avLst/>
          </a:prstGeom>
        </p:spPr>
        <p:txBody>
          <a:bodyPr wrap="square" rtlCol="0" lIns="0" tIns="0" rIns="0" bIns="0" anchor="t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</a:pPr>
            <a:r>
              <a:rPr sz="2100">
                <a:solidFill>
                  <a:srgbClr val="152B3C"/>
                </a:solidFill>
                <a:latin typeface="Hiragino Sans GB"/>
                <a:ea typeface="Hiragino Sans GB"/>
              </a:rPr>
              <a:t>1. 结构化 JSON 的主要作用？</a:t>
            </a:r>
            <a:br/>
            <a:r>
              <a:rPr sz="2100">
                <a:solidFill>
                  <a:srgbClr val="152B3C"/>
                </a:solidFill>
                <a:latin typeface="Hiragino Sans GB"/>
                <a:ea typeface="Hiragino Sans GB"/>
              </a:rPr>
              <a:t>A 美化文字　B 便于解析与渲染</a:t>
            </a:r>
            <a:br/>
            <a:r>
              <a:rPr sz="2100">
                <a:solidFill>
                  <a:srgbClr val="152B3C"/>
                </a:solidFill>
                <a:latin typeface="Hiragino Sans GB"/>
                <a:ea typeface="Hiragino Sans GB"/>
              </a:rPr>
              <a:t>C 保证答案正确　D 免除校验</a:t>
            </a:r>
            <a:br/>
            <a:br/>
            <a:r>
              <a:rPr sz="2100">
                <a:solidFill>
                  <a:srgbClr val="152B3C"/>
                </a:solidFill>
                <a:latin typeface="Hiragino Sans GB"/>
                <a:ea typeface="Hiragino Sans GB"/>
              </a:rPr>
              <a:t>2. 新题生成时应如何处理？</a:t>
            </a:r>
            <a:br/>
            <a:r>
              <a:rPr sz="2100">
                <a:solidFill>
                  <a:srgbClr val="152B3C"/>
                </a:solidFill>
                <a:latin typeface="Hiragino Sans GB"/>
                <a:ea typeface="Hiragino Sans GB"/>
              </a:rPr>
              <a:t>A 保留旧结果　B 只清题干</a:t>
            </a:r>
            <a:br/>
            <a:r>
              <a:rPr sz="2100">
                <a:solidFill>
                  <a:srgbClr val="152B3C"/>
                </a:solidFill>
                <a:latin typeface="Hiragino Sans GB"/>
                <a:ea typeface="Hiragino Sans GB"/>
              </a:rPr>
              <a:t>C 清空旧答案与评分　D 自动交卷</a:t>
            </a:r>
          </a:p>
        </p:txBody>
      </p:sp>
      <p:sp>
        <p:nvSpPr>
          <p:cNvPr id="6" name="TextBox 6">
            <a:extLst>
              <a:ext uri="{FF2B5EF4-FFF2-40B4-BE49-F238E27FC236}">
                <a16:creationId xmlns:a16="http://schemas.microsoft.com/office/drawing/2014/main" id="{6CBF2861-1A83-49F7-907E-FDE138047D60}"/>
              </a:ext>
            </a:extLst>
          </p:cNvPr>
          <p:cNvSpPr txBox="1"/>
          <p:nvPr/>
        </p:nvSpPr>
        <p:spPr>
          <a:xfrm>
            <a:off x="6438900" y="1752600"/>
            <a:ext cx="5095875" cy="514350"/>
          </a:xfrm>
          <a:prstGeom prst="rect">
            <a:avLst/>
          </a:prstGeom>
        </p:spPr>
        <p:txBody>
          <a:bodyPr wrap="square" rtlCol="0" lIns="0" tIns="0" rIns="0" bIns="0" anchor="t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</a:pPr>
            <a:r>
              <a:rPr sz="2500" b="1">
                <a:solidFill>
                  <a:srgbClr val="166A68"/>
                </a:solidFill>
                <a:latin typeface="Hiragino Sans GB"/>
                <a:ea typeface="Hiragino Sans GB"/>
              </a:rPr>
              <a:t>03—04｜每题 5 分</a:t>
            </a:r>
          </a:p>
        </p:txBody>
      </p:sp>
      <p:sp>
        <p:nvSpPr>
          <p:cNvPr id="7" name="TextBox 7">
            <a:extLst>
              <a:ext uri="{FF2B5EF4-FFF2-40B4-BE49-F238E27FC236}">
                <a16:creationId xmlns:a16="http://schemas.microsoft.com/office/drawing/2014/main" id="{60DC0C11-87A8-4CBE-ADF6-F46A267B058A}"/>
              </a:ext>
            </a:extLst>
          </p:cNvPr>
          <p:cNvSpPr txBox="1"/>
          <p:nvPr/>
        </p:nvSpPr>
        <p:spPr>
          <a:xfrm>
            <a:off x="6438900" y="2524125"/>
            <a:ext cx="5095875" cy="3286125"/>
          </a:xfrm>
          <a:prstGeom prst="rect">
            <a:avLst/>
          </a:prstGeom>
        </p:spPr>
        <p:txBody>
          <a:bodyPr wrap="square" rtlCol="0" lIns="0" tIns="0" rIns="0" bIns="0" anchor="t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</a:pPr>
            <a:r>
              <a:rPr sz="2100">
                <a:solidFill>
                  <a:srgbClr val="152B3C"/>
                </a:solidFill>
                <a:latin typeface="Hiragino Sans GB"/>
                <a:ea typeface="Hiragino Sans GB"/>
              </a:rPr>
              <a:t>3. 单选题答错后的复习状态是？</a:t>
            </a:r>
            <a:br/>
            <a:r>
              <a:rPr sz="2100">
                <a:solidFill>
                  <a:srgbClr val="152B3C"/>
                </a:solidFill>
                <a:latin typeface="Hiragino Sans GB"/>
                <a:ea typeface="Hiragino Sans GB"/>
              </a:rPr>
              <a:t>A mastered　B reviewList=true</a:t>
            </a:r>
            <a:br/>
            <a:r>
              <a:rPr sz="2100">
                <a:solidFill>
                  <a:srgbClr val="152B3C"/>
                </a:solidFill>
                <a:latin typeface="Hiragino Sans GB"/>
                <a:ea typeface="Hiragino Sans GB"/>
              </a:rPr>
              <a:t>C 删除知识点　D 退出登录</a:t>
            </a:r>
            <a:br/>
            <a:br/>
            <a:r>
              <a:rPr sz="2100">
                <a:solidFill>
                  <a:srgbClr val="152B3C"/>
                </a:solidFill>
                <a:latin typeface="Hiragino Sans GB"/>
                <a:ea typeface="Hiragino Sans GB"/>
              </a:rPr>
              <a:t>4. 简答题 AI 评分的依据是？</a:t>
            </a:r>
            <a:br/>
            <a:r>
              <a:rPr sz="2100">
                <a:solidFill>
                  <a:srgbClr val="152B3C"/>
                </a:solidFill>
                <a:latin typeface="Hiragino Sans GB"/>
                <a:ea typeface="Hiragino Sans GB"/>
              </a:rPr>
              <a:t>A 字数　B 与参考答案逐字一致</a:t>
            </a:r>
            <a:br/>
            <a:r>
              <a:rPr sz="2100">
                <a:solidFill>
                  <a:srgbClr val="152B3C"/>
                </a:solidFill>
                <a:latin typeface="Hiragino Sans GB"/>
                <a:ea typeface="Hiragino Sans GB"/>
              </a:rPr>
              <a:t>C 语气　D 题目、要点及学生回答</a:t>
            </a:r>
          </a:p>
        </p:txBody>
      </p:sp>
      <p:sp>
        <p:nvSpPr>
          <p:cNvPr id="8" name="TextBox 8">
            <a:extLst>
              <a:ext uri="{FF2B5EF4-FFF2-40B4-BE49-F238E27FC236}">
                <a16:creationId xmlns:a16="http://schemas.microsoft.com/office/drawing/2014/main" id="{FFB8F47E-BDA7-491C-BC1B-76E825C8C79A}"/>
              </a:ext>
            </a:extLst>
          </p:cNvPr>
          <p:cNvSpPr txBox="1"/>
          <p:nvPr/>
        </p:nvSpPr>
        <p:spPr>
          <a:xfrm>
            <a:off x="10715625" y="6305550"/>
            <a:ext cx="904875" cy="266700"/>
          </a:xfrm>
          <a:prstGeom prst="rect">
            <a:avLst/>
          </a:prstGeom>
        </p:spPr>
        <p:txBody>
          <a:bodyPr wrap="square" rtlCol="0" lIns="0" tIns="0" rIns="0" bIns="0" anchor="t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</a:pPr>
            <a:r>
              <a:rPr sz="1200">
                <a:solidFill>
                  <a:srgbClr val="667885"/>
                </a:solidFill>
                <a:latin typeface="Hiragino Sans GB"/>
                <a:ea typeface="Hiragino Sans GB"/>
              </a:rPr>
              <a:t>09 / 13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5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>
            <a:extLst>
              <a:ext uri="{FF2B5EF4-FFF2-40B4-BE49-F238E27FC236}">
                <a16:creationId xmlns:a16="http://schemas.microsoft.com/office/drawing/2014/main" id="{837C34BC-ECF9-47C7-BC5D-EBAF78013BBB}"/>
              </a:ext>
            </a:extLst>
          </p:cNvPr>
          <p:cNvSpPr txBox="1"/>
          <p:nvPr/>
        </p:nvSpPr>
        <p:spPr>
          <a:xfrm>
            <a:off x="666750" y="476250"/>
            <a:ext cx="10858500" cy="857250"/>
          </a:xfrm>
          <a:prstGeom prst="rect">
            <a:avLst/>
          </a:prstGeom>
        </p:spPr>
        <p:txBody>
          <a:bodyPr wrap="square" rtlCol="0" lIns="0" tIns="0" rIns="0" bIns="0" anchor="t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</a:pPr>
            <a:r>
              <a:rPr sz="3400" b="1">
                <a:solidFill>
                  <a:srgbClr val="152B3C"/>
                </a:solidFill>
                <a:latin typeface="Hiragino Sans GB"/>
                <a:ea typeface="Hiragino Sans GB"/>
              </a:rPr>
              <a:t>自测题：简答与情境题</a:t>
            </a: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823EDD68-70D6-4E09-A6AA-92EA0E7CCB98}"/>
              </a:ext>
            </a:extLst>
          </p:cNvPr>
          <p:cNvSpPr txBox="1"/>
          <p:nvPr/>
        </p:nvSpPr>
        <p:spPr>
          <a:xfrm>
            <a:off x="685800" y="1752600"/>
            <a:ext cx="5095875" cy="514350"/>
          </a:xfrm>
          <a:prstGeom prst="rect">
            <a:avLst/>
          </a:prstGeom>
        </p:spPr>
        <p:txBody>
          <a:bodyPr wrap="square" rtlCol="0" lIns="0" tIns="0" rIns="0" bIns="0" anchor="t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</a:pPr>
            <a:r>
              <a:rPr sz="2500" b="1">
                <a:solidFill>
                  <a:srgbClr val="166A68"/>
                </a:solidFill>
                <a:latin typeface="Hiragino Sans GB"/>
                <a:ea typeface="Hiragino Sans GB"/>
              </a:rPr>
              <a:t>05—06｜每题 20 分</a:t>
            </a:r>
          </a:p>
        </p:txBody>
      </p:sp>
      <p:sp>
        <p:nvSpPr>
          <p:cNvPr id="5" name="TextBox 5">
            <a:extLst>
              <a:ext uri="{FF2B5EF4-FFF2-40B4-BE49-F238E27FC236}">
                <a16:creationId xmlns:a16="http://schemas.microsoft.com/office/drawing/2014/main" id="{1AFC8F15-987E-433F-898F-68EFAD24DA86}"/>
              </a:ext>
            </a:extLst>
          </p:cNvPr>
          <p:cNvSpPr txBox="1"/>
          <p:nvPr/>
        </p:nvSpPr>
        <p:spPr>
          <a:xfrm>
            <a:off x="685800" y="2524125"/>
            <a:ext cx="5095875" cy="3286125"/>
          </a:xfrm>
          <a:prstGeom prst="rect">
            <a:avLst/>
          </a:prstGeom>
        </p:spPr>
        <p:txBody>
          <a:bodyPr wrap="square" rtlCol="0" lIns="0" tIns="0" rIns="0" bIns="0" anchor="t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</a:pPr>
            <a:r>
              <a:rPr sz="2100">
                <a:solidFill>
                  <a:srgbClr val="152B3C"/>
                </a:solidFill>
                <a:latin typeface="Hiragino Sans GB"/>
                <a:ea typeface="Hiragino Sans GB"/>
              </a:rPr>
              <a:t>5. 设计“出题—作答—评分—复习”流程，</a:t>
            </a:r>
            <a:br/>
            <a:r>
              <a:rPr sz="2100">
                <a:solidFill>
                  <a:srgbClr val="152B3C"/>
                </a:solidFill>
                <a:latin typeface="Hiragino Sans GB"/>
                <a:ea typeface="Hiragino Sans GB"/>
              </a:rPr>
              <a:t>说明前后端各自负责什么。</a:t>
            </a:r>
            <a:br/>
            <a:br/>
            <a:r>
              <a:rPr sz="2100">
                <a:solidFill>
                  <a:srgbClr val="152B3C"/>
                </a:solidFill>
                <a:latin typeface="Hiragino Sans GB"/>
                <a:ea typeface="Hiragino Sans GB"/>
              </a:rPr>
              <a:t>6. 模型返回的 JSON 可以解析，但缺少</a:t>
            </a:r>
            <a:br/>
            <a:r>
              <a:rPr sz="2100">
                <a:solidFill>
                  <a:srgbClr val="152B3C"/>
                </a:solidFill>
                <a:latin typeface="Hiragino Sans GB"/>
                <a:ea typeface="Hiragino Sans GB"/>
              </a:rPr>
              <a:t> options 或答案不在选项内，应该如何</a:t>
            </a:r>
            <a:br/>
            <a:r>
              <a:rPr sz="2100">
                <a:solidFill>
                  <a:srgbClr val="152B3C"/>
                </a:solidFill>
                <a:latin typeface="Hiragino Sans GB"/>
                <a:ea typeface="Hiragino Sans GB"/>
              </a:rPr>
              <a:t>处理？</a:t>
            </a:r>
          </a:p>
        </p:txBody>
      </p:sp>
      <p:sp>
        <p:nvSpPr>
          <p:cNvPr id="6" name="TextBox 6">
            <a:extLst>
              <a:ext uri="{FF2B5EF4-FFF2-40B4-BE49-F238E27FC236}">
                <a16:creationId xmlns:a16="http://schemas.microsoft.com/office/drawing/2014/main" id="{4048DA73-CA42-43BF-B406-4F5E4E0FF69E}"/>
              </a:ext>
            </a:extLst>
          </p:cNvPr>
          <p:cNvSpPr txBox="1"/>
          <p:nvPr/>
        </p:nvSpPr>
        <p:spPr>
          <a:xfrm>
            <a:off x="6438900" y="1752600"/>
            <a:ext cx="5095875" cy="514350"/>
          </a:xfrm>
          <a:prstGeom prst="rect">
            <a:avLst/>
          </a:prstGeom>
        </p:spPr>
        <p:txBody>
          <a:bodyPr wrap="square" rtlCol="0" lIns="0" tIns="0" rIns="0" bIns="0" anchor="t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</a:pPr>
            <a:r>
              <a:rPr sz="2500" b="1">
                <a:solidFill>
                  <a:srgbClr val="166A68"/>
                </a:solidFill>
                <a:latin typeface="Hiragino Sans GB"/>
                <a:ea typeface="Hiragino Sans GB"/>
              </a:rPr>
              <a:t>07—08｜每题 20 分</a:t>
            </a:r>
          </a:p>
        </p:txBody>
      </p:sp>
      <p:sp>
        <p:nvSpPr>
          <p:cNvPr id="7" name="TextBox 7">
            <a:extLst>
              <a:ext uri="{FF2B5EF4-FFF2-40B4-BE49-F238E27FC236}">
                <a16:creationId xmlns:a16="http://schemas.microsoft.com/office/drawing/2014/main" id="{761205AD-206E-4871-8DFB-9DBC37742D04}"/>
              </a:ext>
            </a:extLst>
          </p:cNvPr>
          <p:cNvSpPr txBox="1"/>
          <p:nvPr/>
        </p:nvSpPr>
        <p:spPr>
          <a:xfrm>
            <a:off x="6438900" y="2524125"/>
            <a:ext cx="5095875" cy="3286125"/>
          </a:xfrm>
          <a:prstGeom prst="rect">
            <a:avLst/>
          </a:prstGeom>
        </p:spPr>
        <p:txBody>
          <a:bodyPr wrap="square" rtlCol="0" lIns="0" tIns="0" rIns="0" bIns="0" anchor="t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</a:pPr>
            <a:r>
              <a:rPr sz="2100">
                <a:solidFill>
                  <a:srgbClr val="152B3C"/>
                </a:solidFill>
                <a:latin typeface="Hiragino Sans GB"/>
                <a:ea typeface="Hiragino Sans GB"/>
              </a:rPr>
              <a:t>7. 如何让 AI 公平地评价简答题？请说</a:t>
            </a:r>
            <a:br/>
            <a:r>
              <a:rPr sz="2100">
                <a:solidFill>
                  <a:srgbClr val="152B3C"/>
                </a:solidFill>
                <a:latin typeface="Hiragino Sans GB"/>
                <a:ea typeface="Hiragino Sans GB"/>
              </a:rPr>
              <a:t>明评分输入、规则、输出及可信性。</a:t>
            </a:r>
            <a:br/>
            <a:br/>
            <a:r>
              <a:rPr sz="2100">
                <a:solidFill>
                  <a:srgbClr val="152B3C"/>
                </a:solidFill>
                <a:latin typeface="Hiragino Sans GB"/>
                <a:ea typeface="Hiragino Sans GB"/>
              </a:rPr>
              <a:t>8. 设计至少四个失败场景，说明页面如</a:t>
            </a:r>
            <a:br/>
            <a:r>
              <a:rPr sz="2100">
                <a:solidFill>
                  <a:srgbClr val="152B3C"/>
                </a:solidFill>
                <a:latin typeface="Hiragino Sans GB"/>
                <a:ea typeface="Hiragino Sans GB"/>
              </a:rPr>
              <a:t>何处理，以及哪些状态需要保留或重置。</a:t>
            </a:r>
          </a:p>
        </p:txBody>
      </p:sp>
      <p:sp>
        <p:nvSpPr>
          <p:cNvPr id="8" name="TextBox 8">
            <a:extLst>
              <a:ext uri="{FF2B5EF4-FFF2-40B4-BE49-F238E27FC236}">
                <a16:creationId xmlns:a16="http://schemas.microsoft.com/office/drawing/2014/main" id="{CEA11A17-6B8C-4C30-B4E1-2F33FF72EBFB}"/>
              </a:ext>
            </a:extLst>
          </p:cNvPr>
          <p:cNvSpPr txBox="1"/>
          <p:nvPr/>
        </p:nvSpPr>
        <p:spPr>
          <a:xfrm>
            <a:off x="10715625" y="6305550"/>
            <a:ext cx="904875" cy="266700"/>
          </a:xfrm>
          <a:prstGeom prst="rect">
            <a:avLst/>
          </a:prstGeom>
        </p:spPr>
        <p:txBody>
          <a:bodyPr wrap="square" rtlCol="0" lIns="0" tIns="0" rIns="0" bIns="0" anchor="t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</a:pPr>
            <a:r>
              <a:rPr sz="1200">
                <a:solidFill>
                  <a:srgbClr val="667885"/>
                </a:solidFill>
                <a:latin typeface="Hiragino Sans GB"/>
                <a:ea typeface="Hiragino Sans GB"/>
              </a:rPr>
              <a:t>10 / 13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5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>
            <a:extLst>
              <a:ext uri="{FF2B5EF4-FFF2-40B4-BE49-F238E27FC236}">
                <a16:creationId xmlns:a16="http://schemas.microsoft.com/office/drawing/2014/main" id="{47F3889C-9B90-426A-8B57-ABC4AD5DA8A1}"/>
              </a:ext>
            </a:extLst>
          </p:cNvPr>
          <p:cNvSpPr txBox="1"/>
          <p:nvPr/>
        </p:nvSpPr>
        <p:spPr>
          <a:xfrm>
            <a:off x="666750" y="476250"/>
            <a:ext cx="10858500" cy="857250"/>
          </a:xfrm>
          <a:prstGeom prst="rect">
            <a:avLst/>
          </a:prstGeom>
        </p:spPr>
        <p:txBody>
          <a:bodyPr wrap="square" rtlCol="0" lIns="0" tIns="0" rIns="0" bIns="0" anchor="t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</a:pPr>
            <a:r>
              <a:rPr sz="3400" b="1">
                <a:solidFill>
                  <a:srgbClr val="152B3C"/>
                </a:solidFill>
                <a:latin typeface="Hiragino Sans GB"/>
                <a:ea typeface="Hiragino Sans GB"/>
              </a:rPr>
              <a:t>参考答案与评分要点</a:t>
            </a: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64F34258-367D-4CF6-8B7E-84E9786B90B9}"/>
              </a:ext>
            </a:extLst>
          </p:cNvPr>
          <p:cNvSpPr txBox="1"/>
          <p:nvPr/>
        </p:nvSpPr>
        <p:spPr>
          <a:xfrm>
            <a:off x="685800" y="1752600"/>
            <a:ext cx="5095875" cy="514350"/>
          </a:xfrm>
          <a:prstGeom prst="rect">
            <a:avLst/>
          </a:prstGeom>
        </p:spPr>
        <p:txBody>
          <a:bodyPr wrap="square" rtlCol="0" lIns="0" tIns="0" rIns="0" bIns="0" anchor="t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</a:pPr>
            <a:r>
              <a:rPr sz="2500" b="1">
                <a:solidFill>
                  <a:srgbClr val="166A68"/>
                </a:solidFill>
                <a:latin typeface="Hiragino Sans GB"/>
                <a:ea typeface="Hiragino Sans GB"/>
              </a:rPr>
              <a:t>单选题与流程题</a:t>
            </a:r>
          </a:p>
        </p:txBody>
      </p:sp>
      <p:sp>
        <p:nvSpPr>
          <p:cNvPr id="5" name="TextBox 5">
            <a:extLst>
              <a:ext uri="{FF2B5EF4-FFF2-40B4-BE49-F238E27FC236}">
                <a16:creationId xmlns:a16="http://schemas.microsoft.com/office/drawing/2014/main" id="{343FC895-065E-4320-852B-E23382A1132D}"/>
              </a:ext>
            </a:extLst>
          </p:cNvPr>
          <p:cNvSpPr txBox="1"/>
          <p:nvPr/>
        </p:nvSpPr>
        <p:spPr>
          <a:xfrm>
            <a:off x="685800" y="2524125"/>
            <a:ext cx="5095875" cy="3286125"/>
          </a:xfrm>
          <a:prstGeom prst="rect">
            <a:avLst/>
          </a:prstGeom>
        </p:spPr>
        <p:txBody>
          <a:bodyPr wrap="square" rtlCol="0" lIns="0" tIns="0" rIns="0" bIns="0" anchor="t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</a:pPr>
            <a:r>
              <a:rPr sz="2100">
                <a:solidFill>
                  <a:srgbClr val="152B3C"/>
                </a:solidFill>
                <a:latin typeface="Hiragino Sans GB"/>
                <a:ea typeface="Hiragino Sans GB"/>
              </a:rPr>
              <a:t>单选答案：1-B、2-C、3-B、4-D。</a:t>
            </a:r>
            <a:br/>
            <a:r>
              <a:rPr sz="2100">
                <a:solidFill>
                  <a:srgbClr val="152B3C"/>
                </a:solidFill>
                <a:latin typeface="Hiragino Sans GB"/>
                <a:ea typeface="Hiragino Sans GB"/>
              </a:rPr>
              <a:t>第5题：输入与范围、出题校验、答题提</a:t>
            </a:r>
            <a:br/>
            <a:r>
              <a:rPr sz="2100">
                <a:solidFill>
                  <a:srgbClr val="152B3C"/>
                </a:solidFill>
                <a:latin typeface="Hiragino Sans GB"/>
                <a:ea typeface="Hiragino Sans GB"/>
              </a:rPr>
              <a:t>交、反馈与复习，各 5 分。</a:t>
            </a:r>
            <a:br/>
            <a:r>
              <a:rPr sz="2100">
                <a:solidFill>
                  <a:srgbClr val="152B3C"/>
                </a:solidFill>
                <a:latin typeface="Hiragino Sans GB"/>
                <a:ea typeface="Hiragino Sans GB"/>
              </a:rPr>
              <a:t>第6题：字段校验、值域校验、失败处理</a:t>
            </a:r>
            <a:br/>
            <a:r>
              <a:rPr sz="2100">
                <a:solidFill>
                  <a:srgbClr val="152B3C"/>
                </a:solidFill>
                <a:latin typeface="Hiragino Sans GB"/>
                <a:ea typeface="Hiragino Sans GB"/>
              </a:rPr>
              <a:t>、前端反馈，各 5 分。</a:t>
            </a:r>
          </a:p>
        </p:txBody>
      </p:sp>
      <p:sp>
        <p:nvSpPr>
          <p:cNvPr id="6" name="TextBox 6">
            <a:extLst>
              <a:ext uri="{FF2B5EF4-FFF2-40B4-BE49-F238E27FC236}">
                <a16:creationId xmlns:a16="http://schemas.microsoft.com/office/drawing/2014/main" id="{128CA549-6016-4357-8181-7D8B3F831690}"/>
              </a:ext>
            </a:extLst>
          </p:cNvPr>
          <p:cNvSpPr txBox="1"/>
          <p:nvPr/>
        </p:nvSpPr>
        <p:spPr>
          <a:xfrm>
            <a:off x="6438900" y="1752600"/>
            <a:ext cx="5095875" cy="514350"/>
          </a:xfrm>
          <a:prstGeom prst="rect">
            <a:avLst/>
          </a:prstGeom>
        </p:spPr>
        <p:txBody>
          <a:bodyPr wrap="square" rtlCol="0" lIns="0" tIns="0" rIns="0" bIns="0" anchor="t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</a:pPr>
            <a:r>
              <a:rPr sz="2500" b="1">
                <a:solidFill>
                  <a:srgbClr val="166A68"/>
                </a:solidFill>
                <a:latin typeface="Hiragino Sans GB"/>
                <a:ea typeface="Hiragino Sans GB"/>
              </a:rPr>
              <a:t>评分题与异常题</a:t>
            </a:r>
          </a:p>
        </p:txBody>
      </p:sp>
      <p:sp>
        <p:nvSpPr>
          <p:cNvPr id="7" name="TextBox 7">
            <a:extLst>
              <a:ext uri="{FF2B5EF4-FFF2-40B4-BE49-F238E27FC236}">
                <a16:creationId xmlns:a16="http://schemas.microsoft.com/office/drawing/2014/main" id="{610ACA56-BC41-47F9-A0E6-58D64C91B6B9}"/>
              </a:ext>
            </a:extLst>
          </p:cNvPr>
          <p:cNvSpPr txBox="1"/>
          <p:nvPr/>
        </p:nvSpPr>
        <p:spPr>
          <a:xfrm>
            <a:off x="6438900" y="2524125"/>
            <a:ext cx="5095875" cy="3286125"/>
          </a:xfrm>
          <a:prstGeom prst="rect">
            <a:avLst/>
          </a:prstGeom>
        </p:spPr>
        <p:txBody>
          <a:bodyPr wrap="square" rtlCol="0" lIns="0" tIns="0" rIns="0" bIns="0" anchor="t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</a:pPr>
            <a:r>
              <a:rPr sz="2100">
                <a:solidFill>
                  <a:srgbClr val="152B3C"/>
                </a:solidFill>
                <a:latin typeface="Hiragino Sans GB"/>
                <a:ea typeface="Hiragino Sans GB"/>
              </a:rPr>
              <a:t>第7题：评分依据、语义与部分得分、结</a:t>
            </a:r>
            <a:br/>
            <a:r>
              <a:rPr sz="2100">
                <a:solidFill>
                  <a:srgbClr val="152B3C"/>
                </a:solidFill>
                <a:latin typeface="Hiragino Sans GB"/>
                <a:ea typeface="Hiragino Sans GB"/>
              </a:rPr>
              <a:t>构化输出、可信性与复核，各 5 分。</a:t>
            </a:r>
            <a:br/>
            <a:r>
              <a:rPr sz="2100">
                <a:solidFill>
                  <a:srgbClr val="152B3C"/>
                </a:solidFill>
                <a:latin typeface="Hiragino Sans GB"/>
                <a:ea typeface="Hiragino Sans GB"/>
              </a:rPr>
              <a:t>第8题：未作答、出题失败、评分失败、</a:t>
            </a:r>
            <a:br/>
            <a:r>
              <a:rPr sz="2100">
                <a:solidFill>
                  <a:srgbClr val="152B3C"/>
                </a:solidFill>
                <a:latin typeface="Hiragino Sans GB"/>
                <a:ea typeface="Hiragino Sans GB"/>
              </a:rPr>
              <a:t>复习写入失败，各 5 分。</a:t>
            </a:r>
            <a:br/>
            <a:r>
              <a:rPr sz="2100">
                <a:solidFill>
                  <a:srgbClr val="152B3C"/>
                </a:solidFill>
                <a:latin typeface="Hiragino Sans GB"/>
                <a:ea typeface="Hiragino Sans GB"/>
              </a:rPr>
              <a:t>每个场景需给出处理方式和状态变化。</a:t>
            </a:r>
          </a:p>
        </p:txBody>
      </p:sp>
      <p:sp>
        <p:nvSpPr>
          <p:cNvPr id="8" name="TextBox 8">
            <a:extLst>
              <a:ext uri="{FF2B5EF4-FFF2-40B4-BE49-F238E27FC236}">
                <a16:creationId xmlns:a16="http://schemas.microsoft.com/office/drawing/2014/main" id="{AA30BB1D-7926-42CE-9976-F245A21431FC}"/>
              </a:ext>
            </a:extLst>
          </p:cNvPr>
          <p:cNvSpPr txBox="1"/>
          <p:nvPr/>
        </p:nvSpPr>
        <p:spPr>
          <a:xfrm>
            <a:off x="10715625" y="6305550"/>
            <a:ext cx="904875" cy="266700"/>
          </a:xfrm>
          <a:prstGeom prst="rect">
            <a:avLst/>
          </a:prstGeom>
        </p:spPr>
        <p:txBody>
          <a:bodyPr wrap="square" rtlCol="0" lIns="0" tIns="0" rIns="0" bIns="0" anchor="t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</a:pPr>
            <a:r>
              <a:rPr sz="1200">
                <a:solidFill>
                  <a:srgbClr val="667885"/>
                </a:solidFill>
                <a:latin typeface="Hiragino Sans GB"/>
                <a:ea typeface="Hiragino Sans GB"/>
              </a:rPr>
              <a:t>11 / 13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5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>
            <a:extLst>
              <a:ext uri="{FF2B5EF4-FFF2-40B4-BE49-F238E27FC236}">
                <a16:creationId xmlns:a16="http://schemas.microsoft.com/office/drawing/2014/main" id="{A0DB8A23-A376-49FC-A158-12D901DAAAAD}"/>
              </a:ext>
            </a:extLst>
          </p:cNvPr>
          <p:cNvSpPr txBox="1"/>
          <p:nvPr/>
        </p:nvSpPr>
        <p:spPr>
          <a:xfrm>
            <a:off x="666750" y="476250"/>
            <a:ext cx="10858500" cy="857250"/>
          </a:xfrm>
          <a:prstGeom prst="rect">
            <a:avLst/>
          </a:prstGeom>
        </p:spPr>
        <p:txBody>
          <a:bodyPr wrap="square" rtlCol="0" lIns="0" tIns="0" rIns="0" bIns="0" anchor="t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</a:pPr>
            <a:r>
              <a:rPr sz="3400" b="1">
                <a:solidFill>
                  <a:srgbClr val="152B3C"/>
                </a:solidFill>
                <a:latin typeface="Hiragino Sans GB"/>
                <a:ea typeface="Hiragino Sans GB"/>
              </a:rPr>
              <a:t>AI 评分示例：86 / 100</a:t>
            </a: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A54DA8A6-01D6-42E4-A2FF-EE05283DFD0F}"/>
              </a:ext>
            </a:extLst>
          </p:cNvPr>
          <p:cNvSpPr txBox="1"/>
          <p:nvPr/>
        </p:nvSpPr>
        <p:spPr>
          <a:xfrm>
            <a:off x="685800" y="1714500"/>
            <a:ext cx="10668000" cy="714375"/>
          </a:xfrm>
          <a:prstGeom prst="rect">
            <a:avLst/>
          </a:prstGeom>
        </p:spPr>
        <p:txBody>
          <a:bodyPr wrap="square" rtlCol="0" lIns="0" tIns="0" rIns="0" bIns="0" anchor="t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</a:pPr>
            <a:r>
              <a:rPr sz="2700" b="1">
                <a:solidFill>
                  <a:srgbClr val="166A68"/>
                </a:solidFill>
                <a:latin typeface="Hiragino Sans GB"/>
                <a:ea typeface="Hiragino Sans GB"/>
              </a:rPr>
              <a:t>模拟答卷，不代表本人实测成绩</a:t>
            </a:r>
          </a:p>
        </p:txBody>
      </p:sp>
      <p:sp>
        <p:nvSpPr>
          <p:cNvPr id="5" name="TextBox 5">
            <a:extLst>
              <a:ext uri="{FF2B5EF4-FFF2-40B4-BE49-F238E27FC236}">
                <a16:creationId xmlns:a16="http://schemas.microsoft.com/office/drawing/2014/main" id="{B1070C8C-31FE-4AED-A8FA-65BC18710295}"/>
              </a:ext>
            </a:extLst>
          </p:cNvPr>
          <p:cNvSpPr txBox="1"/>
          <p:nvPr/>
        </p:nvSpPr>
        <p:spPr>
          <a:xfrm>
            <a:off x="685800" y="2714625"/>
            <a:ext cx="10668000" cy="3095625"/>
          </a:xfrm>
          <a:prstGeom prst="rect">
            <a:avLst/>
          </a:prstGeom>
        </p:spPr>
        <p:txBody>
          <a:bodyPr wrap="square" rtlCol="0" lIns="0" tIns="0" rIns="0" bIns="0" anchor="t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</a:pPr>
            <a:r>
              <a:rPr sz="2300">
                <a:solidFill>
                  <a:srgbClr val="152B3C"/>
                </a:solidFill>
                <a:latin typeface="Hiragino Sans GB"/>
                <a:ea typeface="Hiragino Sans GB"/>
              </a:rPr>
              <a:t>单选题 20/20　流程设计 18/20</a:t>
            </a:r>
            <a:br/>
            <a:r>
              <a:rPr sz="2300">
                <a:solidFill>
                  <a:srgbClr val="152B3C"/>
                </a:solidFill>
                <a:latin typeface="Hiragino Sans GB"/>
                <a:ea typeface="Hiragino Sans GB"/>
              </a:rPr>
              <a:t>数据校验 16/20　评分设计 17/20</a:t>
            </a:r>
            <a:br/>
            <a:r>
              <a:rPr sz="2300">
                <a:solidFill>
                  <a:srgbClr val="152B3C"/>
                </a:solidFill>
                <a:latin typeface="Hiragino Sans GB"/>
                <a:ea typeface="Hiragino Sans GB"/>
              </a:rPr>
              <a:t>异常处理 15/20</a:t>
            </a:r>
            <a:br/>
            <a:br/>
            <a:r>
              <a:rPr sz="2300">
                <a:solidFill>
                  <a:srgbClr val="152B3C"/>
                </a:solidFill>
                <a:latin typeface="Hiragino Sans GB"/>
                <a:ea typeface="Hiragino Sans GB"/>
              </a:rPr>
              <a:t>主要扣分：未说明超时重试边界、模型评分复核与复习保存失败处理。</a:t>
            </a:r>
            <a:br/>
            <a:r>
              <a:rPr sz="2300">
                <a:solidFill>
                  <a:srgbClr val="152B3C"/>
                </a:solidFill>
                <a:latin typeface="Hiragino Sans GB"/>
                <a:ea typeface="Hiragino Sans GB"/>
              </a:rPr>
              <a:t>完整模拟回答、逐项得分及改进建议见随附自测文件。</a:t>
            </a:r>
          </a:p>
        </p:txBody>
      </p:sp>
      <p:sp>
        <p:nvSpPr>
          <p:cNvPr id="6" name="TextBox 6">
            <a:extLst>
              <a:ext uri="{FF2B5EF4-FFF2-40B4-BE49-F238E27FC236}">
                <a16:creationId xmlns:a16="http://schemas.microsoft.com/office/drawing/2014/main" id="{D844E11B-F8E4-4827-9ED7-9D06AE5856D1}"/>
              </a:ext>
            </a:extLst>
          </p:cNvPr>
          <p:cNvSpPr txBox="1"/>
          <p:nvPr/>
        </p:nvSpPr>
        <p:spPr>
          <a:xfrm>
            <a:off x="10715625" y="6305550"/>
            <a:ext cx="904875" cy="266700"/>
          </a:xfrm>
          <a:prstGeom prst="rect">
            <a:avLst/>
          </a:prstGeom>
        </p:spPr>
        <p:txBody>
          <a:bodyPr wrap="square" rtlCol="0" lIns="0" tIns="0" rIns="0" bIns="0" anchor="t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</a:pPr>
            <a:r>
              <a:rPr sz="1200">
                <a:solidFill>
                  <a:srgbClr val="667885"/>
                </a:solidFill>
                <a:latin typeface="Hiragino Sans GB"/>
                <a:ea typeface="Hiragino Sans GB"/>
              </a:rPr>
              <a:t>12 / 13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52B3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>
            <a:extLst>
              <a:ext uri="{FF2B5EF4-FFF2-40B4-BE49-F238E27FC236}">
                <a16:creationId xmlns:a16="http://schemas.microsoft.com/office/drawing/2014/main" id="{2999EDD3-0B8A-40E9-A1BD-83F15AFEB2F0}"/>
              </a:ext>
            </a:extLst>
          </p:cNvPr>
          <p:cNvSpPr txBox="1"/>
          <p:nvPr/>
        </p:nvSpPr>
        <p:spPr>
          <a:xfrm>
            <a:off x="666750" y="476250"/>
            <a:ext cx="10858500" cy="857250"/>
          </a:xfrm>
          <a:prstGeom prst="rect">
            <a:avLst/>
          </a:prstGeom>
        </p:spPr>
        <p:txBody>
          <a:bodyPr wrap="square" rtlCol="0" lIns="0" tIns="0" rIns="0" bIns="0" anchor="t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</a:pPr>
            <a:r>
              <a:rPr sz="3400" b="1">
                <a:solidFill>
                  <a:srgbClr val="F6F5F0"/>
                </a:solidFill>
                <a:latin typeface="Hiragino Sans GB"/>
                <a:ea typeface="Hiragino Sans GB"/>
              </a:rPr>
              <a:t>第九课完成情景总结</a:t>
            </a: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95CA5D89-313D-4A90-B08E-377997E37366}"/>
              </a:ext>
            </a:extLst>
          </p:cNvPr>
          <p:cNvSpPr txBox="1"/>
          <p:nvPr/>
        </p:nvSpPr>
        <p:spPr>
          <a:xfrm>
            <a:off x="685800" y="1714500"/>
            <a:ext cx="10668000" cy="714375"/>
          </a:xfrm>
          <a:prstGeom prst="rect">
            <a:avLst/>
          </a:prstGeom>
        </p:spPr>
        <p:txBody>
          <a:bodyPr wrap="square" rtlCol="0" lIns="0" tIns="0" rIns="0" bIns="0" anchor="t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</a:pPr>
            <a:r>
              <a:rPr sz="2700" b="1">
                <a:solidFill>
                  <a:srgbClr val="F6F5F0"/>
                </a:solidFill>
                <a:latin typeface="Hiragino Sans GB"/>
                <a:ea typeface="Hiragino Sans GB"/>
              </a:rPr>
              <a:t>已完成设定</a:t>
            </a:r>
          </a:p>
        </p:txBody>
      </p:sp>
      <p:sp>
        <p:nvSpPr>
          <p:cNvPr id="5" name="TextBox 5">
            <a:extLst>
              <a:ext uri="{FF2B5EF4-FFF2-40B4-BE49-F238E27FC236}">
                <a16:creationId xmlns:a16="http://schemas.microsoft.com/office/drawing/2014/main" id="{4F120496-3109-4A1F-A844-0915DC4D1BE7}"/>
              </a:ext>
            </a:extLst>
          </p:cNvPr>
          <p:cNvSpPr txBox="1"/>
          <p:nvPr/>
        </p:nvSpPr>
        <p:spPr>
          <a:xfrm>
            <a:off x="685800" y="2714625"/>
            <a:ext cx="10668000" cy="3095625"/>
          </a:xfrm>
          <a:prstGeom prst="rect">
            <a:avLst/>
          </a:prstGeom>
        </p:spPr>
        <p:txBody>
          <a:bodyPr wrap="square" rtlCol="0" lIns="0" tIns="0" rIns="0" bIns="0" anchor="t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</a:pPr>
            <a:r>
              <a:rPr sz="2300">
                <a:solidFill>
                  <a:srgbClr val="F6F5F0"/>
                </a:solidFill>
                <a:latin typeface="Hiragino Sans GB"/>
                <a:ea typeface="Hiragino Sans GB"/>
              </a:rPr>
              <a:t>基础流程：选择难度、生成单选题、作答判分、错题复习。</a:t>
            </a:r>
            <a:br/>
            <a:r>
              <a:rPr sz="2300">
                <a:solidFill>
                  <a:srgbClr val="F6F5F0"/>
                </a:solidFill>
                <a:latin typeface="Hiragino Sans GB"/>
                <a:ea typeface="Hiragino Sans GB"/>
              </a:rPr>
              <a:t>挑战流程：简答题生成、按答案要点评分、展示解释。</a:t>
            </a:r>
            <a:br/>
            <a:br/>
            <a:r>
              <a:rPr sz="2300">
                <a:solidFill>
                  <a:srgbClr val="F6F5F0"/>
                </a:solidFill>
                <a:latin typeface="Hiragino Sans GB"/>
                <a:ea typeface="Hiragino Sans GB"/>
              </a:rPr>
              <a:t>下一步自测：独立回答 8 题，再按同一量表复评。</a:t>
            </a:r>
            <a:br/>
            <a:r>
              <a:rPr sz="2300">
                <a:solidFill>
                  <a:srgbClr val="F6F5F0"/>
                </a:solidFill>
                <a:latin typeface="Hiragino Sans GB"/>
                <a:ea typeface="Hiragino Sans GB"/>
              </a:rPr>
              <a:t>课程材料中的功能描述为假设完成状态，不作为实际实现或验收证明。</a:t>
            </a:r>
          </a:p>
        </p:txBody>
      </p:sp>
      <p:sp>
        <p:nvSpPr>
          <p:cNvPr id="6" name="TextBox 6">
            <a:extLst>
              <a:ext uri="{FF2B5EF4-FFF2-40B4-BE49-F238E27FC236}">
                <a16:creationId xmlns:a16="http://schemas.microsoft.com/office/drawing/2014/main" id="{03A03BA2-470F-40DD-9FD0-E983EB1797E9}"/>
              </a:ext>
            </a:extLst>
          </p:cNvPr>
          <p:cNvSpPr txBox="1"/>
          <p:nvPr/>
        </p:nvSpPr>
        <p:spPr>
          <a:xfrm>
            <a:off x="10715625" y="6305550"/>
            <a:ext cx="904875" cy="266700"/>
          </a:xfrm>
          <a:prstGeom prst="rect">
            <a:avLst/>
          </a:prstGeom>
        </p:spPr>
        <p:txBody>
          <a:bodyPr wrap="square" rtlCol="0" lIns="0" tIns="0" rIns="0" bIns="0" anchor="t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</a:pPr>
            <a:r>
              <a:rPr sz="1200">
                <a:solidFill>
                  <a:srgbClr val="F6F5F0"/>
                </a:solidFill>
                <a:latin typeface="Hiragino Sans GB"/>
                <a:ea typeface="Hiragino Sans GB"/>
              </a:rPr>
              <a:t>13 / 13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C43E1C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ゴシック"/>
        <a:font script="Hang" typeface="맑은 고딕"/>
        <a:font script="Hans" typeface="等线"/>
        <a:font script="Hant" typeface="新細明體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等线"/>
        <a:font script="Hant" typeface="新細明體"/>
      </a:minorFont>
    </a:fontScheme>
    <a:fmtScheme name="Office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>
          <a:solidFill>
            <a:schemeClr val="phClr"/>
          </a:solidFill>
        </a:ln>
        <a:ln w="12700">
          <a:solidFill>
            <a:schemeClr val="phClr"/>
          </a:solidFill>
        </a:ln>
        <a:ln w="19050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